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grupo 04. Saluden, presenten el título del proyecto y a cada integrante. Tiempo sugerido: 30 segundos. Rúbrica: puntualidad y formalidad de la exposición.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Presenten la ruta de la exposición en 20 segundos. Los diez puntos del informe (I a X) están en el orden que exige la guía del TP; las conclusiones se agregaron antes de las referencias porque la rúbrica evalúa "alcances y conclusiones".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de uso real: en un hospital Nivel III de Lima el personal de enfermería camina hasta 400 m por viaje y espera en ventanilla. Con solo dos viajes por turno se pierden 1.22 h de atención clínica. Es un escenario conservador: si hay más viajes, la pérdida crece. Rúbrica: contexto con estadísticas y fuentes.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Justificación técnica e ingenieril. Idea clave: con ωz = 0 (sin rotar el chasis) la cinemática inversa se simplifica y cabe en un PIC de 8 bits. La Fig. 2 muestra cómo se combinan los sentidos de giro de las ruedas para avanzar, retroceder y desplazarse lateralmente.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justificaciones: tecnológica (arquitectura dual y fusión sensorial), social y sanitaria (recuperar tiempo de enfermería y supervisar la carga) y económica (costo estimado de S/ 668.40 con componentes estándar). Aclaren que los beneficios se medirán en pruebas y que el robot no sustituye la supervisión del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PIC18F47Q10 integra todos los periféricos que exige el diseño: PWM, ADC, I²C, EUSART y GPIO. El software es gratuito (MPLAB X IDE y XC8). Logística: los componentes se consiguen en Lima y los ensayos se hacen en la UPC. Rúbrica: viabilidad técnica y logística.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Viabilidad económica: componentes de bajo costo y selección sustentada en comparativas (ejemplo: sensor Hall a S/ 8 frente a S/ 15). Viabilidad operativa: la interfaz web permite despachar en pocos pasos y el robot opera a baja tensión y velocidad controlada sin alterar el flujo del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líneas de antecedentes: movilidad holonómica (Rabbani), control embebido de ruedas Mecanum (Sensors 2025), AGV y evasión dinámica (Scientific Reports 2026 y Caccavale/Finzi 2020) y percepción robusta (Technologies 2022). La Fig. 3 muestra un AGV TUG operando en un entorno clínico real. Rúbrica: estado del arte con al menos cinco referencias.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1 ubica el prototipo frente a dos trabajos hospitalarios cercanos. Kim et al. usa base diferencial con LiDAR y no considera personas; Nambiappan et al. usa base Mecanum con LiDAR y cámara RGB-D. Este proyecto reduce el costo con ToF, ultrasonido y PIR, y declara sus limitaciones laterales en la diapositiva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aporte: el algoritmo clasifica el obstáculo con tres sensores. Proximidad más firma térmica: obstáculo dinámico biológico y frenado de cortesía. Proximidad sin firma térmica: obstáculo estático y traslación lateral a 90° aprovechando la cinemática Mecanum. Aclaren que es una estimación, no una identificación inequívoca.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aporte: el PIC18F47Q10 (5 V) se dedica en exclusiva al control determinista (4 PWM, ADC, lazos de navegación) y el ESP32 (3.3 V) atiende la interfaz web y los despachos. Ambos se comunican por UART con un conversor TXS0108 para adaptar los niveles lógicos, y así la latencia de red no afecta las rutinas críticas.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aporte: el compartimento de carga evalúa tres variables a la vez: temperatura (LM35), luz (LDR) y cierre (MC-38). Si hay una anomalía antes del despacho, el sistema puede bloquear el inicio del recorrido. Sean honestos: la conservación de fármacos específicos depende de la validación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Cuarto aporte (el informe lo incluye además de los tres obligatorios): navegación por nodos magnéticos. Los imanes en el suelo son referencias; el SS49E los detecta, y una máquina de estados cuenta nodos para llegar al Tópico 1 o al Tópico 2. La limitación asociada es la oclusión del imán (diapositiva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general y tres objetivos específicos, uno por eje que pide la guía: hardware, software y validación. Los indicadores de validación son cuantitativos: tasa de éxito de llegada, tiempo de reacción y error absoluto de medición. Rúbrica: objetivos coherentes y relacionados con el desarrollo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mitad de la lista de materiales (sin imágenes, como pide la guía). Aquí están el control, la visualización, las comunicaciones, la tracción, la potencia y la energía. El PIC18F47Q10 y la batería LiPo son los dos ítems más caros.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mitad de la lista: protección electrónica, trazabilidad de medicamentos, escudo de navegación y estructura. El costo total estimado del prototipo es de S/ 668.40 según el informe. Después vienen siete diapositivas de selección con tablas comparativas.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compararon dos motores DC con reductora frente a los requisitos de torque, corriente de arranque, inductancia, peso y precio. El TT azul tiene más torque (0.25 N·m), pero arranca con 1.5 A, supera el límite de 1 A y cuesta más. Conclusión justificada: TT amarillo. Rúbrica: tabla comparativa con al menos dos alternativas y conclusión.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drivers comparados. El L298N soporta más corriente continua (2.0 A), pero es de tecnología bipolar, muy grande y pierde de 1.5 a 2 V; el L293D es barato, pero entrega solo 0.6 A continuos. El TB6612FNG usa MOSFET, es ultra compacto, no necesita disipador y cubre la corriente de arranque del motor elegido.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sensor de nodos debe detectar el imán aunque el robot se desvíe lateralmente, por la deriva de las ruedas Mecanum. El NJK-5002C mide solo 10 mm fijos y arriesga perder el nodo; el KY-024 (SS49E) mide de 30 a 50 mm, es analógico y cuesta S/ 8.00 frente a S/ 15.00.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eligió el VL53L0X porque cumple el rango y la precisión exigidos al menor costo. Se usan 2 unidades (S/ 32.00).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PIR aporta la firma térmica que diferencia a una persona de un objeto inanimado. Es una estimación, no una identificación inequívoca.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ultrasonido solo es vulnerable a reflexiones acústicas; por eso se combina con ToF y PIR. En los costados es el único sensor disponible.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pantalla solo muestra el destino activo, así el personal verifica la ruta directamente en el chasis.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 cronograma: semanas 7 a 16, con actividades de hardware, software y validación. Las duraciones por semana están por confirmar con el Gantt del informe.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Alcances comprobables: movilidad holonómica, despacho multi-ruta, hitos magnéticos, evasión diferenciada, resguardo clínico y visualización local.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Cinco limitaciones del informe: sin rotación, puntos ciegos laterales, topología plana, oclusión magnética y caída de tensión.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conclusiones corresponden al diseño y la justificación del trabajo parcial; los resultados cuantitativos se obtendrán en la validación.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Lista condensada; los enlaces y DOI completos están en el informe.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Evidencia de las reuniones por Discord durante el desarrollo del trabajo parcial.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integrante cubrió un bloque del informe y de la presentación.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herramientas de IA se usaron de forma complementaria y todo se validó con fuentes primarias.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Agradecer y abrir la ronda de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708661"/>
            <a:ext cx="9906000" cy="39116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09600" y="1404621"/>
            <a:ext cx="10769600" cy="46405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708661"/>
            <a:ext cx="9906000" cy="39116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Montserrat" pitchFamily="34" charset="0"/>
                <a:ea typeface="Montserrat" pitchFamily="34" charset="-122"/>
                <a:cs typeface="Montserrat"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09600" y="1404621"/>
            <a:ext cx="10769600" cy="46405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0.xml"/><Relationship Id="rId4" Type="http://schemas.openxmlformats.org/officeDocument/2006/relationships/image" Target="../media/image-17-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1.xml"/><Relationship Id="rId4" Type="http://schemas.openxmlformats.org/officeDocument/2006/relationships/image" Target="../media/image-17-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2.xml"/><Relationship Id="rId4" Type="http://schemas.openxmlformats.org/officeDocument/2006/relationships/image" Target="../media/image-17-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3.xml"/><Relationship Id="rId4" Type="http://schemas.openxmlformats.org/officeDocument/2006/relationships/image" Target="../media/image-17-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29.xml"/><Relationship Id="rId4" Type="http://schemas.openxmlformats.org/officeDocument/2006/relationships/image" Target="../media/image1.jpg"/><Relationship Id="rId5" Type="http://schemas.openxmlformats.org/officeDocument/2006/relationships/image" Target="../media/image2.jpg"/><Relationship Id="rId6" Type="http://schemas.openxmlformats.org/officeDocument/2006/relationships/image" Target="../media/image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239"/>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FC8B8"/>
          </a:solidFill>
          <a:ln/>
        </p:spPr>
      </p:sp>
      <p:sp>
        <p:nvSpPr>
          <p:cNvPr id="3" name="Shape 1"/>
          <p:cNvSpPr/>
          <p:nvPr/>
        </p:nvSpPr>
        <p:spPr>
          <a:xfrm>
            <a:off x="7493000" y="952500"/>
            <a:ext cx="4191000" cy="4191000"/>
          </a:xfrm>
          <a:prstGeom prst="roundRect">
            <a:avLst>
              <a:gd name="adj" fmla="val 38788"/>
            </a:avLst>
          </a:prstGeom>
          <a:solidFill>
            <a:srgbClr val="0F2C46"/>
          </a:solidFill>
          <a:ln/>
        </p:spPr>
      </p:sp>
      <p:pic>
        <p:nvPicPr>
          <p:cNvPr id="4" name="Image 0" descr="Esquema ilustrativo de un robot con cuatro ruedas Mecanum y flechas de traslación en cuatro direcciones">    </p:cNvPr>
          <p:cNvPicPr>
            <a:picLocks noChangeAspect="1"/>
          </p:cNvPicPr>
          <p:nvPr/>
        </p:nvPicPr>
        <p:blipFill>
          <a:blip r:embed="rId1"/>
          <a:srcRect l="0" r="0" t="0" b="0"/>
          <a:stretch/>
        </p:blipFill>
        <p:spPr>
          <a:xfrm>
            <a:off x="7810500" y="1270000"/>
            <a:ext cx="3556000" cy="3556000"/>
          </a:xfrm>
          <a:prstGeom prst="rect">
            <a:avLst/>
          </a:prstGeom>
        </p:spPr>
      </p:pic>
      <p:pic>
        <p:nvPicPr>
          <p:cNvPr id="5" name="Image 1" descr="Logo UPC">    </p:cNvPr>
          <p:cNvPicPr>
            <a:picLocks noChangeAspect="1"/>
          </p:cNvPicPr>
          <p:nvPr/>
        </p:nvPicPr>
        <p:blipFill>
          <a:blip r:embed="rId2"/>
          <a:srcRect l="0" r="0" t="0" b="0"/>
          <a:stretch/>
        </p:blipFill>
        <p:spPr>
          <a:xfrm>
            <a:off x="609600" y="406400"/>
            <a:ext cx="609600" cy="609600"/>
          </a:xfrm>
          <a:prstGeom prst="rect">
            <a:avLst/>
          </a:prstGeom>
        </p:spPr>
      </p:pic>
      <p:sp>
        <p:nvSpPr>
          <p:cNvPr id="6" name="Text 2"/>
          <p:cNvSpPr/>
          <p:nvPr/>
        </p:nvSpPr>
        <p:spPr>
          <a:xfrm>
            <a:off x="1371600" y="444500"/>
            <a:ext cx="65405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FC8B8"/>
                </a:solidFill>
                <a:latin typeface="Montserrat" pitchFamily="34" charset="0"/>
                <a:ea typeface="Montserrat" pitchFamily="34" charset="-122"/>
                <a:cs typeface="Montserrat" pitchFamily="34" charset="-120"/>
              </a:rPr>
              <a:t>UNIVERSIDAD PERUANA DE CIENCIAS APLICADAS</a:t>
            </a:r>
            <a:endParaRPr lang="en-US" sz="1600" dirty="0"/>
          </a:p>
        </p:txBody>
      </p:sp>
      <p:sp>
        <p:nvSpPr>
          <p:cNvPr id="7" name="Text 3"/>
          <p:cNvSpPr/>
          <p:nvPr/>
        </p:nvSpPr>
        <p:spPr>
          <a:xfrm>
            <a:off x="1371600" y="749300"/>
            <a:ext cx="654050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CE3"/>
                </a:solidFill>
                <a:latin typeface="Inter" pitchFamily="34" charset="0"/>
                <a:ea typeface="Inter" pitchFamily="34" charset="-122"/>
                <a:cs typeface="Inter" pitchFamily="34" charset="-120"/>
              </a:rPr>
              <a:t>Microcontroladores (1AEL0256) · NRC 8517</a:t>
            </a:r>
            <a:endParaRPr lang="en-US" sz="1300" dirty="0"/>
          </a:p>
          <a:p>
            <a:pPr algn="l" indent="0" marL="0">
              <a:lnSpc>
                <a:spcPts val="1755"/>
              </a:lnSpc>
              <a:buNone/>
            </a:pPr>
            <a:r>
              <a:rPr lang="en-US" sz="1300" dirty="0">
                <a:solidFill>
                  <a:srgbClr val="C9DCE3"/>
                </a:solidFill>
                <a:latin typeface="Inter" pitchFamily="34" charset="0"/>
                <a:ea typeface="Inter" pitchFamily="34" charset="-122"/>
                <a:cs typeface="Inter" pitchFamily="34" charset="-120"/>
              </a:rPr>
              <a:t>Trabajo Parcial · Semestre 2026-2</a:t>
            </a:r>
            <a:endParaRPr lang="en-US" sz="1300" dirty="0"/>
          </a:p>
        </p:txBody>
      </p:sp>
      <p:sp>
        <p:nvSpPr>
          <p:cNvPr id="8" name="Text 4"/>
          <p:cNvSpPr/>
          <p:nvPr>
            <p:ph type="title"/>
          </p:nvPr>
        </p:nvSpPr>
        <p:spPr>
          <a:xfrm>
            <a:off x="609600" y="1587500"/>
            <a:ext cx="6932930" cy="2581275"/>
          </a:xfrm>
          <a:prstGeom prst="rect">
            <a:avLst/>
          </a:prstGeom>
          <a:noFill/>
          <a:ln/>
        </p:spPr>
        <p:txBody>
          <a:bodyPr wrap="square" lIns="0" tIns="0" rIns="0" bIns="0" rtlCol="0" anchor="t">
            <a:normAutofit/>
          </a:bodyPr>
          <a:lstStyle/>
          <a:p>
            <a:pPr algn="l" indent="0" marL="0">
              <a:lnSpc>
                <a:spcPts val="2875"/>
              </a:lnSpc>
              <a:buNone/>
            </a:pPr>
            <a:r>
              <a:rPr lang="en-US" sz="2500" b="1" i="0" dirty="0">
                <a:solidFill>
                  <a:srgbClr val="F3F7F8"/>
                </a:solidFill>
                <a:latin typeface="Montserrat" pitchFamily="34" charset="0"/>
                <a:ea typeface="Montserrat" pitchFamily="34" charset="-122"/>
                <a:cs typeface="Montserrat" pitchFamily="34" charset="-120"/>
              </a:rPr>
              <a:t>ROBOT HOSPITALARIO OMNIDIRECCIONAL: CONTROL CINEMÁTICO DE UNIDAD MÓVIL MECANUM Y ALGORITMO DE FUSIÓN DE SENSORES PARA EVASIÓN DINÁMICA DE OBSTÁCULOS – PIC18F47Q10</a:t>
            </a:r>
            <a:endParaRPr lang="en-US" sz="2500" dirty="0"/>
          </a:p>
        </p:txBody>
      </p:sp>
      <p:sp>
        <p:nvSpPr>
          <p:cNvPr id="9" name="Shape 5"/>
          <p:cNvSpPr/>
          <p:nvPr/>
        </p:nvSpPr>
        <p:spPr>
          <a:xfrm>
            <a:off x="609600" y="4445000"/>
            <a:ext cx="6731000" cy="19050"/>
          </a:xfrm>
          <a:prstGeom prst="rect">
            <a:avLst/>
          </a:prstGeom>
          <a:solidFill>
            <a:srgbClr val="3FC8B8"/>
          </a:solidFill>
          <a:ln/>
        </p:spPr>
      </p:sp>
      <p:sp>
        <p:nvSpPr>
          <p:cNvPr id="10" name="Text 6"/>
          <p:cNvSpPr/>
          <p:nvPr/>
        </p:nvSpPr>
        <p:spPr>
          <a:xfrm>
            <a:off x="609600" y="4648200"/>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C8B8"/>
                </a:solidFill>
                <a:latin typeface="Inter" pitchFamily="34" charset="0"/>
                <a:ea typeface="Inter" pitchFamily="34" charset="-122"/>
                <a:cs typeface="Inter" pitchFamily="34" charset="-120"/>
              </a:rPr>
              <a:t>AUTORES · GRUPO 04</a:t>
            </a:r>
            <a:endParaRPr lang="en-US" sz="1200" dirty="0"/>
          </a:p>
        </p:txBody>
      </p:sp>
      <p:sp>
        <p:nvSpPr>
          <p:cNvPr id="11" name="Text 7"/>
          <p:cNvSpPr/>
          <p:nvPr/>
        </p:nvSpPr>
        <p:spPr>
          <a:xfrm>
            <a:off x="609600" y="4914900"/>
            <a:ext cx="4578350" cy="1019810"/>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3F7F8"/>
                </a:solidFill>
                <a:latin typeface="Inter" pitchFamily="34" charset="0"/>
                <a:ea typeface="Inter" pitchFamily="34" charset="-122"/>
                <a:cs typeface="Inter" pitchFamily="34" charset="-120"/>
              </a:rPr>
              <a:t>Avellaneda Campos, Grecia (U20241E046)</a:t>
            </a:r>
            <a:endParaRPr lang="en-US" sz="1350" dirty="0"/>
          </a:p>
          <a:p>
            <a:pPr algn="l" indent="0" marL="0">
              <a:lnSpc>
                <a:spcPts val="1958"/>
              </a:lnSpc>
              <a:buNone/>
            </a:pPr>
            <a:r>
              <a:rPr lang="en-US" sz="1350" dirty="0">
                <a:solidFill>
                  <a:srgbClr val="F3F7F8"/>
                </a:solidFill>
                <a:latin typeface="Inter" pitchFamily="34" charset="0"/>
                <a:ea typeface="Inter" pitchFamily="34" charset="-122"/>
                <a:cs typeface="Inter" pitchFamily="34" charset="-120"/>
              </a:rPr>
              <a:t>Huamán Farfán, Cristopher (U20241F584)</a:t>
            </a:r>
            <a:endParaRPr lang="en-US" sz="1350" dirty="0"/>
          </a:p>
          <a:p>
            <a:pPr algn="l" indent="0" marL="0">
              <a:lnSpc>
                <a:spcPts val="1958"/>
              </a:lnSpc>
              <a:buNone/>
            </a:pPr>
            <a:r>
              <a:rPr lang="en-US" sz="1350" dirty="0">
                <a:solidFill>
                  <a:srgbClr val="F3F7F8"/>
                </a:solidFill>
                <a:latin typeface="Inter" pitchFamily="34" charset="0"/>
                <a:ea typeface="Inter" pitchFamily="34" charset="-122"/>
                <a:cs typeface="Inter" pitchFamily="34" charset="-120"/>
              </a:rPr>
              <a:t>Salazar Huamani, Roger (U20241F238)</a:t>
            </a:r>
            <a:endParaRPr lang="en-US" sz="1350" dirty="0"/>
          </a:p>
          <a:p>
            <a:pPr algn="l" indent="0" marL="0">
              <a:lnSpc>
                <a:spcPts val="1958"/>
              </a:lnSpc>
              <a:buNone/>
            </a:pPr>
            <a:r>
              <a:rPr lang="en-US" sz="1350" dirty="0">
                <a:solidFill>
                  <a:srgbClr val="F3F7F8"/>
                </a:solidFill>
                <a:latin typeface="Inter" pitchFamily="34" charset="0"/>
                <a:ea typeface="Inter" pitchFamily="34" charset="-122"/>
                <a:cs typeface="Inter" pitchFamily="34" charset="-120"/>
              </a:rPr>
              <a:t>López Torres, Dairon (U20231H115)</a:t>
            </a:r>
            <a:endParaRPr lang="en-US" sz="1350" dirty="0"/>
          </a:p>
        </p:txBody>
      </p:sp>
      <p:sp>
        <p:nvSpPr>
          <p:cNvPr id="12" name="Text 8"/>
          <p:cNvSpPr/>
          <p:nvPr/>
        </p:nvSpPr>
        <p:spPr>
          <a:xfrm>
            <a:off x="5207000" y="4648200"/>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C8B8"/>
                </a:solidFill>
                <a:latin typeface="Inter" pitchFamily="34" charset="0"/>
                <a:ea typeface="Inter" pitchFamily="34" charset="-122"/>
                <a:cs typeface="Inter" pitchFamily="34" charset="-120"/>
              </a:rPr>
              <a:t>PROFESOR</a:t>
            </a:r>
            <a:endParaRPr lang="en-US" sz="1200" dirty="0"/>
          </a:p>
        </p:txBody>
      </p:sp>
      <p:sp>
        <p:nvSpPr>
          <p:cNvPr id="13" name="Text 9"/>
          <p:cNvSpPr/>
          <p:nvPr/>
        </p:nvSpPr>
        <p:spPr>
          <a:xfrm>
            <a:off x="5207000" y="4914900"/>
            <a:ext cx="2223770" cy="274003"/>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3F7F8"/>
                </a:solidFill>
                <a:latin typeface="Inter" pitchFamily="34" charset="0"/>
                <a:ea typeface="Inter" pitchFamily="34" charset="-122"/>
                <a:cs typeface="Inter" pitchFamily="34" charset="-120"/>
              </a:rPr>
              <a:t>Kalun José Lau Gan</a:t>
            </a:r>
            <a:endParaRPr lang="en-US" sz="1350" dirty="0"/>
          </a:p>
        </p:txBody>
      </p:sp>
      <p:sp>
        <p:nvSpPr>
          <p:cNvPr id="14" name="Text 10"/>
          <p:cNvSpPr/>
          <p:nvPr/>
        </p:nvSpPr>
        <p:spPr>
          <a:xfrm>
            <a:off x="7367270" y="5969000"/>
            <a:ext cx="4316730" cy="256540"/>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9DCE3"/>
                </a:solidFill>
                <a:latin typeface="Inter" pitchFamily="34" charset="0"/>
                <a:ea typeface="Inter" pitchFamily="34" charset="-122"/>
                <a:cs typeface="Inter" pitchFamily="34" charset="-120"/>
              </a:rPr>
              <a:t>Lima, Perú – Octubre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2239"/>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C8B8"/>
                </a:solidFill>
                <a:latin typeface="Inter" pitchFamily="34" charset="0"/>
                <a:ea typeface="Inter" pitchFamily="34" charset="-122"/>
                <a:cs typeface="Inter" pitchFamily="34" charset="-120"/>
              </a:rPr>
              <a:t>CONTENIDO DE LA EXPOSICIÓN</a:t>
            </a:r>
            <a:endParaRPr lang="en-US" sz="1200" dirty="0"/>
          </a:p>
        </p:txBody>
      </p:sp>
      <p:sp>
        <p:nvSpPr>
          <p:cNvPr id="5" name="Text 2"/>
          <p:cNvSpPr/>
          <p:nvPr>
            <p:ph type="title"/>
          </p:nvPr>
        </p:nvSpPr>
        <p:spPr>
          <a:xfrm>
            <a:off x="609600" y="708660"/>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F3F7F8"/>
                </a:solidFill>
                <a:latin typeface="Montserrat" pitchFamily="34" charset="0"/>
                <a:ea typeface="Montserrat" pitchFamily="34" charset="-122"/>
                <a:cs typeface="Montserrat" pitchFamily="34" charset="-120"/>
              </a:rPr>
              <a:t>Agenda</a:t>
            </a:r>
            <a:endParaRPr lang="en-US" sz="2800" dirty="0"/>
          </a:p>
        </p:txBody>
      </p:sp>
      <p:sp>
        <p:nvSpPr>
          <p:cNvPr id="6" name="Shape 3"/>
          <p:cNvSpPr/>
          <p:nvPr/>
        </p:nvSpPr>
        <p:spPr>
          <a:xfrm>
            <a:off x="609600" y="1277620"/>
            <a:ext cx="5435600" cy="607060"/>
          </a:xfrm>
          <a:prstGeom prst="roundRect">
            <a:avLst>
              <a:gd name="adj" fmla="val 16736"/>
            </a:avLst>
          </a:prstGeom>
          <a:solidFill>
            <a:srgbClr val="123552"/>
          </a:solidFill>
          <a:ln/>
        </p:spPr>
      </p:sp>
      <p:sp>
        <p:nvSpPr>
          <p:cNvPr id="7" name="Text 4"/>
          <p:cNvSpPr/>
          <p:nvPr/>
        </p:nvSpPr>
        <p:spPr>
          <a:xfrm>
            <a:off x="787400" y="1430020"/>
            <a:ext cx="8128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FC8B8"/>
                </a:solidFill>
                <a:latin typeface="Montserrat" pitchFamily="34" charset="0"/>
                <a:ea typeface="Montserrat" pitchFamily="34" charset="-122"/>
                <a:cs typeface="Montserrat" pitchFamily="34" charset="-120"/>
              </a:rPr>
              <a:t>I</a:t>
            </a:r>
            <a:endParaRPr lang="en-US" sz="1700" dirty="0"/>
          </a:p>
        </p:txBody>
      </p:sp>
      <p:sp>
        <p:nvSpPr>
          <p:cNvPr id="8" name="Text 5"/>
          <p:cNvSpPr/>
          <p:nvPr/>
        </p:nvSpPr>
        <p:spPr>
          <a:xfrm>
            <a:off x="1676400" y="144780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Situación problemática</a:t>
            </a:r>
            <a:endParaRPr lang="en-US" sz="1500" dirty="0"/>
          </a:p>
        </p:txBody>
      </p:sp>
      <p:sp>
        <p:nvSpPr>
          <p:cNvPr id="9" name="Text 6"/>
          <p:cNvSpPr/>
          <p:nvPr/>
        </p:nvSpPr>
        <p:spPr>
          <a:xfrm>
            <a:off x="4737100" y="147447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3–7</a:t>
            </a:r>
            <a:endParaRPr lang="en-US" sz="1200" dirty="0"/>
          </a:p>
        </p:txBody>
      </p:sp>
      <p:sp>
        <p:nvSpPr>
          <p:cNvPr id="10" name="Shape 7"/>
          <p:cNvSpPr/>
          <p:nvPr/>
        </p:nvSpPr>
        <p:spPr>
          <a:xfrm>
            <a:off x="6146800" y="1277620"/>
            <a:ext cx="5435600" cy="607060"/>
          </a:xfrm>
          <a:prstGeom prst="roundRect">
            <a:avLst>
              <a:gd name="adj" fmla="val 16736"/>
            </a:avLst>
          </a:prstGeom>
          <a:solidFill>
            <a:srgbClr val="123552"/>
          </a:solidFill>
          <a:ln/>
        </p:spPr>
      </p:sp>
      <p:sp>
        <p:nvSpPr>
          <p:cNvPr id="11" name="Text 8"/>
          <p:cNvSpPr/>
          <p:nvPr/>
        </p:nvSpPr>
        <p:spPr>
          <a:xfrm>
            <a:off x="6324600" y="1430020"/>
            <a:ext cx="8128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FC8B8"/>
                </a:solidFill>
                <a:latin typeface="Montserrat" pitchFamily="34" charset="0"/>
                <a:ea typeface="Montserrat" pitchFamily="34" charset="-122"/>
                <a:cs typeface="Montserrat" pitchFamily="34" charset="-120"/>
              </a:rPr>
              <a:t>II</a:t>
            </a:r>
            <a:endParaRPr lang="en-US" sz="1700" dirty="0"/>
          </a:p>
        </p:txBody>
      </p:sp>
      <p:sp>
        <p:nvSpPr>
          <p:cNvPr id="12" name="Text 9"/>
          <p:cNvSpPr/>
          <p:nvPr/>
        </p:nvSpPr>
        <p:spPr>
          <a:xfrm>
            <a:off x="7213600" y="144780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Estado del arte</a:t>
            </a:r>
            <a:endParaRPr lang="en-US" sz="1500" dirty="0"/>
          </a:p>
        </p:txBody>
      </p:sp>
      <p:sp>
        <p:nvSpPr>
          <p:cNvPr id="13" name="Text 10"/>
          <p:cNvSpPr/>
          <p:nvPr/>
        </p:nvSpPr>
        <p:spPr>
          <a:xfrm>
            <a:off x="10274300" y="147447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8–9</a:t>
            </a:r>
            <a:endParaRPr lang="en-US" sz="1200" dirty="0"/>
          </a:p>
        </p:txBody>
      </p:sp>
      <p:sp>
        <p:nvSpPr>
          <p:cNvPr id="14" name="Shape 11"/>
          <p:cNvSpPr/>
          <p:nvPr/>
        </p:nvSpPr>
        <p:spPr>
          <a:xfrm>
            <a:off x="609600" y="1986280"/>
            <a:ext cx="5435600" cy="607060"/>
          </a:xfrm>
          <a:prstGeom prst="roundRect">
            <a:avLst>
              <a:gd name="adj" fmla="val 16736"/>
            </a:avLst>
          </a:prstGeom>
          <a:solidFill>
            <a:srgbClr val="123552"/>
          </a:solidFill>
          <a:ln/>
        </p:spPr>
      </p:sp>
      <p:sp>
        <p:nvSpPr>
          <p:cNvPr id="15" name="Text 12"/>
          <p:cNvSpPr/>
          <p:nvPr/>
        </p:nvSpPr>
        <p:spPr>
          <a:xfrm>
            <a:off x="787400" y="2138680"/>
            <a:ext cx="8128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FC8B8"/>
                </a:solidFill>
                <a:latin typeface="Montserrat" pitchFamily="34" charset="0"/>
                <a:ea typeface="Montserrat" pitchFamily="34" charset="-122"/>
                <a:cs typeface="Montserrat" pitchFamily="34" charset="-120"/>
              </a:rPr>
              <a:t>III</a:t>
            </a:r>
            <a:endParaRPr lang="en-US" sz="1700" dirty="0"/>
          </a:p>
        </p:txBody>
      </p:sp>
      <p:sp>
        <p:nvSpPr>
          <p:cNvPr id="16" name="Text 13"/>
          <p:cNvSpPr/>
          <p:nvPr/>
        </p:nvSpPr>
        <p:spPr>
          <a:xfrm>
            <a:off x="1676400" y="215646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Aportes de innovación</a:t>
            </a:r>
            <a:endParaRPr lang="en-US" sz="1500" dirty="0"/>
          </a:p>
        </p:txBody>
      </p:sp>
      <p:sp>
        <p:nvSpPr>
          <p:cNvPr id="17" name="Text 14"/>
          <p:cNvSpPr/>
          <p:nvPr/>
        </p:nvSpPr>
        <p:spPr>
          <a:xfrm>
            <a:off x="4737100" y="218313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10–13</a:t>
            </a:r>
            <a:endParaRPr lang="en-US" sz="1200" dirty="0"/>
          </a:p>
        </p:txBody>
      </p:sp>
      <p:sp>
        <p:nvSpPr>
          <p:cNvPr id="18" name="Shape 15"/>
          <p:cNvSpPr/>
          <p:nvPr/>
        </p:nvSpPr>
        <p:spPr>
          <a:xfrm>
            <a:off x="6146800" y="1986280"/>
            <a:ext cx="5435600" cy="607060"/>
          </a:xfrm>
          <a:prstGeom prst="roundRect">
            <a:avLst>
              <a:gd name="adj" fmla="val 16736"/>
            </a:avLst>
          </a:prstGeom>
          <a:solidFill>
            <a:srgbClr val="123552"/>
          </a:solidFill>
          <a:ln/>
        </p:spPr>
      </p:sp>
      <p:sp>
        <p:nvSpPr>
          <p:cNvPr id="19" name="Text 16"/>
          <p:cNvSpPr/>
          <p:nvPr/>
        </p:nvSpPr>
        <p:spPr>
          <a:xfrm>
            <a:off x="6324600" y="2138680"/>
            <a:ext cx="8128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FC8B8"/>
                </a:solidFill>
                <a:latin typeface="Montserrat" pitchFamily="34" charset="0"/>
                <a:ea typeface="Montserrat" pitchFamily="34" charset="-122"/>
                <a:cs typeface="Montserrat" pitchFamily="34" charset="-120"/>
              </a:rPr>
              <a:t>IV</a:t>
            </a:r>
            <a:endParaRPr lang="en-US" sz="1700" dirty="0"/>
          </a:p>
        </p:txBody>
      </p:sp>
      <p:sp>
        <p:nvSpPr>
          <p:cNvPr id="20" name="Text 17"/>
          <p:cNvSpPr/>
          <p:nvPr/>
        </p:nvSpPr>
        <p:spPr>
          <a:xfrm>
            <a:off x="7213600" y="215646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Objetivos</a:t>
            </a:r>
            <a:endParaRPr lang="en-US" sz="1500" dirty="0"/>
          </a:p>
        </p:txBody>
      </p:sp>
      <p:sp>
        <p:nvSpPr>
          <p:cNvPr id="21" name="Text 18"/>
          <p:cNvSpPr/>
          <p:nvPr/>
        </p:nvSpPr>
        <p:spPr>
          <a:xfrm>
            <a:off x="10274300" y="218313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14</a:t>
            </a:r>
            <a:endParaRPr lang="en-US" sz="1200" dirty="0"/>
          </a:p>
        </p:txBody>
      </p:sp>
      <p:sp>
        <p:nvSpPr>
          <p:cNvPr id="22" name="Shape 19"/>
          <p:cNvSpPr/>
          <p:nvPr/>
        </p:nvSpPr>
        <p:spPr>
          <a:xfrm>
            <a:off x="609600" y="2694940"/>
            <a:ext cx="5435600" cy="607060"/>
          </a:xfrm>
          <a:prstGeom prst="roundRect">
            <a:avLst>
              <a:gd name="adj" fmla="val 16736"/>
            </a:avLst>
          </a:prstGeom>
          <a:solidFill>
            <a:srgbClr val="123552"/>
          </a:solidFill>
          <a:ln/>
        </p:spPr>
      </p:sp>
      <p:sp>
        <p:nvSpPr>
          <p:cNvPr id="23" name="Text 20"/>
          <p:cNvSpPr/>
          <p:nvPr/>
        </p:nvSpPr>
        <p:spPr>
          <a:xfrm>
            <a:off x="787400" y="2847340"/>
            <a:ext cx="8128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FC8B8"/>
                </a:solidFill>
                <a:latin typeface="Montserrat" pitchFamily="34" charset="0"/>
                <a:ea typeface="Montserrat" pitchFamily="34" charset="-122"/>
                <a:cs typeface="Montserrat" pitchFamily="34" charset="-120"/>
              </a:rPr>
              <a:t>V</a:t>
            </a:r>
            <a:endParaRPr lang="en-US" sz="1700" dirty="0"/>
          </a:p>
        </p:txBody>
      </p:sp>
      <p:sp>
        <p:nvSpPr>
          <p:cNvPr id="24" name="Text 21"/>
          <p:cNvSpPr/>
          <p:nvPr/>
        </p:nvSpPr>
        <p:spPr>
          <a:xfrm>
            <a:off x="1676400" y="286512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Materiales y costos</a:t>
            </a:r>
            <a:endParaRPr lang="en-US" sz="1500" dirty="0"/>
          </a:p>
        </p:txBody>
      </p:sp>
      <p:sp>
        <p:nvSpPr>
          <p:cNvPr id="25" name="Text 22"/>
          <p:cNvSpPr/>
          <p:nvPr/>
        </p:nvSpPr>
        <p:spPr>
          <a:xfrm>
            <a:off x="4737100" y="289179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15–23</a:t>
            </a:r>
            <a:endParaRPr lang="en-US" sz="1200" dirty="0"/>
          </a:p>
        </p:txBody>
      </p:sp>
      <p:sp>
        <p:nvSpPr>
          <p:cNvPr id="26" name="Shape 23"/>
          <p:cNvSpPr/>
          <p:nvPr/>
        </p:nvSpPr>
        <p:spPr>
          <a:xfrm>
            <a:off x="6146800" y="2694940"/>
            <a:ext cx="5435600" cy="607060"/>
          </a:xfrm>
          <a:prstGeom prst="roundRect">
            <a:avLst>
              <a:gd name="adj" fmla="val 16736"/>
            </a:avLst>
          </a:prstGeom>
          <a:solidFill>
            <a:srgbClr val="123552"/>
          </a:solidFill>
          <a:ln/>
        </p:spPr>
      </p:sp>
      <p:sp>
        <p:nvSpPr>
          <p:cNvPr id="27" name="Text 24"/>
          <p:cNvSpPr/>
          <p:nvPr/>
        </p:nvSpPr>
        <p:spPr>
          <a:xfrm>
            <a:off x="6324600" y="2847340"/>
            <a:ext cx="8128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FC8B8"/>
                </a:solidFill>
                <a:latin typeface="Montserrat" pitchFamily="34" charset="0"/>
                <a:ea typeface="Montserrat" pitchFamily="34" charset="-122"/>
                <a:cs typeface="Montserrat" pitchFamily="34" charset="-120"/>
              </a:rPr>
              <a:t>VI</a:t>
            </a:r>
            <a:endParaRPr lang="en-US" sz="1700" dirty="0"/>
          </a:p>
        </p:txBody>
      </p:sp>
      <p:sp>
        <p:nvSpPr>
          <p:cNvPr id="28" name="Text 25"/>
          <p:cNvSpPr/>
          <p:nvPr/>
        </p:nvSpPr>
        <p:spPr>
          <a:xfrm>
            <a:off x="7213600" y="286512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Cronograma (Gantt)</a:t>
            </a:r>
            <a:endParaRPr lang="en-US" sz="1500" dirty="0"/>
          </a:p>
        </p:txBody>
      </p:sp>
      <p:sp>
        <p:nvSpPr>
          <p:cNvPr id="29" name="Text 26"/>
          <p:cNvSpPr/>
          <p:nvPr/>
        </p:nvSpPr>
        <p:spPr>
          <a:xfrm>
            <a:off x="10274300" y="289179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24</a:t>
            </a:r>
            <a:endParaRPr lang="en-US" sz="1200" dirty="0"/>
          </a:p>
        </p:txBody>
      </p:sp>
      <p:sp>
        <p:nvSpPr>
          <p:cNvPr id="30" name="Shape 27"/>
          <p:cNvSpPr/>
          <p:nvPr/>
        </p:nvSpPr>
        <p:spPr>
          <a:xfrm>
            <a:off x="609600" y="3403600"/>
            <a:ext cx="5435600" cy="607060"/>
          </a:xfrm>
          <a:prstGeom prst="roundRect">
            <a:avLst>
              <a:gd name="adj" fmla="val 16736"/>
            </a:avLst>
          </a:prstGeom>
          <a:solidFill>
            <a:srgbClr val="123552"/>
          </a:solidFill>
          <a:ln/>
        </p:spPr>
      </p:sp>
      <p:sp>
        <p:nvSpPr>
          <p:cNvPr id="31" name="Text 28"/>
          <p:cNvSpPr/>
          <p:nvPr/>
        </p:nvSpPr>
        <p:spPr>
          <a:xfrm>
            <a:off x="787400" y="3556000"/>
            <a:ext cx="8128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FC8B8"/>
                </a:solidFill>
                <a:latin typeface="Montserrat" pitchFamily="34" charset="0"/>
                <a:ea typeface="Montserrat" pitchFamily="34" charset="-122"/>
                <a:cs typeface="Montserrat" pitchFamily="34" charset="-120"/>
              </a:rPr>
              <a:t>VII</a:t>
            </a:r>
            <a:endParaRPr lang="en-US" sz="1700" dirty="0"/>
          </a:p>
        </p:txBody>
      </p:sp>
      <p:sp>
        <p:nvSpPr>
          <p:cNvPr id="32" name="Text 29"/>
          <p:cNvSpPr/>
          <p:nvPr/>
        </p:nvSpPr>
        <p:spPr>
          <a:xfrm>
            <a:off x="1676400" y="357378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Alcances del proyecto</a:t>
            </a:r>
            <a:endParaRPr lang="en-US" sz="1500" dirty="0"/>
          </a:p>
        </p:txBody>
      </p:sp>
      <p:sp>
        <p:nvSpPr>
          <p:cNvPr id="33" name="Text 30"/>
          <p:cNvSpPr/>
          <p:nvPr/>
        </p:nvSpPr>
        <p:spPr>
          <a:xfrm>
            <a:off x="4737100" y="360045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25</a:t>
            </a:r>
            <a:endParaRPr lang="en-US" sz="1200" dirty="0"/>
          </a:p>
        </p:txBody>
      </p:sp>
      <p:sp>
        <p:nvSpPr>
          <p:cNvPr id="34" name="Shape 31"/>
          <p:cNvSpPr/>
          <p:nvPr/>
        </p:nvSpPr>
        <p:spPr>
          <a:xfrm>
            <a:off x="6146800" y="3403600"/>
            <a:ext cx="5435600" cy="607060"/>
          </a:xfrm>
          <a:prstGeom prst="roundRect">
            <a:avLst>
              <a:gd name="adj" fmla="val 16736"/>
            </a:avLst>
          </a:prstGeom>
          <a:solidFill>
            <a:srgbClr val="123552"/>
          </a:solidFill>
          <a:ln/>
        </p:spPr>
      </p:sp>
      <p:sp>
        <p:nvSpPr>
          <p:cNvPr id="35" name="Text 32"/>
          <p:cNvSpPr/>
          <p:nvPr/>
        </p:nvSpPr>
        <p:spPr>
          <a:xfrm>
            <a:off x="6324600" y="3556000"/>
            <a:ext cx="8128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FC8B8"/>
                </a:solidFill>
                <a:latin typeface="Montserrat" pitchFamily="34" charset="0"/>
                <a:ea typeface="Montserrat" pitchFamily="34" charset="-122"/>
                <a:cs typeface="Montserrat" pitchFamily="34" charset="-120"/>
              </a:rPr>
              <a:t>VIII</a:t>
            </a:r>
            <a:endParaRPr lang="en-US" sz="1700" dirty="0"/>
          </a:p>
        </p:txBody>
      </p:sp>
      <p:sp>
        <p:nvSpPr>
          <p:cNvPr id="36" name="Text 33"/>
          <p:cNvSpPr/>
          <p:nvPr/>
        </p:nvSpPr>
        <p:spPr>
          <a:xfrm>
            <a:off x="7213600" y="357378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Limitaciones del proyecto</a:t>
            </a:r>
            <a:endParaRPr lang="en-US" sz="1500" dirty="0"/>
          </a:p>
        </p:txBody>
      </p:sp>
      <p:sp>
        <p:nvSpPr>
          <p:cNvPr id="37" name="Text 34"/>
          <p:cNvSpPr/>
          <p:nvPr/>
        </p:nvSpPr>
        <p:spPr>
          <a:xfrm>
            <a:off x="10274300" y="360045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26</a:t>
            </a:r>
            <a:endParaRPr lang="en-US" sz="1200" dirty="0"/>
          </a:p>
        </p:txBody>
      </p:sp>
      <p:sp>
        <p:nvSpPr>
          <p:cNvPr id="38" name="Shape 35"/>
          <p:cNvSpPr/>
          <p:nvPr/>
        </p:nvSpPr>
        <p:spPr>
          <a:xfrm>
            <a:off x="609600" y="4112260"/>
            <a:ext cx="5435600" cy="607060"/>
          </a:xfrm>
          <a:prstGeom prst="roundRect">
            <a:avLst>
              <a:gd name="adj" fmla="val 16736"/>
            </a:avLst>
          </a:prstGeom>
          <a:solidFill>
            <a:srgbClr val="123552"/>
          </a:solidFill>
          <a:ln/>
        </p:spPr>
      </p:sp>
      <p:pic>
        <p:nvPicPr>
          <p:cNvPr id="39" name="Image 1" descr="Check">    </p:cNvPr>
          <p:cNvPicPr>
            <a:picLocks noChangeAspect="1"/>
          </p:cNvPicPr>
          <p:nvPr/>
        </p:nvPicPr>
        <p:blipFill>
          <a:blip r:embed="rId2"/>
          <a:srcRect l="0" r="0" t="0" b="0"/>
          <a:stretch/>
        </p:blipFill>
        <p:spPr>
          <a:xfrm>
            <a:off x="787400" y="4288790"/>
            <a:ext cx="254000" cy="254000"/>
          </a:xfrm>
          <a:prstGeom prst="rect">
            <a:avLst/>
          </a:prstGeom>
        </p:spPr>
      </p:pic>
      <p:sp>
        <p:nvSpPr>
          <p:cNvPr id="40" name="Text 36"/>
          <p:cNvSpPr/>
          <p:nvPr/>
        </p:nvSpPr>
        <p:spPr>
          <a:xfrm>
            <a:off x="1676400" y="428244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Conclusiones</a:t>
            </a:r>
            <a:endParaRPr lang="en-US" sz="1500" dirty="0"/>
          </a:p>
        </p:txBody>
      </p:sp>
      <p:sp>
        <p:nvSpPr>
          <p:cNvPr id="41" name="Text 37"/>
          <p:cNvSpPr/>
          <p:nvPr/>
        </p:nvSpPr>
        <p:spPr>
          <a:xfrm>
            <a:off x="4737100" y="430911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27</a:t>
            </a:r>
            <a:endParaRPr lang="en-US" sz="1200" dirty="0"/>
          </a:p>
        </p:txBody>
      </p:sp>
      <p:sp>
        <p:nvSpPr>
          <p:cNvPr id="42" name="Shape 38"/>
          <p:cNvSpPr/>
          <p:nvPr/>
        </p:nvSpPr>
        <p:spPr>
          <a:xfrm>
            <a:off x="6146800" y="4112260"/>
            <a:ext cx="5435600" cy="607060"/>
          </a:xfrm>
          <a:prstGeom prst="roundRect">
            <a:avLst>
              <a:gd name="adj" fmla="val 16736"/>
            </a:avLst>
          </a:prstGeom>
          <a:solidFill>
            <a:srgbClr val="123552"/>
          </a:solidFill>
          <a:ln/>
        </p:spPr>
      </p:sp>
      <p:sp>
        <p:nvSpPr>
          <p:cNvPr id="43" name="Text 39"/>
          <p:cNvSpPr/>
          <p:nvPr/>
        </p:nvSpPr>
        <p:spPr>
          <a:xfrm>
            <a:off x="6324600" y="4264660"/>
            <a:ext cx="8128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FC8B8"/>
                </a:solidFill>
                <a:latin typeface="Montserrat" pitchFamily="34" charset="0"/>
                <a:ea typeface="Montserrat" pitchFamily="34" charset="-122"/>
                <a:cs typeface="Montserrat" pitchFamily="34" charset="-120"/>
              </a:rPr>
              <a:t>IX</a:t>
            </a:r>
            <a:endParaRPr lang="en-US" sz="1700" dirty="0"/>
          </a:p>
        </p:txBody>
      </p:sp>
      <p:sp>
        <p:nvSpPr>
          <p:cNvPr id="44" name="Text 40"/>
          <p:cNvSpPr/>
          <p:nvPr/>
        </p:nvSpPr>
        <p:spPr>
          <a:xfrm>
            <a:off x="7213600" y="428244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Referencias bibliográficas</a:t>
            </a:r>
            <a:endParaRPr lang="en-US" sz="1500" dirty="0"/>
          </a:p>
        </p:txBody>
      </p:sp>
      <p:sp>
        <p:nvSpPr>
          <p:cNvPr id="45" name="Text 41"/>
          <p:cNvSpPr/>
          <p:nvPr/>
        </p:nvSpPr>
        <p:spPr>
          <a:xfrm>
            <a:off x="10274300" y="430911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28</a:t>
            </a:r>
            <a:endParaRPr lang="en-US" sz="1200" dirty="0"/>
          </a:p>
        </p:txBody>
      </p:sp>
      <p:sp>
        <p:nvSpPr>
          <p:cNvPr id="46" name="Shape 42"/>
          <p:cNvSpPr/>
          <p:nvPr/>
        </p:nvSpPr>
        <p:spPr>
          <a:xfrm>
            <a:off x="609600" y="4820920"/>
            <a:ext cx="5435600" cy="607060"/>
          </a:xfrm>
          <a:prstGeom prst="roundRect">
            <a:avLst>
              <a:gd name="adj" fmla="val 16736"/>
            </a:avLst>
          </a:prstGeom>
          <a:solidFill>
            <a:srgbClr val="123552"/>
          </a:solidFill>
          <a:ln/>
        </p:spPr>
      </p:sp>
      <p:sp>
        <p:nvSpPr>
          <p:cNvPr id="47" name="Text 43"/>
          <p:cNvSpPr/>
          <p:nvPr/>
        </p:nvSpPr>
        <p:spPr>
          <a:xfrm>
            <a:off x="787400" y="4973320"/>
            <a:ext cx="81280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3FC8B8"/>
                </a:solidFill>
                <a:latin typeface="Montserrat" pitchFamily="34" charset="0"/>
                <a:ea typeface="Montserrat" pitchFamily="34" charset="-122"/>
                <a:cs typeface="Montserrat" pitchFamily="34" charset="-120"/>
              </a:rPr>
              <a:t>X</a:t>
            </a:r>
            <a:endParaRPr lang="en-US" sz="1700" dirty="0"/>
          </a:p>
        </p:txBody>
      </p:sp>
      <p:sp>
        <p:nvSpPr>
          <p:cNvPr id="48" name="Text 44"/>
          <p:cNvSpPr/>
          <p:nvPr/>
        </p:nvSpPr>
        <p:spPr>
          <a:xfrm>
            <a:off x="1676400" y="499110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Anexos</a:t>
            </a:r>
            <a:endParaRPr lang="en-US" sz="1500" dirty="0"/>
          </a:p>
        </p:txBody>
      </p:sp>
      <p:sp>
        <p:nvSpPr>
          <p:cNvPr id="49" name="Text 45"/>
          <p:cNvSpPr/>
          <p:nvPr/>
        </p:nvSpPr>
        <p:spPr>
          <a:xfrm>
            <a:off x="4737100" y="501777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29–31</a:t>
            </a:r>
            <a:endParaRPr lang="en-US" sz="1200" dirty="0"/>
          </a:p>
        </p:txBody>
      </p:sp>
      <p:sp>
        <p:nvSpPr>
          <p:cNvPr id="50" name="Shape 46"/>
          <p:cNvSpPr/>
          <p:nvPr/>
        </p:nvSpPr>
        <p:spPr>
          <a:xfrm>
            <a:off x="6146800" y="4820920"/>
            <a:ext cx="5435600" cy="607060"/>
          </a:xfrm>
          <a:prstGeom prst="roundRect">
            <a:avLst>
              <a:gd name="adj" fmla="val 16736"/>
            </a:avLst>
          </a:prstGeom>
          <a:solidFill>
            <a:srgbClr val="123552"/>
          </a:solidFill>
          <a:ln/>
        </p:spPr>
      </p:sp>
      <p:pic>
        <p:nvPicPr>
          <p:cNvPr id="51" name="Image 2" descr="Chat">    </p:cNvPr>
          <p:cNvPicPr>
            <a:picLocks noChangeAspect="1"/>
          </p:cNvPicPr>
          <p:nvPr/>
        </p:nvPicPr>
        <p:blipFill>
          <a:blip r:embed="rId3"/>
          <a:srcRect l="0" r="0" t="0" b="0"/>
          <a:stretch/>
        </p:blipFill>
        <p:spPr>
          <a:xfrm>
            <a:off x="6324600" y="4997450"/>
            <a:ext cx="254000" cy="254000"/>
          </a:xfrm>
          <a:prstGeom prst="rect">
            <a:avLst/>
          </a:prstGeom>
        </p:spPr>
      </p:pic>
      <p:sp>
        <p:nvSpPr>
          <p:cNvPr id="52" name="Text 47"/>
          <p:cNvSpPr/>
          <p:nvPr/>
        </p:nvSpPr>
        <p:spPr>
          <a:xfrm>
            <a:off x="7213600" y="4991100"/>
            <a:ext cx="307403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3F7F8"/>
                </a:solidFill>
                <a:latin typeface="Inter" pitchFamily="34" charset="0"/>
                <a:ea typeface="Inter" pitchFamily="34" charset="-122"/>
                <a:cs typeface="Inter" pitchFamily="34" charset="-120"/>
              </a:rPr>
              <a:t>Cierre y preguntas</a:t>
            </a:r>
            <a:endParaRPr lang="en-US" sz="1500" dirty="0"/>
          </a:p>
        </p:txBody>
      </p:sp>
      <p:sp>
        <p:nvSpPr>
          <p:cNvPr id="53" name="Text 48"/>
          <p:cNvSpPr/>
          <p:nvPr/>
        </p:nvSpPr>
        <p:spPr>
          <a:xfrm>
            <a:off x="10274300" y="5017770"/>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Diap. 32</a:t>
            </a:r>
            <a:endParaRPr lang="en-US" sz="1200" dirty="0"/>
          </a:p>
        </p:txBody>
      </p:sp>
      <p:sp>
        <p:nvSpPr>
          <p:cNvPr id="54" name="Text 49"/>
          <p:cNvSpPr/>
          <p:nvPr/>
        </p:nvSpPr>
        <p:spPr>
          <a:xfrm>
            <a:off x="609600" y="6365241"/>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C0CF"/>
                </a:solidFill>
                <a:latin typeface="Inter" pitchFamily="34" charset="0"/>
                <a:ea typeface="Inter" pitchFamily="34" charset="-122"/>
                <a:cs typeface="Inter" pitchFamily="34" charset="-120"/>
              </a:rPr>
              <a:t>Robot hospitalario omnidireccional · Grupo 04</a:t>
            </a:r>
            <a:endParaRPr lang="en-US" sz="1200" dirty="0"/>
          </a:p>
        </p:txBody>
      </p:sp>
      <p:sp>
        <p:nvSpPr>
          <p:cNvPr id="55" name="Text 50"/>
          <p:cNvSpPr/>
          <p:nvPr/>
        </p:nvSpPr>
        <p:spPr>
          <a:xfrm>
            <a:off x="10261600" y="6365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DC0CF"/>
                </a:solidFill>
                <a:latin typeface="Inter" pitchFamily="34" charset="0"/>
                <a:ea typeface="Inter" pitchFamily="34" charset="-122"/>
                <a:cs typeface="Inter" pitchFamily="34" charset="-120"/>
              </a:rPr>
              <a:t>02 / 32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 · SITUACIÓN PROBLEMÁTICA</a:t>
            </a:r>
            <a:endParaRPr lang="en-US" sz="1200" dirty="0"/>
          </a:p>
        </p:txBody>
      </p:sp>
      <p:sp>
        <p:nvSpPr>
          <p:cNvPr id="5" name="Text 2"/>
          <p:cNvSpPr/>
          <p:nvPr>
            <p:ph type="title"/>
          </p:nvPr>
        </p:nvSpPr>
        <p:spPr>
          <a:xfrm>
            <a:off x="609600" y="708661"/>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Contexto clínico: 1.22 h perdidas por turno</a:t>
            </a:r>
            <a:endParaRPr lang="en-US" sz="2800" dirty="0"/>
          </a:p>
        </p:txBody>
      </p:sp>
      <p:sp>
        <p:nvSpPr>
          <p:cNvPr id="6" name="Shape 3"/>
          <p:cNvSpPr/>
          <p:nvPr/>
        </p:nvSpPr>
        <p:spPr>
          <a:xfrm>
            <a:off x="612775" y="1280795"/>
            <a:ext cx="5962650" cy="1464469"/>
          </a:xfrm>
          <a:prstGeom prst="roundRect">
            <a:avLst>
              <a:gd name="adj" fmla="val 6721"/>
            </a:avLst>
          </a:prstGeom>
          <a:solidFill>
            <a:srgbClr val="FDFBF7"/>
          </a:solidFill>
          <a:ln w="6350">
            <a:solidFill>
              <a:srgbClr val="D9D3C6"/>
            </a:solidFill>
            <a:prstDash val="solid"/>
          </a:ln>
        </p:spPr>
      </p:sp>
      <p:sp>
        <p:nvSpPr>
          <p:cNvPr id="7" name="Text 4"/>
          <p:cNvSpPr/>
          <p:nvPr/>
        </p:nvSpPr>
        <p:spPr>
          <a:xfrm>
            <a:off x="817880" y="1764109"/>
            <a:ext cx="16383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0B7A7A"/>
                </a:solidFill>
                <a:latin typeface="Montserrat" pitchFamily="34" charset="0"/>
                <a:ea typeface="Montserrat" pitchFamily="34" charset="-122"/>
                <a:cs typeface="Montserrat" pitchFamily="34" charset="-120"/>
              </a:rPr>
              <a:t>400 m</a:t>
            </a:r>
            <a:endParaRPr lang="en-US" sz="2800" dirty="0"/>
          </a:p>
        </p:txBody>
      </p:sp>
      <p:sp>
        <p:nvSpPr>
          <p:cNvPr id="8" name="Text 5"/>
          <p:cNvSpPr/>
          <p:nvPr/>
        </p:nvSpPr>
        <p:spPr>
          <a:xfrm>
            <a:off x="2583180" y="1652984"/>
            <a:ext cx="3900754"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B4A5C"/>
                </a:solidFill>
                <a:latin typeface="Inter" pitchFamily="34" charset="0"/>
                <a:ea typeface="Inter" pitchFamily="34" charset="-122"/>
                <a:cs typeface="Inter" pitchFamily="34" charset="-120"/>
              </a:rPr>
              <a:t>de recorrido de ida y vuelta entre Farmacia Central y hospitalización en un hospital de Nivel III [6].</a:t>
            </a:r>
            <a:endParaRPr lang="en-US" sz="1400" dirty="0"/>
          </a:p>
        </p:txBody>
      </p:sp>
      <p:sp>
        <p:nvSpPr>
          <p:cNvPr id="9" name="Shape 6"/>
          <p:cNvSpPr/>
          <p:nvPr/>
        </p:nvSpPr>
        <p:spPr>
          <a:xfrm>
            <a:off x="612775" y="2878613"/>
            <a:ext cx="5962650" cy="1464548"/>
          </a:xfrm>
          <a:prstGeom prst="roundRect">
            <a:avLst>
              <a:gd name="adj" fmla="val 6721"/>
            </a:avLst>
          </a:prstGeom>
          <a:solidFill>
            <a:srgbClr val="FDFBF7"/>
          </a:solidFill>
          <a:ln w="6350">
            <a:solidFill>
              <a:srgbClr val="D9D3C6"/>
            </a:solidFill>
            <a:prstDash val="solid"/>
          </a:ln>
        </p:spPr>
      </p:sp>
      <p:sp>
        <p:nvSpPr>
          <p:cNvPr id="10" name="Text 7"/>
          <p:cNvSpPr/>
          <p:nvPr/>
        </p:nvSpPr>
        <p:spPr>
          <a:xfrm>
            <a:off x="817880" y="3361928"/>
            <a:ext cx="16383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0B7A7A"/>
                </a:solidFill>
                <a:latin typeface="Montserrat" pitchFamily="34" charset="0"/>
                <a:ea typeface="Montserrat" pitchFamily="34" charset="-122"/>
                <a:cs typeface="Montserrat" pitchFamily="34" charset="-120"/>
              </a:rPr>
              <a:t>93.6 %</a:t>
            </a:r>
            <a:endParaRPr lang="en-US" sz="2800" dirty="0"/>
          </a:p>
        </p:txBody>
      </p:sp>
      <p:sp>
        <p:nvSpPr>
          <p:cNvPr id="11" name="Text 8"/>
          <p:cNvSpPr/>
          <p:nvPr/>
        </p:nvSpPr>
        <p:spPr>
          <a:xfrm>
            <a:off x="2583180" y="3250803"/>
            <a:ext cx="3900754"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B4A5C"/>
                </a:solidFill>
                <a:latin typeface="Inter" pitchFamily="34" charset="0"/>
                <a:ea typeface="Inter" pitchFamily="34" charset="-122"/>
                <a:cs typeface="Inter" pitchFamily="34" charset="-120"/>
              </a:rPr>
              <a:t>del personal de enfermería con sobrecarga física alta (17 a 24 pacientes por turno); 100 % de la muestra afectada [7].</a:t>
            </a:r>
            <a:endParaRPr lang="en-US" sz="1400" dirty="0"/>
          </a:p>
        </p:txBody>
      </p:sp>
      <p:sp>
        <p:nvSpPr>
          <p:cNvPr id="12" name="Shape 9"/>
          <p:cNvSpPr/>
          <p:nvPr/>
        </p:nvSpPr>
        <p:spPr>
          <a:xfrm>
            <a:off x="609600" y="4473338"/>
            <a:ext cx="5969000" cy="1460738"/>
          </a:xfrm>
          <a:prstGeom prst="roundRect">
            <a:avLst>
              <a:gd name="adj" fmla="val 6955"/>
            </a:avLst>
          </a:prstGeom>
          <a:solidFill>
            <a:srgbClr val="0B2239"/>
          </a:solidFill>
          <a:ln/>
        </p:spPr>
      </p:sp>
      <p:sp>
        <p:nvSpPr>
          <p:cNvPr id="13" name="Text 10"/>
          <p:cNvSpPr/>
          <p:nvPr/>
        </p:nvSpPr>
        <p:spPr>
          <a:xfrm>
            <a:off x="812800" y="4954747"/>
            <a:ext cx="16383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FC8B8"/>
                </a:solidFill>
                <a:latin typeface="Montserrat" pitchFamily="34" charset="0"/>
                <a:ea typeface="Montserrat" pitchFamily="34" charset="-122"/>
                <a:cs typeface="Montserrat" pitchFamily="34" charset="-120"/>
              </a:rPr>
              <a:t>1.22 h</a:t>
            </a:r>
            <a:endParaRPr lang="en-US" sz="2800" dirty="0"/>
          </a:p>
        </p:txBody>
      </p:sp>
      <p:sp>
        <p:nvSpPr>
          <p:cNvPr id="14" name="Text 11"/>
          <p:cNvSpPr/>
          <p:nvPr/>
        </p:nvSpPr>
        <p:spPr>
          <a:xfrm>
            <a:off x="2578100" y="4843622"/>
            <a:ext cx="3911219"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3F7F8"/>
                </a:solidFill>
                <a:latin typeface="Inter" pitchFamily="34" charset="0"/>
                <a:ea typeface="Inter" pitchFamily="34" charset="-122"/>
                <a:cs typeface="Inter" pitchFamily="34" charset="-120"/>
              </a:rPr>
              <a:t>perdidas por turno con solo dos viajes: marcha a 1.0 m/s [10] y espera en ventanilla de 30.1 min [11].</a:t>
            </a:r>
            <a:endParaRPr lang="en-US" sz="1400" dirty="0"/>
          </a:p>
        </p:txBody>
      </p:sp>
      <p:sp>
        <p:nvSpPr>
          <p:cNvPr id="15" name="Shape 12"/>
          <p:cNvSpPr/>
          <p:nvPr/>
        </p:nvSpPr>
        <p:spPr>
          <a:xfrm>
            <a:off x="6883400" y="1277620"/>
            <a:ext cx="4699000" cy="2921000"/>
          </a:xfrm>
          <a:prstGeom prst="roundRect">
            <a:avLst>
              <a:gd name="adj" fmla="val 2609"/>
            </a:avLst>
          </a:prstGeom>
          <a:solidFill>
            <a:srgbClr val="FDFBF7"/>
          </a:solidFill>
          <a:ln/>
        </p:spPr>
      </p:sp>
      <p:pic>
        <p:nvPicPr>
          <p:cNvPr id="16" name="Image 1" descr="Plano arquitectónico de un hospital de Nivel III con sus rutas de circulación">    </p:cNvPr>
          <p:cNvPicPr>
            <a:picLocks noChangeAspect="1"/>
          </p:cNvPicPr>
          <p:nvPr/>
        </p:nvPicPr>
        <p:blipFill>
          <a:blip r:embed="rId2"/>
          <a:srcRect l="-83" r="-83" t="0" b="0"/>
          <a:stretch/>
        </p:blipFill>
        <p:spPr>
          <a:xfrm>
            <a:off x="6889750" y="1283970"/>
            <a:ext cx="4686300" cy="2908300"/>
          </a:xfrm>
          <a:prstGeom prst="roundRect">
            <a:avLst>
              <a:gd name="adj" fmla="val 2402"/>
            </a:avLst>
          </a:prstGeom>
        </p:spPr>
      </p:pic>
      <p:sp>
        <p:nvSpPr>
          <p:cNvPr id="17" name="Shape 13"/>
          <p:cNvSpPr/>
          <p:nvPr/>
        </p:nvSpPr>
        <p:spPr>
          <a:xfrm>
            <a:off x="6886575" y="1280795"/>
            <a:ext cx="4692650" cy="2914650"/>
          </a:xfrm>
          <a:prstGeom prst="roundRect">
            <a:avLst>
              <a:gd name="adj" fmla="val 2505"/>
            </a:avLst>
          </a:prstGeom>
          <a:noFill/>
          <a:ln w="6350">
            <a:solidFill>
              <a:srgbClr val="D9D3C6"/>
            </a:solidFill>
            <a:prstDash val="solid"/>
          </a:ln>
        </p:spPr>
      </p:sp>
      <p:sp>
        <p:nvSpPr>
          <p:cNvPr id="18" name="Text 14"/>
          <p:cNvSpPr/>
          <p:nvPr/>
        </p:nvSpPr>
        <p:spPr>
          <a:xfrm>
            <a:off x="6883400" y="4274820"/>
            <a:ext cx="4839970"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B7C"/>
                </a:solidFill>
                <a:latin typeface="Inter" pitchFamily="34" charset="0"/>
                <a:ea typeface="Inter" pitchFamily="34" charset="-122"/>
                <a:cs typeface="Inter" pitchFamily="34" charset="-120"/>
              </a:rPr>
              <a:t>Fig. 1.</a:t>
            </a:r>
            <a:r>
              <a:rPr lang="en-US" sz="1200" dirty="0">
                <a:solidFill>
                  <a:srgbClr val="5B6B7C"/>
                </a:solidFill>
                <a:latin typeface="Inter" pitchFamily="34" charset="0"/>
                <a:ea typeface="Inter" pitchFamily="34" charset="-122"/>
                <a:cs typeface="Inter" pitchFamily="34" charset="-120"/>
              </a:rPr>
              <a:t> Plano referencial de un hospital de Nivel III. Fuente: Elaboración propia.</a:t>
            </a:r>
            <a:endParaRPr lang="en-US" sz="1200" dirty="0"/>
          </a:p>
        </p:txBody>
      </p:sp>
      <p:sp>
        <p:nvSpPr>
          <p:cNvPr id="19" name="Shape 15"/>
          <p:cNvSpPr/>
          <p:nvPr/>
        </p:nvSpPr>
        <p:spPr>
          <a:xfrm>
            <a:off x="6883400" y="4747261"/>
            <a:ext cx="4699000" cy="1186815"/>
          </a:xfrm>
          <a:prstGeom prst="roundRect">
            <a:avLst>
              <a:gd name="adj" fmla="val 8561"/>
            </a:avLst>
          </a:prstGeom>
          <a:solidFill>
            <a:srgbClr val="E4F4F1"/>
          </a:solidFill>
          <a:ln/>
        </p:spPr>
      </p:sp>
      <p:sp>
        <p:nvSpPr>
          <p:cNvPr id="20" name="Text 16"/>
          <p:cNvSpPr/>
          <p:nvPr/>
        </p:nvSpPr>
        <p:spPr>
          <a:xfrm>
            <a:off x="7061200" y="4874261"/>
            <a:ext cx="447370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7A"/>
                </a:solidFill>
                <a:latin typeface="Inter" pitchFamily="34" charset="0"/>
                <a:ea typeface="Inter" pitchFamily="34" charset="-122"/>
                <a:cs typeface="Inter" pitchFamily="34" charset="-120"/>
              </a:rPr>
              <a:t>Cálculo por turno</a:t>
            </a:r>
            <a:endParaRPr lang="en-US" sz="1200" dirty="0"/>
          </a:p>
        </p:txBody>
      </p:sp>
      <p:sp>
        <p:nvSpPr>
          <p:cNvPr id="21" name="Text 17"/>
          <p:cNvSpPr/>
          <p:nvPr/>
        </p:nvSpPr>
        <p:spPr>
          <a:xfrm>
            <a:off x="7061200" y="5138420"/>
            <a:ext cx="4473702"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nter" pitchFamily="34" charset="0"/>
                <a:ea typeface="Inter" pitchFamily="34" charset="-122"/>
                <a:cs typeface="Inter" pitchFamily="34" charset="-120"/>
              </a:rPr>
              <a:t>400 m ÷ 1.0 m/s = 400 s ≈ 6.6 min</a:t>
            </a:r>
            <a:endParaRPr lang="en-US" sz="1300" dirty="0"/>
          </a:p>
          <a:p>
            <a:pPr algn="l" indent="0" marL="0">
              <a:lnSpc>
                <a:spcPts val="1755"/>
              </a:lnSpc>
              <a:buNone/>
            </a:pPr>
            <a:r>
              <a:rPr lang="en-US" sz="1300" dirty="0">
                <a:solidFill>
                  <a:srgbClr val="14213D"/>
                </a:solidFill>
                <a:latin typeface="Inter" pitchFamily="34" charset="0"/>
                <a:ea typeface="Inter" pitchFamily="34" charset="-122"/>
                <a:cs typeface="Inter" pitchFamily="34" charset="-120"/>
              </a:rPr>
              <a:t>+ espera en Farmacia 30.1 min = 36.6 min por viaje</a:t>
            </a:r>
            <a:endParaRPr lang="en-US" sz="1300" dirty="0"/>
          </a:p>
          <a:p>
            <a:pPr algn="l" indent="0" marL="0">
              <a:lnSpc>
                <a:spcPts val="1755"/>
              </a:lnSpc>
              <a:buNone/>
            </a:pPr>
            <a:r>
              <a:rPr lang="en-US" sz="1300" dirty="0">
                <a:solidFill>
                  <a:srgbClr val="14213D"/>
                </a:solidFill>
                <a:latin typeface="Inter" pitchFamily="34" charset="0"/>
                <a:ea typeface="Inter" pitchFamily="34" charset="-122"/>
                <a:cs typeface="Inter" pitchFamily="34" charset="-120"/>
              </a:rPr>
              <a:t>× 2 viajes = 73.2 min ≈ </a:t>
            </a:r>
            <a:r>
              <a:rPr lang="en-US" sz="1300" b="1" dirty="0">
                <a:solidFill>
                  <a:srgbClr val="14213D"/>
                </a:solidFill>
                <a:latin typeface="Inter" pitchFamily="34" charset="0"/>
                <a:ea typeface="Inter" pitchFamily="34" charset="-122"/>
                <a:cs typeface="Inter" pitchFamily="34" charset="-120"/>
              </a:rPr>
              <a:t>1.22 h</a:t>
            </a:r>
            <a:endParaRPr lang="en-US" sz="1300" dirty="0"/>
          </a:p>
        </p:txBody>
      </p:sp>
      <p:sp>
        <p:nvSpPr>
          <p:cNvPr id="22" name="Text 18"/>
          <p:cNvSpPr/>
          <p:nvPr/>
        </p:nvSpPr>
        <p:spPr>
          <a:xfrm>
            <a:off x="609600" y="6365241"/>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Refs. [6] MINSA (2014) · [7] Chinchay (2023) · [10] Bohannon (1997) · [11] Yanayaco (2023)</a:t>
            </a:r>
            <a:endParaRPr lang="en-US" sz="1200" dirty="0"/>
          </a:p>
        </p:txBody>
      </p:sp>
      <p:sp>
        <p:nvSpPr>
          <p:cNvPr id="23" name="Text 19"/>
          <p:cNvSpPr/>
          <p:nvPr/>
        </p:nvSpPr>
        <p:spPr>
          <a:xfrm>
            <a:off x="10261600" y="6365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03 / 32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 · SITUACIÓN PROBLEMÁTICA · JUSTIFICACIÓN TÉCNICA</a:t>
            </a:r>
            <a:endParaRPr lang="en-US" sz="1200" dirty="0"/>
          </a:p>
        </p:txBody>
      </p:sp>
      <p:sp>
        <p:nvSpPr>
          <p:cNvPr id="5" name="Text 2"/>
          <p:cNvSpPr/>
          <p:nvPr>
            <p:ph type="title"/>
          </p:nvPr>
        </p:nvSpPr>
        <p:spPr>
          <a:xfrm>
            <a:off x="609600" y="708661"/>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Ruedas Mecanum para pasillos con camillas</a:t>
            </a:r>
            <a:endParaRPr lang="en-US" sz="2800" dirty="0"/>
          </a:p>
        </p:txBody>
      </p:sp>
      <p:sp>
        <p:nvSpPr>
          <p:cNvPr id="6" name="Shape 3"/>
          <p:cNvSpPr/>
          <p:nvPr/>
        </p:nvSpPr>
        <p:spPr>
          <a:xfrm>
            <a:off x="609600" y="1277620"/>
            <a:ext cx="3556000" cy="3917950"/>
          </a:xfrm>
          <a:prstGeom prst="roundRect">
            <a:avLst>
              <a:gd name="adj" fmla="val 2143"/>
            </a:avLst>
          </a:prstGeom>
          <a:solidFill>
            <a:srgbClr val="FDFBF7"/>
          </a:solidFill>
          <a:ln/>
        </p:spPr>
      </p:sp>
      <p:pic>
        <p:nvPicPr>
          <p:cNvPr id="7" name="Image 1" descr="Análisis vectorial de fuerzas en las cuatro ruedas Mecanum: avance, retroceso, desplazamiento a la izquierda y a la derecha">    </p:cNvPr>
          <p:cNvPicPr>
            <a:picLocks noChangeAspect="1"/>
          </p:cNvPicPr>
          <p:nvPr/>
        </p:nvPicPr>
        <p:blipFill>
          <a:blip r:embed="rId2"/>
          <a:srcRect l="0" r="0" t="-14" b="-14"/>
          <a:stretch/>
        </p:blipFill>
        <p:spPr>
          <a:xfrm>
            <a:off x="615950" y="1283970"/>
            <a:ext cx="3543300" cy="3905250"/>
          </a:xfrm>
          <a:prstGeom prst="roundRect">
            <a:avLst>
              <a:gd name="adj" fmla="val 1971"/>
            </a:avLst>
          </a:prstGeom>
        </p:spPr>
      </p:pic>
      <p:sp>
        <p:nvSpPr>
          <p:cNvPr id="8" name="Shape 4"/>
          <p:cNvSpPr/>
          <p:nvPr/>
        </p:nvSpPr>
        <p:spPr>
          <a:xfrm>
            <a:off x="612775" y="1280795"/>
            <a:ext cx="3549650" cy="3911600"/>
          </a:xfrm>
          <a:prstGeom prst="roundRect">
            <a:avLst>
              <a:gd name="adj" fmla="val 2057"/>
            </a:avLst>
          </a:prstGeom>
          <a:noFill/>
          <a:ln w="6350">
            <a:solidFill>
              <a:srgbClr val="D9D3C6"/>
            </a:solidFill>
            <a:prstDash val="solid"/>
          </a:ln>
        </p:spPr>
      </p:sp>
      <p:sp>
        <p:nvSpPr>
          <p:cNvPr id="9" name="Text 5"/>
          <p:cNvSpPr/>
          <p:nvPr/>
        </p:nvSpPr>
        <p:spPr>
          <a:xfrm>
            <a:off x="609600" y="5259070"/>
            <a:ext cx="3662680"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B7C"/>
                </a:solidFill>
                <a:latin typeface="Inter" pitchFamily="34" charset="0"/>
                <a:ea typeface="Inter" pitchFamily="34" charset="-122"/>
                <a:cs typeface="Inter" pitchFamily="34" charset="-120"/>
              </a:rPr>
              <a:t>Fig. 2.</a:t>
            </a:r>
            <a:r>
              <a:rPr lang="en-US" sz="1200" dirty="0">
                <a:solidFill>
                  <a:srgbClr val="5B6B7C"/>
                </a:solidFill>
                <a:latin typeface="Inter" pitchFamily="34" charset="0"/>
                <a:ea typeface="Inter" pitchFamily="34" charset="-122"/>
                <a:cs typeface="Inter" pitchFamily="34" charset="-120"/>
              </a:rPr>
              <a:t> Análisis vectorial de fuerzas y sentidos de giro en una plataforma con tracción Mecanum.</a:t>
            </a:r>
            <a:endParaRPr lang="en-US" sz="1200" dirty="0"/>
          </a:p>
        </p:txBody>
      </p:sp>
      <p:sp>
        <p:nvSpPr>
          <p:cNvPr id="10" name="Shape 6"/>
          <p:cNvSpPr/>
          <p:nvPr/>
        </p:nvSpPr>
        <p:spPr>
          <a:xfrm>
            <a:off x="4473575" y="1280795"/>
            <a:ext cx="7105650" cy="1065530"/>
          </a:xfrm>
          <a:prstGeom prst="roundRect">
            <a:avLst>
              <a:gd name="adj" fmla="val 9237"/>
            </a:avLst>
          </a:prstGeom>
          <a:solidFill>
            <a:srgbClr val="FDFBF7"/>
          </a:solidFill>
          <a:ln w="6350">
            <a:solidFill>
              <a:srgbClr val="D9D3C6"/>
            </a:solidFill>
            <a:prstDash val="solid"/>
          </a:ln>
        </p:spPr>
      </p:sp>
      <p:sp>
        <p:nvSpPr>
          <p:cNvPr id="11" name="Text 7"/>
          <p:cNvSpPr/>
          <p:nvPr/>
        </p:nvSpPr>
        <p:spPr>
          <a:xfrm>
            <a:off x="4678680" y="1435100"/>
            <a:ext cx="689630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Montserrat" pitchFamily="34" charset="0"/>
                <a:ea typeface="Montserrat" pitchFamily="34" charset="-122"/>
                <a:cs typeface="Montserrat" pitchFamily="34" charset="-120"/>
              </a:rPr>
              <a:t>Pasillos exigentes</a:t>
            </a:r>
            <a:endParaRPr lang="en-US" sz="1600" dirty="0"/>
          </a:p>
        </p:txBody>
      </p:sp>
      <p:sp>
        <p:nvSpPr>
          <p:cNvPr id="12" name="Text 8"/>
          <p:cNvSpPr/>
          <p:nvPr/>
        </p:nvSpPr>
        <p:spPr>
          <a:xfrm>
            <a:off x="4678680" y="1729741"/>
            <a:ext cx="689630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5C"/>
                </a:solidFill>
                <a:latin typeface="Inter" pitchFamily="34" charset="0"/>
                <a:ea typeface="Inter" pitchFamily="34" charset="-122"/>
                <a:cs typeface="Inter" pitchFamily="34" charset="-120"/>
              </a:rPr>
              <a:t>Los pasillos del MINSA miden de 2.40 a 2.80 m y comparten espacio con camillas, coches de curaciones y personas [6].</a:t>
            </a:r>
            <a:endParaRPr lang="en-US" sz="1300" dirty="0"/>
          </a:p>
        </p:txBody>
      </p:sp>
      <p:sp>
        <p:nvSpPr>
          <p:cNvPr id="13" name="Shape 9"/>
          <p:cNvSpPr/>
          <p:nvPr/>
        </p:nvSpPr>
        <p:spPr>
          <a:xfrm>
            <a:off x="4473575" y="2479675"/>
            <a:ext cx="7105650" cy="1296670"/>
          </a:xfrm>
          <a:prstGeom prst="roundRect">
            <a:avLst>
              <a:gd name="adj" fmla="val 7591"/>
            </a:avLst>
          </a:prstGeom>
          <a:solidFill>
            <a:srgbClr val="FDFBF7"/>
          </a:solidFill>
          <a:ln w="6350">
            <a:solidFill>
              <a:srgbClr val="D9D3C6"/>
            </a:solidFill>
            <a:prstDash val="solid"/>
          </a:ln>
        </p:spPr>
      </p:sp>
      <p:sp>
        <p:nvSpPr>
          <p:cNvPr id="14" name="Text 10"/>
          <p:cNvSpPr/>
          <p:nvPr/>
        </p:nvSpPr>
        <p:spPr>
          <a:xfrm>
            <a:off x="4678680" y="2633980"/>
            <a:ext cx="689630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Montserrat" pitchFamily="34" charset="0"/>
                <a:ea typeface="Montserrat" pitchFamily="34" charset="-122"/>
                <a:cs typeface="Montserrat" pitchFamily="34" charset="-120"/>
              </a:rPr>
              <a:t>Rodillos a 45°</a:t>
            </a:r>
            <a:endParaRPr lang="en-US" sz="1600" dirty="0"/>
          </a:p>
        </p:txBody>
      </p:sp>
      <p:sp>
        <p:nvSpPr>
          <p:cNvPr id="15" name="Text 11"/>
          <p:cNvSpPr/>
          <p:nvPr/>
        </p:nvSpPr>
        <p:spPr>
          <a:xfrm>
            <a:off x="4678680" y="2928620"/>
            <a:ext cx="689630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5C"/>
                </a:solidFill>
                <a:latin typeface="Inter" pitchFamily="34" charset="0"/>
                <a:ea typeface="Inter" pitchFamily="34" charset="-122"/>
                <a:cs typeface="Inter" pitchFamily="34" charset="-120"/>
              </a:rPr>
              <a:t>Al combinar las velocidades de las cuatro ruedas se generan movimientos longitudinales, laterales y rotacionales; la traslación lateral no exige orientar antes el chasis.</a:t>
            </a:r>
            <a:endParaRPr lang="en-US" sz="1300" dirty="0"/>
          </a:p>
        </p:txBody>
      </p:sp>
      <p:sp>
        <p:nvSpPr>
          <p:cNvPr id="16" name="Shape 12"/>
          <p:cNvSpPr/>
          <p:nvPr/>
        </p:nvSpPr>
        <p:spPr>
          <a:xfrm>
            <a:off x="4470400" y="3906520"/>
            <a:ext cx="7112000" cy="1574800"/>
          </a:xfrm>
          <a:prstGeom prst="roundRect">
            <a:avLst>
              <a:gd name="adj" fmla="val 6452"/>
            </a:avLst>
          </a:prstGeom>
          <a:solidFill>
            <a:srgbClr val="0B2239"/>
          </a:solidFill>
          <a:ln/>
        </p:spPr>
      </p:sp>
      <p:sp>
        <p:nvSpPr>
          <p:cNvPr id="17" name="Text 13"/>
          <p:cNvSpPr/>
          <p:nvPr/>
        </p:nvSpPr>
        <p:spPr>
          <a:xfrm>
            <a:off x="4673600" y="4445000"/>
            <a:ext cx="1638300"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FC8B8"/>
                </a:solidFill>
                <a:latin typeface="Montserrat" pitchFamily="34" charset="0"/>
                <a:ea typeface="Montserrat" pitchFamily="34" charset="-122"/>
                <a:cs typeface="Montserrat" pitchFamily="34" charset="-120"/>
              </a:rPr>
              <a:t>ωz = 0</a:t>
            </a:r>
            <a:endParaRPr lang="en-US" sz="2800" dirty="0"/>
          </a:p>
        </p:txBody>
      </p:sp>
      <p:sp>
        <p:nvSpPr>
          <p:cNvPr id="18" name="Text 14"/>
          <p:cNvSpPr/>
          <p:nvPr/>
        </p:nvSpPr>
        <p:spPr>
          <a:xfrm>
            <a:off x="6464300" y="4084320"/>
            <a:ext cx="50623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7F8"/>
                </a:solidFill>
                <a:latin typeface="Montserrat" pitchFamily="34" charset="0"/>
                <a:ea typeface="Montserrat" pitchFamily="34" charset="-122"/>
                <a:cs typeface="Montserrat" pitchFamily="34" charset="-120"/>
              </a:rPr>
              <a:t>Cinemática simplificada</a:t>
            </a:r>
            <a:endParaRPr lang="en-US" sz="1600" dirty="0"/>
          </a:p>
        </p:txBody>
      </p:sp>
      <p:sp>
        <p:nvSpPr>
          <p:cNvPr id="19" name="Text 15"/>
          <p:cNvSpPr/>
          <p:nvPr/>
        </p:nvSpPr>
        <p:spPr>
          <a:xfrm>
            <a:off x="6464300" y="4378961"/>
            <a:ext cx="5062347"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3"/>
                </a:solidFill>
                <a:latin typeface="Inter" pitchFamily="34" charset="0"/>
                <a:ea typeface="Inter" pitchFamily="34" charset="-122"/>
                <a:cs typeface="Inter" pitchFamily="34" charset="-120"/>
              </a:rPr>
              <a:t>Sin rotación del chasis se reduce el cálculo de las velocidades por rueda, lo que facilita implementarlo en un microcontrolador de recursos limitados. El PWM independiente de cada motor es la base de la navegación [1], [2].</a:t>
            </a:r>
            <a:endParaRPr lang="en-US" sz="1300" dirty="0"/>
          </a:p>
        </p:txBody>
      </p:sp>
      <p:sp>
        <p:nvSpPr>
          <p:cNvPr id="20" name="Text 16"/>
          <p:cNvSpPr/>
          <p:nvPr/>
        </p:nvSpPr>
        <p:spPr>
          <a:xfrm>
            <a:off x="609600" y="6365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Refs. [1] Rabbani et al. (2024) · [2] Sensors (2025) · [6] MINSA (2014)</a:t>
            </a:r>
            <a:endParaRPr lang="en-US" sz="1200" dirty="0"/>
          </a:p>
        </p:txBody>
      </p:sp>
      <p:sp>
        <p:nvSpPr>
          <p:cNvPr id="21" name="Text 17"/>
          <p:cNvSpPr/>
          <p:nvPr/>
        </p:nvSpPr>
        <p:spPr>
          <a:xfrm>
            <a:off x="10261600" y="6365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04 / 32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 · SITUACIÓN PROBLEMÁTICA · JUSTIFICACIÓN</a:t>
            </a:r>
            <a:endParaRPr lang="en-US" sz="1200" dirty="0"/>
          </a:p>
        </p:txBody>
      </p:sp>
      <p:sp>
        <p:nvSpPr>
          <p:cNvPr id="5" name="Text 2"/>
          <p:cNvSpPr/>
          <p:nvPr>
            <p:ph type="title"/>
          </p:nvPr>
        </p:nvSpPr>
        <p:spPr>
          <a:xfrm>
            <a:off x="609600" y="708661"/>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Tecnología, impacto social y costo</a:t>
            </a:r>
            <a:endParaRPr lang="en-US" sz="2800" dirty="0"/>
          </a:p>
        </p:txBody>
      </p:sp>
      <p:sp>
        <p:nvSpPr>
          <p:cNvPr id="6" name="Shape 3"/>
          <p:cNvSpPr/>
          <p:nvPr/>
        </p:nvSpPr>
        <p:spPr>
          <a:xfrm>
            <a:off x="612775" y="1280796"/>
            <a:ext cx="3519170" cy="3587750"/>
          </a:xfrm>
          <a:prstGeom prst="roundRect">
            <a:avLst>
              <a:gd name="adj" fmla="val 2797"/>
            </a:avLst>
          </a:prstGeom>
          <a:solidFill>
            <a:srgbClr val="FDFBF7"/>
          </a:solidFill>
          <a:ln w="6350">
            <a:solidFill>
              <a:srgbClr val="D9D3C6"/>
            </a:solidFill>
            <a:prstDash val="solid"/>
          </a:ln>
        </p:spPr>
      </p:sp>
      <p:pic>
        <p:nvPicPr>
          <p:cNvPr id="7" name="Image 1" descr="Code">    </p:cNvPr>
          <p:cNvPicPr>
            <a:picLocks noChangeAspect="1"/>
          </p:cNvPicPr>
          <p:nvPr/>
        </p:nvPicPr>
        <p:blipFill>
          <a:blip r:embed="rId2"/>
          <a:srcRect l="0" r="0" t="0" b="0"/>
          <a:stretch/>
        </p:blipFill>
        <p:spPr>
          <a:xfrm>
            <a:off x="817880" y="1460500"/>
            <a:ext cx="355600" cy="355600"/>
          </a:xfrm>
          <a:prstGeom prst="rect">
            <a:avLst/>
          </a:prstGeom>
        </p:spPr>
      </p:pic>
      <p:sp>
        <p:nvSpPr>
          <p:cNvPr id="8" name="Text 4"/>
          <p:cNvSpPr/>
          <p:nvPr/>
        </p:nvSpPr>
        <p:spPr>
          <a:xfrm>
            <a:off x="817880" y="1917700"/>
            <a:ext cx="320222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Montserrat" pitchFamily="34" charset="0"/>
                <a:ea typeface="Montserrat" pitchFamily="34" charset="-122"/>
                <a:cs typeface="Montserrat" pitchFamily="34" charset="-120"/>
              </a:rPr>
              <a:t>Tecnológica</a:t>
            </a:r>
            <a:endParaRPr lang="en-US" sz="1600" dirty="0"/>
          </a:p>
        </p:txBody>
      </p:sp>
      <p:sp>
        <p:nvSpPr>
          <p:cNvPr id="9" name="Shape 5"/>
          <p:cNvSpPr/>
          <p:nvPr/>
        </p:nvSpPr>
        <p:spPr>
          <a:xfrm>
            <a:off x="830580" y="2263139"/>
            <a:ext cx="0" cy="666750"/>
          </a:xfrm>
          <a:prstGeom prst="line">
            <a:avLst/>
          </a:prstGeom>
          <a:noFill/>
          <a:ln w="25400">
            <a:solidFill>
              <a:srgbClr val="3FC8B8"/>
            </a:solidFill>
            <a:prstDash val="solid"/>
          </a:ln>
        </p:spPr>
      </p:sp>
      <p:sp>
        <p:nvSpPr>
          <p:cNvPr id="10" name="Text 6"/>
          <p:cNvSpPr/>
          <p:nvPr/>
        </p:nvSpPr>
        <p:spPr>
          <a:xfrm>
            <a:off x="944880" y="2263139"/>
            <a:ext cx="3071419"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A5C"/>
                </a:solidFill>
                <a:latin typeface="Inter" pitchFamily="34" charset="0"/>
                <a:ea typeface="Inter" pitchFamily="34" charset="-122"/>
                <a:cs typeface="Inter" pitchFamily="34" charset="-120"/>
              </a:rPr>
              <a:t>PIC18F47Q10 para el control en tiempo real y ESP32 para la interfaz web, unidos por UART.</a:t>
            </a:r>
            <a:endParaRPr lang="en-US" sz="1250" dirty="0"/>
          </a:p>
        </p:txBody>
      </p:sp>
      <p:sp>
        <p:nvSpPr>
          <p:cNvPr id="11" name="Shape 7"/>
          <p:cNvSpPr/>
          <p:nvPr/>
        </p:nvSpPr>
        <p:spPr>
          <a:xfrm>
            <a:off x="830580" y="3031489"/>
            <a:ext cx="0" cy="666750"/>
          </a:xfrm>
          <a:prstGeom prst="line">
            <a:avLst/>
          </a:prstGeom>
          <a:noFill/>
          <a:ln w="25400">
            <a:solidFill>
              <a:srgbClr val="3FC8B8"/>
            </a:solidFill>
            <a:prstDash val="solid"/>
          </a:ln>
        </p:spPr>
      </p:sp>
      <p:sp>
        <p:nvSpPr>
          <p:cNvPr id="12" name="Text 8"/>
          <p:cNvSpPr/>
          <p:nvPr/>
        </p:nvSpPr>
        <p:spPr>
          <a:xfrm>
            <a:off x="944880" y="3031489"/>
            <a:ext cx="3071419"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A5C"/>
                </a:solidFill>
                <a:latin typeface="Inter" pitchFamily="34" charset="0"/>
                <a:ea typeface="Inter" pitchFamily="34" charset="-122"/>
                <a:cs typeface="Inter" pitchFamily="34" charset="-120"/>
              </a:rPr>
              <a:t>Fusión de ToF VL53L0X, HC-SR04 y PIR HC-SR505 para detectar personas, frenar o evadir obstáculos [3], [5].</a:t>
            </a:r>
            <a:endParaRPr lang="en-US" sz="1250" dirty="0"/>
          </a:p>
        </p:txBody>
      </p:sp>
      <p:sp>
        <p:nvSpPr>
          <p:cNvPr id="13" name="Shape 9"/>
          <p:cNvSpPr/>
          <p:nvPr/>
        </p:nvSpPr>
        <p:spPr>
          <a:xfrm>
            <a:off x="830580" y="3799839"/>
            <a:ext cx="0" cy="889000"/>
          </a:xfrm>
          <a:prstGeom prst="line">
            <a:avLst/>
          </a:prstGeom>
          <a:noFill/>
          <a:ln w="25400">
            <a:solidFill>
              <a:srgbClr val="3FC8B8"/>
            </a:solidFill>
            <a:prstDash val="solid"/>
          </a:ln>
        </p:spPr>
      </p:sp>
      <p:sp>
        <p:nvSpPr>
          <p:cNvPr id="14" name="Text 10"/>
          <p:cNvSpPr/>
          <p:nvPr/>
        </p:nvSpPr>
        <p:spPr>
          <a:xfrm>
            <a:off x="944880" y="3799839"/>
            <a:ext cx="3071419" cy="9144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A5C"/>
                </a:solidFill>
                <a:latin typeface="Inter" pitchFamily="34" charset="0"/>
                <a:ea typeface="Inter" pitchFamily="34" charset="-122"/>
                <a:cs typeface="Inter" pitchFamily="34" charset="-120"/>
              </a:rPr>
              <a:t>Los sensores no identifican con certeza a una persona: se usa una estimación para elegir respuestas conservadoras.</a:t>
            </a:r>
            <a:endParaRPr lang="en-US" sz="1250" dirty="0"/>
          </a:p>
        </p:txBody>
      </p:sp>
      <p:sp>
        <p:nvSpPr>
          <p:cNvPr id="15" name="Shape 11"/>
          <p:cNvSpPr/>
          <p:nvPr/>
        </p:nvSpPr>
        <p:spPr>
          <a:xfrm>
            <a:off x="4341495" y="1280796"/>
            <a:ext cx="3519170" cy="3587750"/>
          </a:xfrm>
          <a:prstGeom prst="roundRect">
            <a:avLst>
              <a:gd name="adj" fmla="val 2797"/>
            </a:avLst>
          </a:prstGeom>
          <a:solidFill>
            <a:srgbClr val="FDFBF7"/>
          </a:solidFill>
          <a:ln w="6350">
            <a:solidFill>
              <a:srgbClr val="D9D3C6"/>
            </a:solidFill>
            <a:prstDash val="solid"/>
          </a:ln>
        </p:spPr>
      </p:sp>
      <p:pic>
        <p:nvPicPr>
          <p:cNvPr id="16" name="Image 2" descr="Users">    </p:cNvPr>
          <p:cNvPicPr>
            <a:picLocks noChangeAspect="1"/>
          </p:cNvPicPr>
          <p:nvPr/>
        </p:nvPicPr>
        <p:blipFill>
          <a:blip r:embed="rId3"/>
          <a:srcRect l="0" r="0" t="0" b="0"/>
          <a:stretch/>
        </p:blipFill>
        <p:spPr>
          <a:xfrm>
            <a:off x="4546600" y="1460500"/>
            <a:ext cx="355600" cy="355600"/>
          </a:xfrm>
          <a:prstGeom prst="rect">
            <a:avLst/>
          </a:prstGeom>
        </p:spPr>
      </p:pic>
      <p:sp>
        <p:nvSpPr>
          <p:cNvPr id="17" name="Text 12"/>
          <p:cNvSpPr/>
          <p:nvPr/>
        </p:nvSpPr>
        <p:spPr>
          <a:xfrm>
            <a:off x="4546600" y="1917700"/>
            <a:ext cx="320222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Montserrat" pitchFamily="34" charset="0"/>
                <a:ea typeface="Montserrat" pitchFamily="34" charset="-122"/>
                <a:cs typeface="Montserrat" pitchFamily="34" charset="-120"/>
              </a:rPr>
              <a:t>Social y sanitaria</a:t>
            </a:r>
            <a:endParaRPr lang="en-US" sz="1600" dirty="0"/>
          </a:p>
        </p:txBody>
      </p:sp>
      <p:sp>
        <p:nvSpPr>
          <p:cNvPr id="18" name="Shape 13"/>
          <p:cNvSpPr/>
          <p:nvPr/>
        </p:nvSpPr>
        <p:spPr>
          <a:xfrm>
            <a:off x="4559300" y="2263139"/>
            <a:ext cx="0" cy="666750"/>
          </a:xfrm>
          <a:prstGeom prst="line">
            <a:avLst/>
          </a:prstGeom>
          <a:noFill/>
          <a:ln w="25400">
            <a:solidFill>
              <a:srgbClr val="3FC8B8"/>
            </a:solidFill>
            <a:prstDash val="solid"/>
          </a:ln>
        </p:spPr>
      </p:sp>
      <p:sp>
        <p:nvSpPr>
          <p:cNvPr id="19" name="Text 14"/>
          <p:cNvSpPr/>
          <p:nvPr/>
        </p:nvSpPr>
        <p:spPr>
          <a:xfrm>
            <a:off x="4673600" y="2263139"/>
            <a:ext cx="3071419"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A5C"/>
                </a:solidFill>
                <a:latin typeface="Inter" pitchFamily="34" charset="0"/>
                <a:ea typeface="Inter" pitchFamily="34" charset="-122"/>
                <a:cs typeface="Inter" pitchFamily="34" charset="-120"/>
              </a:rPr>
              <a:t>Reducir el tiempo del personal dedicado a tareas auxiliares de transporte.</a:t>
            </a:r>
            <a:endParaRPr lang="en-US" sz="1250" dirty="0"/>
          </a:p>
        </p:txBody>
      </p:sp>
      <p:sp>
        <p:nvSpPr>
          <p:cNvPr id="20" name="Shape 15"/>
          <p:cNvSpPr/>
          <p:nvPr/>
        </p:nvSpPr>
        <p:spPr>
          <a:xfrm>
            <a:off x="4559300" y="3031489"/>
            <a:ext cx="0" cy="666750"/>
          </a:xfrm>
          <a:prstGeom prst="line">
            <a:avLst/>
          </a:prstGeom>
          <a:noFill/>
          <a:ln w="25400">
            <a:solidFill>
              <a:srgbClr val="3FC8B8"/>
            </a:solidFill>
            <a:prstDash val="solid"/>
          </a:ln>
        </p:spPr>
      </p:sp>
      <p:sp>
        <p:nvSpPr>
          <p:cNvPr id="21" name="Text 16"/>
          <p:cNvSpPr/>
          <p:nvPr/>
        </p:nvSpPr>
        <p:spPr>
          <a:xfrm>
            <a:off x="4673600" y="3031489"/>
            <a:ext cx="3071419"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A5C"/>
                </a:solidFill>
                <a:latin typeface="Inter" pitchFamily="34" charset="0"/>
                <a:ea typeface="Inter" pitchFamily="34" charset="-122"/>
                <a:cs typeface="Inter" pitchFamily="34" charset="-120"/>
              </a:rPr>
              <a:t>Compartimento supervisado con LM35, LDR y MC-38 para proteger la carga médica.</a:t>
            </a:r>
            <a:endParaRPr lang="en-US" sz="1250" dirty="0"/>
          </a:p>
        </p:txBody>
      </p:sp>
      <p:sp>
        <p:nvSpPr>
          <p:cNvPr id="22" name="Shape 17"/>
          <p:cNvSpPr/>
          <p:nvPr/>
        </p:nvSpPr>
        <p:spPr>
          <a:xfrm>
            <a:off x="4559300" y="3799839"/>
            <a:ext cx="0" cy="889000"/>
          </a:xfrm>
          <a:prstGeom prst="line">
            <a:avLst/>
          </a:prstGeom>
          <a:noFill/>
          <a:ln w="25400">
            <a:solidFill>
              <a:srgbClr val="3FC8B8"/>
            </a:solidFill>
            <a:prstDash val="solid"/>
          </a:ln>
        </p:spPr>
      </p:sp>
      <p:sp>
        <p:nvSpPr>
          <p:cNvPr id="23" name="Text 18"/>
          <p:cNvSpPr/>
          <p:nvPr/>
        </p:nvSpPr>
        <p:spPr>
          <a:xfrm>
            <a:off x="4673600" y="3799839"/>
            <a:ext cx="3071419" cy="9144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A5C"/>
                </a:solidFill>
                <a:latin typeface="Inter" pitchFamily="34" charset="0"/>
                <a:ea typeface="Inter" pitchFamily="34" charset="-122"/>
                <a:cs typeface="Inter" pitchFamily="34" charset="-120"/>
              </a:rPr>
              <a:t>Beneficios por validar con pruebas: tiempos de traslado, intervenciones manuales y respuesta ante obstáculos, sin sustituir la supervisión del personal.</a:t>
            </a:r>
            <a:endParaRPr lang="en-US" sz="1250" dirty="0"/>
          </a:p>
        </p:txBody>
      </p:sp>
      <p:sp>
        <p:nvSpPr>
          <p:cNvPr id="24" name="Shape 19"/>
          <p:cNvSpPr/>
          <p:nvPr/>
        </p:nvSpPr>
        <p:spPr>
          <a:xfrm>
            <a:off x="8067040" y="1277621"/>
            <a:ext cx="3515360" cy="3594100"/>
          </a:xfrm>
          <a:prstGeom prst="roundRect">
            <a:avLst>
              <a:gd name="adj" fmla="val 2890"/>
            </a:avLst>
          </a:prstGeom>
          <a:solidFill>
            <a:srgbClr val="0B2239"/>
          </a:solidFill>
          <a:ln/>
        </p:spPr>
      </p:sp>
      <p:pic>
        <p:nvPicPr>
          <p:cNvPr id="25" name="Image 3" descr="Chart">    </p:cNvPr>
          <p:cNvPicPr>
            <a:picLocks noChangeAspect="1"/>
          </p:cNvPicPr>
          <p:nvPr/>
        </p:nvPicPr>
        <p:blipFill>
          <a:blip r:embed="rId4"/>
          <a:srcRect l="0" r="0" t="0" b="0"/>
          <a:stretch/>
        </p:blipFill>
        <p:spPr>
          <a:xfrm>
            <a:off x="8270240" y="1455421"/>
            <a:ext cx="355600" cy="355600"/>
          </a:xfrm>
          <a:prstGeom prst="rect">
            <a:avLst/>
          </a:prstGeom>
        </p:spPr>
      </p:pic>
      <p:sp>
        <p:nvSpPr>
          <p:cNvPr id="26" name="Text 20"/>
          <p:cNvSpPr/>
          <p:nvPr/>
        </p:nvSpPr>
        <p:spPr>
          <a:xfrm>
            <a:off x="8270240" y="1912621"/>
            <a:ext cx="320222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7F8"/>
                </a:solidFill>
                <a:latin typeface="Montserrat" pitchFamily="34" charset="0"/>
                <a:ea typeface="Montserrat" pitchFamily="34" charset="-122"/>
                <a:cs typeface="Montserrat" pitchFamily="34" charset="-120"/>
              </a:rPr>
              <a:t>Económica</a:t>
            </a:r>
            <a:endParaRPr lang="en-US" sz="1600" dirty="0"/>
          </a:p>
        </p:txBody>
      </p:sp>
      <p:sp>
        <p:nvSpPr>
          <p:cNvPr id="27" name="Text 21"/>
          <p:cNvSpPr/>
          <p:nvPr/>
        </p:nvSpPr>
        <p:spPr>
          <a:xfrm>
            <a:off x="8270240" y="2258061"/>
            <a:ext cx="3202229" cy="48768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3FC8B8"/>
                </a:solidFill>
                <a:latin typeface="Montserrat" pitchFamily="34" charset="0"/>
                <a:ea typeface="Montserrat" pitchFamily="34" charset="-122"/>
                <a:cs typeface="Montserrat" pitchFamily="34" charset="-120"/>
              </a:rPr>
              <a:t>S/ 668.40</a:t>
            </a:r>
            <a:endParaRPr lang="en-US" sz="2600" dirty="0"/>
          </a:p>
        </p:txBody>
      </p:sp>
      <p:sp>
        <p:nvSpPr>
          <p:cNvPr id="28" name="Shape 22"/>
          <p:cNvSpPr/>
          <p:nvPr/>
        </p:nvSpPr>
        <p:spPr>
          <a:xfrm>
            <a:off x="8282940" y="2821939"/>
            <a:ext cx="0" cy="666750"/>
          </a:xfrm>
          <a:prstGeom prst="line">
            <a:avLst/>
          </a:prstGeom>
          <a:noFill/>
          <a:ln w="25400">
            <a:solidFill>
              <a:srgbClr val="3FC8B8"/>
            </a:solidFill>
            <a:prstDash val="solid"/>
          </a:ln>
        </p:spPr>
      </p:sp>
      <p:sp>
        <p:nvSpPr>
          <p:cNvPr id="29" name="Text 23"/>
          <p:cNvSpPr/>
          <p:nvPr/>
        </p:nvSpPr>
        <p:spPr>
          <a:xfrm>
            <a:off x="8397240" y="2821939"/>
            <a:ext cx="3071419"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9DCE3"/>
                </a:solidFill>
                <a:latin typeface="Inter" pitchFamily="34" charset="0"/>
                <a:ea typeface="Inter" pitchFamily="34" charset="-122"/>
                <a:cs typeface="Inter" pitchFamily="34" charset="-120"/>
              </a:rPr>
              <a:t>Costo estimado con componentes electrónicos comerciales y sensores de bajo costo.</a:t>
            </a:r>
            <a:endParaRPr lang="en-US" sz="1250" dirty="0"/>
          </a:p>
        </p:txBody>
      </p:sp>
      <p:sp>
        <p:nvSpPr>
          <p:cNvPr id="30" name="Shape 24"/>
          <p:cNvSpPr/>
          <p:nvPr/>
        </p:nvSpPr>
        <p:spPr>
          <a:xfrm>
            <a:off x="8282940" y="3590289"/>
            <a:ext cx="0" cy="444500"/>
          </a:xfrm>
          <a:prstGeom prst="line">
            <a:avLst/>
          </a:prstGeom>
          <a:noFill/>
          <a:ln w="25400">
            <a:solidFill>
              <a:srgbClr val="3FC8B8"/>
            </a:solidFill>
            <a:prstDash val="solid"/>
          </a:ln>
        </p:spPr>
      </p:sp>
      <p:sp>
        <p:nvSpPr>
          <p:cNvPr id="31" name="Text 25"/>
          <p:cNvSpPr/>
          <p:nvPr/>
        </p:nvSpPr>
        <p:spPr>
          <a:xfrm>
            <a:off x="8397240" y="3590289"/>
            <a:ext cx="3071419"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9DCE3"/>
                </a:solidFill>
                <a:latin typeface="Inter" pitchFamily="34" charset="0"/>
                <a:ea typeface="Inter" pitchFamily="34" charset="-122"/>
                <a:cs typeface="Inter" pitchFamily="34" charset="-120"/>
              </a:rPr>
              <a:t>Elementos estándar: fáciles de adquirir, reemplazar y mantener.</a:t>
            </a:r>
            <a:endParaRPr lang="en-US" sz="1250" dirty="0"/>
          </a:p>
        </p:txBody>
      </p:sp>
      <p:sp>
        <p:nvSpPr>
          <p:cNvPr id="32" name="Shape 26"/>
          <p:cNvSpPr/>
          <p:nvPr/>
        </p:nvSpPr>
        <p:spPr>
          <a:xfrm>
            <a:off x="8282940" y="4136389"/>
            <a:ext cx="0" cy="444500"/>
          </a:xfrm>
          <a:prstGeom prst="line">
            <a:avLst/>
          </a:prstGeom>
          <a:noFill/>
          <a:ln w="25400">
            <a:solidFill>
              <a:srgbClr val="3FC8B8"/>
            </a:solidFill>
            <a:prstDash val="solid"/>
          </a:ln>
        </p:spPr>
      </p:sp>
      <p:sp>
        <p:nvSpPr>
          <p:cNvPr id="33" name="Text 27"/>
          <p:cNvSpPr/>
          <p:nvPr/>
        </p:nvSpPr>
        <p:spPr>
          <a:xfrm>
            <a:off x="8397240" y="4136389"/>
            <a:ext cx="3071419"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C9DCE3"/>
                </a:solidFill>
                <a:latin typeface="Inter" pitchFamily="34" charset="0"/>
                <a:ea typeface="Inter" pitchFamily="34" charset="-122"/>
                <a:cs typeface="Inter" pitchFamily="34" charset="-120"/>
              </a:rPr>
              <a:t>Su utilidad dependerá de demostrar menos tiempo de traslado.</a:t>
            </a:r>
            <a:endParaRPr lang="en-US" sz="1250" dirty="0"/>
          </a:p>
        </p:txBody>
      </p:sp>
      <p:sp>
        <p:nvSpPr>
          <p:cNvPr id="34" name="Text 28"/>
          <p:cNvSpPr/>
          <p:nvPr/>
        </p:nvSpPr>
        <p:spPr>
          <a:xfrm>
            <a:off x="609600" y="6365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Refs. [3] Scientific Reports (2026) · [5] Technologies (2022)</a:t>
            </a:r>
            <a:endParaRPr lang="en-US" sz="1200" dirty="0"/>
          </a:p>
        </p:txBody>
      </p:sp>
      <p:sp>
        <p:nvSpPr>
          <p:cNvPr id="35" name="Text 29"/>
          <p:cNvSpPr/>
          <p:nvPr/>
        </p:nvSpPr>
        <p:spPr>
          <a:xfrm>
            <a:off x="10261600" y="6365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05 / 32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 · SITUACIÓN PROBLEMÁTICA · VIABILIDAD</a:t>
            </a:r>
            <a:endParaRPr lang="en-US" sz="1200" dirty="0"/>
          </a:p>
        </p:txBody>
      </p:sp>
      <p:sp>
        <p:nvSpPr>
          <p:cNvPr id="5" name="Text 2"/>
          <p:cNvSpPr/>
          <p:nvPr>
            <p:ph type="title"/>
          </p:nvPr>
        </p:nvSpPr>
        <p:spPr>
          <a:xfrm>
            <a:off x="609600" y="708661"/>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Viabilidad técnica y logística</a:t>
            </a:r>
            <a:endParaRPr lang="en-US" sz="2800" dirty="0"/>
          </a:p>
        </p:txBody>
      </p:sp>
      <p:sp>
        <p:nvSpPr>
          <p:cNvPr id="6" name="Shape 3"/>
          <p:cNvSpPr/>
          <p:nvPr/>
        </p:nvSpPr>
        <p:spPr>
          <a:xfrm>
            <a:off x="612775" y="1280796"/>
            <a:ext cx="3422650" cy="1046480"/>
          </a:xfrm>
          <a:prstGeom prst="roundRect">
            <a:avLst>
              <a:gd name="adj" fmla="val 9405"/>
            </a:avLst>
          </a:prstGeom>
          <a:solidFill>
            <a:srgbClr val="FDFBF7"/>
          </a:solidFill>
          <a:ln w="6350">
            <a:solidFill>
              <a:srgbClr val="D9D3C6"/>
            </a:solidFill>
            <a:prstDash val="solid"/>
          </a:ln>
        </p:spPr>
      </p:sp>
      <p:sp>
        <p:nvSpPr>
          <p:cNvPr id="7" name="Text 4"/>
          <p:cNvSpPr/>
          <p:nvPr/>
        </p:nvSpPr>
        <p:spPr>
          <a:xfrm>
            <a:off x="792480" y="1422400"/>
            <a:ext cx="31551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A"/>
                </a:solidFill>
                <a:latin typeface="Montserrat" pitchFamily="34" charset="0"/>
                <a:ea typeface="Montserrat" pitchFamily="34" charset="-122"/>
                <a:cs typeface="Montserrat" pitchFamily="34" charset="-120"/>
              </a:rPr>
              <a:t>PWM</a:t>
            </a:r>
            <a:endParaRPr lang="en-US" sz="1500" dirty="0"/>
          </a:p>
        </p:txBody>
      </p:sp>
      <p:sp>
        <p:nvSpPr>
          <p:cNvPr id="8" name="Text 5"/>
          <p:cNvSpPr/>
          <p:nvPr/>
        </p:nvSpPr>
        <p:spPr>
          <a:xfrm>
            <a:off x="792480" y="1739900"/>
            <a:ext cx="315513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A5C"/>
                </a:solidFill>
                <a:latin typeface="Inter" pitchFamily="34" charset="0"/>
                <a:ea typeface="Inter" pitchFamily="34" charset="-122"/>
                <a:cs typeface="Inter" pitchFamily="34" charset="-120"/>
              </a:rPr>
              <a:t>4 motores mediante 2 drivers TB6612FNG.</a:t>
            </a:r>
            <a:endParaRPr lang="en-US" sz="1300" dirty="0"/>
          </a:p>
        </p:txBody>
      </p:sp>
      <p:sp>
        <p:nvSpPr>
          <p:cNvPr id="9" name="Shape 6"/>
          <p:cNvSpPr/>
          <p:nvPr/>
        </p:nvSpPr>
        <p:spPr>
          <a:xfrm>
            <a:off x="612775" y="2460625"/>
            <a:ext cx="3422650" cy="1046480"/>
          </a:xfrm>
          <a:prstGeom prst="roundRect">
            <a:avLst>
              <a:gd name="adj" fmla="val 9405"/>
            </a:avLst>
          </a:prstGeom>
          <a:solidFill>
            <a:srgbClr val="FDFBF7"/>
          </a:solidFill>
          <a:ln w="6350">
            <a:solidFill>
              <a:srgbClr val="D9D3C6"/>
            </a:solidFill>
            <a:prstDash val="solid"/>
          </a:ln>
        </p:spPr>
      </p:sp>
      <p:sp>
        <p:nvSpPr>
          <p:cNvPr id="10" name="Text 7"/>
          <p:cNvSpPr/>
          <p:nvPr/>
        </p:nvSpPr>
        <p:spPr>
          <a:xfrm>
            <a:off x="792480" y="2602232"/>
            <a:ext cx="31551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A"/>
                </a:solidFill>
                <a:latin typeface="Montserrat" pitchFamily="34" charset="0"/>
                <a:ea typeface="Montserrat" pitchFamily="34" charset="-122"/>
                <a:cs typeface="Montserrat" pitchFamily="34" charset="-120"/>
              </a:rPr>
              <a:t>ADC</a:t>
            </a:r>
            <a:endParaRPr lang="en-US" sz="1500" dirty="0"/>
          </a:p>
        </p:txBody>
      </p:sp>
      <p:sp>
        <p:nvSpPr>
          <p:cNvPr id="11" name="Text 8"/>
          <p:cNvSpPr/>
          <p:nvPr/>
        </p:nvSpPr>
        <p:spPr>
          <a:xfrm>
            <a:off x="792480" y="2919732"/>
            <a:ext cx="315513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A5C"/>
                </a:solidFill>
                <a:latin typeface="Inter" pitchFamily="34" charset="0"/>
                <a:ea typeface="Inter" pitchFamily="34" charset="-122"/>
                <a:cs typeface="Inter" pitchFamily="34" charset="-120"/>
              </a:rPr>
              <a:t>LM35, LDR, SS49E y divisor de tensión de la batería.</a:t>
            </a:r>
            <a:endParaRPr lang="en-US" sz="1300" dirty="0"/>
          </a:p>
        </p:txBody>
      </p:sp>
      <p:sp>
        <p:nvSpPr>
          <p:cNvPr id="12" name="Shape 9"/>
          <p:cNvSpPr/>
          <p:nvPr/>
        </p:nvSpPr>
        <p:spPr>
          <a:xfrm>
            <a:off x="612775" y="3640457"/>
            <a:ext cx="3422650" cy="1046480"/>
          </a:xfrm>
          <a:prstGeom prst="roundRect">
            <a:avLst>
              <a:gd name="adj" fmla="val 9405"/>
            </a:avLst>
          </a:prstGeom>
          <a:solidFill>
            <a:srgbClr val="FDFBF7"/>
          </a:solidFill>
          <a:ln w="6350">
            <a:solidFill>
              <a:srgbClr val="D9D3C6"/>
            </a:solidFill>
            <a:prstDash val="solid"/>
          </a:ln>
        </p:spPr>
      </p:sp>
      <p:sp>
        <p:nvSpPr>
          <p:cNvPr id="13" name="Text 10"/>
          <p:cNvSpPr/>
          <p:nvPr/>
        </p:nvSpPr>
        <p:spPr>
          <a:xfrm>
            <a:off x="792480" y="3782061"/>
            <a:ext cx="31551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A"/>
                </a:solidFill>
                <a:latin typeface="Montserrat" pitchFamily="34" charset="0"/>
                <a:ea typeface="Montserrat" pitchFamily="34" charset="-122"/>
                <a:cs typeface="Montserrat" pitchFamily="34" charset="-120"/>
              </a:rPr>
              <a:t>I²C</a:t>
            </a:r>
            <a:endParaRPr lang="en-US" sz="1500" dirty="0"/>
          </a:p>
        </p:txBody>
      </p:sp>
      <p:sp>
        <p:nvSpPr>
          <p:cNvPr id="14" name="Text 11"/>
          <p:cNvSpPr/>
          <p:nvPr/>
        </p:nvSpPr>
        <p:spPr>
          <a:xfrm>
            <a:off x="792480" y="4099561"/>
            <a:ext cx="315513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A5C"/>
                </a:solidFill>
                <a:latin typeface="Inter" pitchFamily="34" charset="0"/>
                <a:ea typeface="Inter" pitchFamily="34" charset="-122"/>
                <a:cs typeface="Inter" pitchFamily="34" charset="-120"/>
              </a:rPr>
              <a:t>Sensor ToF VL53L0X y pantalla OLED SSD1306.</a:t>
            </a:r>
            <a:endParaRPr lang="en-US" sz="1300" dirty="0"/>
          </a:p>
        </p:txBody>
      </p:sp>
      <p:sp>
        <p:nvSpPr>
          <p:cNvPr id="15" name="Shape 12"/>
          <p:cNvSpPr/>
          <p:nvPr/>
        </p:nvSpPr>
        <p:spPr>
          <a:xfrm>
            <a:off x="4165600" y="2964814"/>
            <a:ext cx="355600" cy="38100"/>
          </a:xfrm>
          <a:prstGeom prst="roundRect">
            <a:avLst>
              <a:gd name="adj" fmla="val 50000"/>
            </a:avLst>
          </a:prstGeom>
          <a:solidFill>
            <a:srgbClr val="0B7A7A"/>
          </a:solidFill>
          <a:ln/>
        </p:spPr>
      </p:sp>
      <p:sp>
        <p:nvSpPr>
          <p:cNvPr id="16" name="Shape 13"/>
          <p:cNvSpPr/>
          <p:nvPr/>
        </p:nvSpPr>
        <p:spPr>
          <a:xfrm>
            <a:off x="4648200" y="1277621"/>
            <a:ext cx="2667000" cy="3412490"/>
          </a:xfrm>
          <a:prstGeom prst="roundRect">
            <a:avLst>
              <a:gd name="adj" fmla="val 3810"/>
            </a:avLst>
          </a:prstGeom>
          <a:solidFill>
            <a:srgbClr val="0B2239"/>
          </a:solidFill>
          <a:ln/>
        </p:spPr>
      </p:sp>
      <p:pic>
        <p:nvPicPr>
          <p:cNvPr id="17" name="Image 1" descr="Settings">    </p:cNvPr>
          <p:cNvPicPr>
            <a:picLocks noChangeAspect="1"/>
          </p:cNvPicPr>
          <p:nvPr/>
        </p:nvPicPr>
        <p:blipFill>
          <a:blip r:embed="rId2"/>
          <a:srcRect l="0" r="0" t="0" b="0"/>
          <a:stretch/>
        </p:blipFill>
        <p:spPr>
          <a:xfrm>
            <a:off x="5753100" y="2009775"/>
            <a:ext cx="457200" cy="457200"/>
          </a:xfrm>
          <a:prstGeom prst="rect">
            <a:avLst/>
          </a:prstGeom>
        </p:spPr>
      </p:pic>
      <p:sp>
        <p:nvSpPr>
          <p:cNvPr id="18" name="Text 14"/>
          <p:cNvSpPr/>
          <p:nvPr/>
        </p:nvSpPr>
        <p:spPr>
          <a:xfrm>
            <a:off x="5013484" y="2568575"/>
            <a:ext cx="1936433" cy="363220"/>
          </a:xfrm>
          <a:prstGeom prst="rect">
            <a:avLst/>
          </a:prstGeom>
          <a:noFill/>
          <a:ln/>
        </p:spPr>
        <p:txBody>
          <a:bodyPr wrap="square" lIns="0" tIns="0" rIns="0" bIns="0" rtlCol="0" anchor="t">
            <a:normAutofit/>
          </a:bodyPr>
          <a:lstStyle/>
          <a:p>
            <a:pPr algn="ctr" indent="0" marL="0">
              <a:lnSpc>
                <a:spcPts val="2660"/>
              </a:lnSpc>
              <a:buNone/>
            </a:pPr>
            <a:r>
              <a:rPr lang="en-US" sz="1900" b="1" dirty="0">
                <a:solidFill>
                  <a:srgbClr val="F3F7F8"/>
                </a:solidFill>
                <a:latin typeface="Montserrat" pitchFamily="34" charset="0"/>
                <a:ea typeface="Montserrat" pitchFamily="34" charset="-122"/>
                <a:cs typeface="Montserrat" pitchFamily="34" charset="-120"/>
              </a:rPr>
              <a:t>PIC18F47Q10</a:t>
            </a:r>
            <a:endParaRPr lang="en-US" sz="1900" dirty="0"/>
          </a:p>
        </p:txBody>
      </p:sp>
      <p:sp>
        <p:nvSpPr>
          <p:cNvPr id="19" name="Text 15"/>
          <p:cNvSpPr/>
          <p:nvPr/>
        </p:nvSpPr>
        <p:spPr>
          <a:xfrm>
            <a:off x="5219605" y="3007996"/>
            <a:ext cx="1524191"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FC8B8"/>
                </a:solidFill>
                <a:latin typeface="Inter" pitchFamily="34" charset="0"/>
                <a:ea typeface="Inter" pitchFamily="34" charset="-122"/>
                <a:cs typeface="Inter" pitchFamily="34" charset="-120"/>
              </a:rPr>
              <a:t>5 V · tiempo real</a:t>
            </a:r>
            <a:endParaRPr lang="en-US" sz="1300" dirty="0"/>
          </a:p>
        </p:txBody>
      </p:sp>
      <p:sp>
        <p:nvSpPr>
          <p:cNvPr id="20" name="Text 16"/>
          <p:cNvSpPr/>
          <p:nvPr/>
        </p:nvSpPr>
        <p:spPr>
          <a:xfrm>
            <a:off x="4791329" y="3340736"/>
            <a:ext cx="2380742" cy="642620"/>
          </a:xfrm>
          <a:prstGeom prst="rect">
            <a:avLst/>
          </a:prstGeom>
          <a:noFill/>
          <a:ln/>
        </p:spPr>
        <p:txBody>
          <a:bodyPr wrap="square" lIns="0" tIns="0" rIns="0" bIns="0" rtlCol="0" anchor="t">
            <a:normAutofit/>
          </a:bodyPr>
          <a:lstStyle/>
          <a:p>
            <a:pPr algn="ctr" indent="0" marL="0">
              <a:lnSpc>
                <a:spcPts val="1620"/>
              </a:lnSpc>
              <a:buNone/>
            </a:pPr>
            <a:r>
              <a:rPr lang="en-US" sz="1200" dirty="0">
                <a:solidFill>
                  <a:srgbClr val="C9DCE3"/>
                </a:solidFill>
                <a:latin typeface="Inter" pitchFamily="34" charset="0"/>
                <a:ea typeface="Inter" pitchFamily="34" charset="-122"/>
                <a:cs typeface="Inter" pitchFamily="34" charset="-120"/>
              </a:rPr>
              <a:t>Se valida por etapas: primero motores, luego traslación y finalmente fusión de sensores.</a:t>
            </a:r>
            <a:endParaRPr lang="en-US" sz="1200" dirty="0"/>
          </a:p>
        </p:txBody>
      </p:sp>
      <p:sp>
        <p:nvSpPr>
          <p:cNvPr id="21" name="Shape 17"/>
          <p:cNvSpPr/>
          <p:nvPr/>
        </p:nvSpPr>
        <p:spPr>
          <a:xfrm>
            <a:off x="7442200" y="2964814"/>
            <a:ext cx="355600" cy="38100"/>
          </a:xfrm>
          <a:prstGeom prst="roundRect">
            <a:avLst>
              <a:gd name="adj" fmla="val 50000"/>
            </a:avLst>
          </a:prstGeom>
          <a:solidFill>
            <a:srgbClr val="0B7A7A"/>
          </a:solidFill>
          <a:ln/>
        </p:spPr>
      </p:sp>
      <p:sp>
        <p:nvSpPr>
          <p:cNvPr id="22" name="Shape 18"/>
          <p:cNvSpPr/>
          <p:nvPr/>
        </p:nvSpPr>
        <p:spPr>
          <a:xfrm>
            <a:off x="7927975" y="1280796"/>
            <a:ext cx="3422650" cy="1046480"/>
          </a:xfrm>
          <a:prstGeom prst="roundRect">
            <a:avLst>
              <a:gd name="adj" fmla="val 9405"/>
            </a:avLst>
          </a:prstGeom>
          <a:solidFill>
            <a:srgbClr val="FDFBF7"/>
          </a:solidFill>
          <a:ln w="6350">
            <a:solidFill>
              <a:srgbClr val="D9D3C6"/>
            </a:solidFill>
            <a:prstDash val="solid"/>
          </a:ln>
        </p:spPr>
      </p:sp>
      <p:sp>
        <p:nvSpPr>
          <p:cNvPr id="23" name="Text 19"/>
          <p:cNvSpPr/>
          <p:nvPr/>
        </p:nvSpPr>
        <p:spPr>
          <a:xfrm>
            <a:off x="8107680" y="1422400"/>
            <a:ext cx="31551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A"/>
                </a:solidFill>
                <a:latin typeface="Montserrat" pitchFamily="34" charset="0"/>
                <a:ea typeface="Montserrat" pitchFamily="34" charset="-122"/>
                <a:cs typeface="Montserrat" pitchFamily="34" charset="-120"/>
              </a:rPr>
              <a:t>EUSART</a:t>
            </a:r>
            <a:endParaRPr lang="en-US" sz="1500" dirty="0"/>
          </a:p>
        </p:txBody>
      </p:sp>
      <p:sp>
        <p:nvSpPr>
          <p:cNvPr id="24" name="Text 20"/>
          <p:cNvSpPr/>
          <p:nvPr/>
        </p:nvSpPr>
        <p:spPr>
          <a:xfrm>
            <a:off x="8107680" y="1739900"/>
            <a:ext cx="315513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A5C"/>
                </a:solidFill>
                <a:latin typeface="Inter" pitchFamily="34" charset="0"/>
                <a:ea typeface="Inter" pitchFamily="34" charset="-122"/>
                <a:cs typeface="Inter" pitchFamily="34" charset="-120"/>
              </a:rPr>
              <a:t>Enlace UART con el ESP32; el TXS0108 adapta 5 V a 3.3 V.</a:t>
            </a:r>
            <a:endParaRPr lang="en-US" sz="1300" dirty="0"/>
          </a:p>
        </p:txBody>
      </p:sp>
      <p:sp>
        <p:nvSpPr>
          <p:cNvPr id="25" name="Shape 21"/>
          <p:cNvSpPr/>
          <p:nvPr/>
        </p:nvSpPr>
        <p:spPr>
          <a:xfrm>
            <a:off x="7927975" y="2460625"/>
            <a:ext cx="3422650" cy="1046480"/>
          </a:xfrm>
          <a:prstGeom prst="roundRect">
            <a:avLst>
              <a:gd name="adj" fmla="val 9405"/>
            </a:avLst>
          </a:prstGeom>
          <a:solidFill>
            <a:srgbClr val="FDFBF7"/>
          </a:solidFill>
          <a:ln w="6350">
            <a:solidFill>
              <a:srgbClr val="D9D3C6"/>
            </a:solidFill>
            <a:prstDash val="solid"/>
          </a:ln>
        </p:spPr>
      </p:sp>
      <p:sp>
        <p:nvSpPr>
          <p:cNvPr id="26" name="Text 22"/>
          <p:cNvSpPr/>
          <p:nvPr/>
        </p:nvSpPr>
        <p:spPr>
          <a:xfrm>
            <a:off x="8107680" y="2602232"/>
            <a:ext cx="31551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A"/>
                </a:solidFill>
                <a:latin typeface="Montserrat" pitchFamily="34" charset="0"/>
                <a:ea typeface="Montserrat" pitchFamily="34" charset="-122"/>
                <a:cs typeface="Montserrat" pitchFamily="34" charset="-120"/>
              </a:rPr>
              <a:t>GPIO</a:t>
            </a:r>
            <a:endParaRPr lang="en-US" sz="1500" dirty="0"/>
          </a:p>
        </p:txBody>
      </p:sp>
      <p:sp>
        <p:nvSpPr>
          <p:cNvPr id="27" name="Text 23"/>
          <p:cNvSpPr/>
          <p:nvPr/>
        </p:nvSpPr>
        <p:spPr>
          <a:xfrm>
            <a:off x="8107680" y="2919732"/>
            <a:ext cx="315513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A5C"/>
                </a:solidFill>
                <a:latin typeface="Inter" pitchFamily="34" charset="0"/>
                <a:ea typeface="Inter" pitchFamily="34" charset="-122"/>
                <a:cs typeface="Inter" pitchFamily="34" charset="-120"/>
              </a:rPr>
              <a:t>PIR HC-SR505, HC-SR04 y sensor MC-38.</a:t>
            </a:r>
            <a:endParaRPr lang="en-US" sz="1300" dirty="0"/>
          </a:p>
        </p:txBody>
      </p:sp>
      <p:sp>
        <p:nvSpPr>
          <p:cNvPr id="28" name="Shape 24"/>
          <p:cNvSpPr/>
          <p:nvPr/>
        </p:nvSpPr>
        <p:spPr>
          <a:xfrm>
            <a:off x="7927975" y="3640457"/>
            <a:ext cx="3422650" cy="1046480"/>
          </a:xfrm>
          <a:prstGeom prst="roundRect">
            <a:avLst>
              <a:gd name="adj" fmla="val 9405"/>
            </a:avLst>
          </a:prstGeom>
          <a:solidFill>
            <a:srgbClr val="FDFBF7"/>
          </a:solidFill>
          <a:ln w="6350">
            <a:solidFill>
              <a:srgbClr val="D9D3C6"/>
            </a:solidFill>
            <a:prstDash val="solid"/>
          </a:ln>
        </p:spPr>
      </p:sp>
      <p:sp>
        <p:nvSpPr>
          <p:cNvPr id="29" name="Text 25"/>
          <p:cNvSpPr/>
          <p:nvPr/>
        </p:nvSpPr>
        <p:spPr>
          <a:xfrm>
            <a:off x="8107680" y="3782061"/>
            <a:ext cx="315513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A"/>
                </a:solidFill>
                <a:latin typeface="Montserrat" pitchFamily="34" charset="0"/>
                <a:ea typeface="Montserrat" pitchFamily="34" charset="-122"/>
                <a:cs typeface="Montserrat" pitchFamily="34" charset="-120"/>
              </a:rPr>
              <a:t>Software</a:t>
            </a:r>
            <a:endParaRPr lang="en-US" sz="1500" dirty="0"/>
          </a:p>
        </p:txBody>
      </p:sp>
      <p:sp>
        <p:nvSpPr>
          <p:cNvPr id="30" name="Text 26"/>
          <p:cNvSpPr/>
          <p:nvPr/>
        </p:nvSpPr>
        <p:spPr>
          <a:xfrm>
            <a:off x="8107680" y="4099561"/>
            <a:ext cx="315513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A5C"/>
                </a:solidFill>
                <a:latin typeface="Inter" pitchFamily="34" charset="0"/>
                <a:ea typeface="Inter" pitchFamily="34" charset="-122"/>
                <a:cs typeface="Inter" pitchFamily="34" charset="-120"/>
              </a:rPr>
              <a:t>MPLAB X IDE y compilador XC8, herramientas gratuitas.</a:t>
            </a:r>
            <a:endParaRPr lang="en-US" sz="1300" dirty="0"/>
          </a:p>
        </p:txBody>
      </p:sp>
      <p:sp>
        <p:nvSpPr>
          <p:cNvPr id="31" name="Shape 27"/>
          <p:cNvSpPr/>
          <p:nvPr/>
        </p:nvSpPr>
        <p:spPr>
          <a:xfrm>
            <a:off x="609600" y="4867911"/>
            <a:ext cx="10972800" cy="723900"/>
          </a:xfrm>
          <a:prstGeom prst="roundRect">
            <a:avLst>
              <a:gd name="adj" fmla="val 14035"/>
            </a:avLst>
          </a:prstGeom>
          <a:solidFill>
            <a:srgbClr val="E4F4F1"/>
          </a:solidFill>
          <a:ln/>
        </p:spPr>
      </p:sp>
      <p:sp>
        <p:nvSpPr>
          <p:cNvPr id="32" name="Text 28"/>
          <p:cNvSpPr/>
          <p:nvPr/>
        </p:nvSpPr>
        <p:spPr>
          <a:xfrm>
            <a:off x="812800" y="5096511"/>
            <a:ext cx="1320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A"/>
                </a:solidFill>
                <a:latin typeface="Montserrat" pitchFamily="34" charset="0"/>
                <a:ea typeface="Montserrat" pitchFamily="34" charset="-122"/>
                <a:cs typeface="Montserrat" pitchFamily="34" charset="-120"/>
              </a:rPr>
              <a:t>Logística</a:t>
            </a:r>
            <a:endParaRPr lang="en-US" sz="1500" dirty="0"/>
          </a:p>
        </p:txBody>
      </p:sp>
      <p:sp>
        <p:nvSpPr>
          <p:cNvPr id="33" name="Text 29"/>
          <p:cNvSpPr/>
          <p:nvPr/>
        </p:nvSpPr>
        <p:spPr>
          <a:xfrm>
            <a:off x="2260600" y="5007611"/>
            <a:ext cx="9392158"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213D"/>
                </a:solidFill>
                <a:latin typeface="Inter" pitchFamily="34" charset="0"/>
                <a:ea typeface="Inter" pitchFamily="34" charset="-122"/>
                <a:cs typeface="Inter" pitchFamily="34" charset="-120"/>
              </a:rPr>
              <a:t>Componentes disponibles en Lima, con hojas de datos y bibliotecas · chasis híbrido de MDF, acrílico y PLA (impresión 3D) · ensayos en los laboratorios de la UPC · importaciones gestionadas en las primeras semanas del cronograma.</a:t>
            </a:r>
            <a:endParaRPr lang="en-US" sz="1250" dirty="0"/>
          </a:p>
        </p:txBody>
      </p:sp>
      <p:sp>
        <p:nvSpPr>
          <p:cNvPr id="34" name="Text 30"/>
          <p:cNvSpPr/>
          <p:nvPr/>
        </p:nvSpPr>
        <p:spPr>
          <a:xfrm>
            <a:off x="609600" y="6365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Elaboración propia. Informe del TP, sección 1.3.</a:t>
            </a:r>
            <a:endParaRPr lang="en-US" sz="1200" dirty="0"/>
          </a:p>
        </p:txBody>
      </p:sp>
      <p:sp>
        <p:nvSpPr>
          <p:cNvPr id="35" name="Text 31"/>
          <p:cNvSpPr/>
          <p:nvPr/>
        </p:nvSpPr>
        <p:spPr>
          <a:xfrm>
            <a:off x="10261600" y="6365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06 / 32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 · SITUACIÓN PROBLEMÁTICA · VIABILIDAD</a:t>
            </a:r>
            <a:endParaRPr lang="en-US" sz="1200" dirty="0"/>
          </a:p>
        </p:txBody>
      </p:sp>
      <p:sp>
        <p:nvSpPr>
          <p:cNvPr id="5" name="Text 2"/>
          <p:cNvSpPr/>
          <p:nvPr>
            <p:ph type="title"/>
          </p:nvPr>
        </p:nvSpPr>
        <p:spPr>
          <a:xfrm>
            <a:off x="609600" y="708661"/>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Viabilidad económica y operativa</a:t>
            </a:r>
            <a:endParaRPr lang="en-US" sz="2800" dirty="0"/>
          </a:p>
        </p:txBody>
      </p:sp>
      <p:sp>
        <p:nvSpPr>
          <p:cNvPr id="6" name="Shape 3"/>
          <p:cNvSpPr/>
          <p:nvPr/>
        </p:nvSpPr>
        <p:spPr>
          <a:xfrm>
            <a:off x="612775" y="1280796"/>
            <a:ext cx="5327650" cy="4085590"/>
          </a:xfrm>
          <a:prstGeom prst="roundRect">
            <a:avLst>
              <a:gd name="adj" fmla="val 2409"/>
            </a:avLst>
          </a:prstGeom>
          <a:solidFill>
            <a:srgbClr val="FDFBF7"/>
          </a:solidFill>
          <a:ln w="6350">
            <a:solidFill>
              <a:srgbClr val="D9D3C6"/>
            </a:solidFill>
            <a:prstDash val="solid"/>
          </a:ln>
        </p:spPr>
      </p:sp>
      <p:sp>
        <p:nvSpPr>
          <p:cNvPr id="7" name="Text 4"/>
          <p:cNvSpPr/>
          <p:nvPr/>
        </p:nvSpPr>
        <p:spPr>
          <a:xfrm>
            <a:off x="817880" y="1460500"/>
            <a:ext cx="506496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Montserrat" pitchFamily="34" charset="0"/>
                <a:ea typeface="Montserrat" pitchFamily="34" charset="-122"/>
                <a:cs typeface="Montserrat" pitchFamily="34" charset="-120"/>
              </a:rPr>
              <a:t>Económica</a:t>
            </a:r>
            <a:endParaRPr lang="en-US" sz="1700" dirty="0"/>
          </a:p>
        </p:txBody>
      </p:sp>
      <p:sp>
        <p:nvSpPr>
          <p:cNvPr id="8" name="Text 5"/>
          <p:cNvSpPr/>
          <p:nvPr/>
        </p:nvSpPr>
        <p:spPr>
          <a:xfrm>
            <a:off x="817880" y="1833882"/>
            <a:ext cx="50649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5C"/>
                </a:solidFill>
                <a:latin typeface="Inter" pitchFamily="34" charset="0"/>
                <a:ea typeface="Inter" pitchFamily="34" charset="-122"/>
                <a:cs typeface="Inter" pitchFamily="34" charset="-120"/>
              </a:rPr>
              <a:t>Componentes de bajo costo elegidos con tablas comparativas. Ejemplo con el sensor magnético de nodos:</a:t>
            </a:r>
            <a:endParaRPr lang="en-US" sz="1300" dirty="0"/>
          </a:p>
        </p:txBody>
      </p:sp>
      <p:sp>
        <p:nvSpPr>
          <p:cNvPr id="9" name="Text 6"/>
          <p:cNvSpPr/>
          <p:nvPr/>
        </p:nvSpPr>
        <p:spPr>
          <a:xfrm>
            <a:off x="817880" y="2410461"/>
            <a:ext cx="50649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Módulo KY-024 (SS49E), elegido</a:t>
            </a:r>
            <a:endParaRPr lang="en-US" sz="1200" dirty="0"/>
          </a:p>
        </p:txBody>
      </p:sp>
      <p:sp>
        <p:nvSpPr>
          <p:cNvPr id="10" name="Text 7"/>
          <p:cNvSpPr/>
          <p:nvPr/>
        </p:nvSpPr>
        <p:spPr>
          <a:xfrm>
            <a:off x="817880" y="2738121"/>
            <a:ext cx="2165350" cy="358140"/>
          </a:xfrm>
          <a:prstGeom prst="roundRect">
            <a:avLst>
              <a:gd name="adj" fmla="val 17730"/>
            </a:avLst>
          </a:prstGeom>
          <a:solidFill>
            <a:srgbClr val="0B7A7A"/>
          </a:solidFill>
          <a:ln/>
        </p:spPr>
        <p:txBody>
          <a:bodyPr wrap="square" lIns="95701" tIns="32201" rIns="95701" bIns="32201" rtlCol="0" anchor="ctr">
            <a:normAutofit/>
          </a:bodyPr>
          <a:lstStyle/>
          <a:p>
            <a:pPr algn="l" indent="0" marL="0">
              <a:lnSpc>
                <a:spcPts val="1820"/>
              </a:lnSpc>
              <a:buNone/>
            </a:pPr>
            <a:r>
              <a:rPr lang="en-US" sz="1300" b="1" dirty="0">
                <a:solidFill>
                  <a:srgbClr val="FFFFFF"/>
                </a:solidFill>
                <a:latin typeface="Inter" pitchFamily="34" charset="0"/>
                <a:ea typeface="Inter" pitchFamily="34" charset="-122"/>
                <a:cs typeface="Inter" pitchFamily="34" charset="-120"/>
              </a:rPr>
              <a:t>S/ 8.00</a:t>
            </a:r>
            <a:endParaRPr lang="en-US" sz="1300" dirty="0"/>
          </a:p>
        </p:txBody>
      </p:sp>
      <p:sp>
        <p:nvSpPr>
          <p:cNvPr id="11" name="Text 8"/>
          <p:cNvSpPr/>
          <p:nvPr/>
        </p:nvSpPr>
        <p:spPr>
          <a:xfrm>
            <a:off x="817880" y="3210561"/>
            <a:ext cx="50649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Sensor industrial NJK-5002C</a:t>
            </a:r>
            <a:endParaRPr lang="en-US" sz="1200" dirty="0"/>
          </a:p>
        </p:txBody>
      </p:sp>
      <p:sp>
        <p:nvSpPr>
          <p:cNvPr id="12" name="Text 9"/>
          <p:cNvSpPr/>
          <p:nvPr/>
        </p:nvSpPr>
        <p:spPr>
          <a:xfrm>
            <a:off x="817880" y="3538221"/>
            <a:ext cx="4064000" cy="358140"/>
          </a:xfrm>
          <a:prstGeom prst="roundRect">
            <a:avLst>
              <a:gd name="adj" fmla="val 17730"/>
            </a:avLst>
          </a:prstGeom>
          <a:solidFill>
            <a:srgbClr val="B8412B"/>
          </a:solidFill>
          <a:ln/>
        </p:spPr>
        <p:txBody>
          <a:bodyPr wrap="square" lIns="95701" tIns="32201" rIns="95701" bIns="32201" rtlCol="0" anchor="ctr">
            <a:normAutofit/>
          </a:bodyPr>
          <a:lstStyle/>
          <a:p>
            <a:pPr algn="l" indent="0" marL="0">
              <a:lnSpc>
                <a:spcPts val="1820"/>
              </a:lnSpc>
              <a:buNone/>
            </a:pPr>
            <a:r>
              <a:rPr lang="en-US" sz="1300" b="1" dirty="0">
                <a:solidFill>
                  <a:srgbClr val="FFFFFF"/>
                </a:solidFill>
                <a:latin typeface="Inter" pitchFamily="34" charset="0"/>
                <a:ea typeface="Inter" pitchFamily="34" charset="-122"/>
                <a:cs typeface="Inter" pitchFamily="34" charset="-120"/>
              </a:rPr>
              <a:t>S/ 15.00</a:t>
            </a:r>
            <a:endParaRPr lang="en-US" sz="1300" dirty="0"/>
          </a:p>
        </p:txBody>
      </p:sp>
      <p:sp>
        <p:nvSpPr>
          <p:cNvPr id="13" name="Text 10"/>
          <p:cNvSpPr/>
          <p:nvPr/>
        </p:nvSpPr>
        <p:spPr>
          <a:xfrm>
            <a:off x="817880" y="4010661"/>
            <a:ext cx="506496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5C"/>
                </a:solidFill>
                <a:latin typeface="Inter" pitchFamily="34" charset="0"/>
                <a:ea typeface="Inter" pitchFamily="34" charset="-122"/>
                <a:cs typeface="Inter" pitchFamily="34" charset="-120"/>
              </a:rPr>
              <a:t>El driver TB6612FNG es más eficiente que el L298N y no requiere disipador.</a:t>
            </a:r>
            <a:endParaRPr lang="en-US" sz="1300" dirty="0"/>
          </a:p>
        </p:txBody>
      </p:sp>
      <p:sp>
        <p:nvSpPr>
          <p:cNvPr id="14" name="Shape 11"/>
          <p:cNvSpPr/>
          <p:nvPr/>
        </p:nvSpPr>
        <p:spPr>
          <a:xfrm>
            <a:off x="817880" y="4587239"/>
            <a:ext cx="4917440" cy="599440"/>
          </a:xfrm>
          <a:prstGeom prst="roundRect">
            <a:avLst>
              <a:gd name="adj" fmla="val 12712"/>
            </a:avLst>
          </a:prstGeom>
          <a:solidFill>
            <a:srgbClr val="0B2239"/>
          </a:solidFill>
          <a:ln/>
        </p:spPr>
      </p:sp>
      <p:sp>
        <p:nvSpPr>
          <p:cNvPr id="15" name="Text 12"/>
          <p:cNvSpPr/>
          <p:nvPr/>
        </p:nvSpPr>
        <p:spPr>
          <a:xfrm>
            <a:off x="970280" y="4691382"/>
            <a:ext cx="15247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FC8B8"/>
                </a:solidFill>
                <a:latin typeface="Montserrat" pitchFamily="34" charset="0"/>
                <a:ea typeface="Montserrat" pitchFamily="34" charset="-122"/>
                <a:cs typeface="Montserrat" pitchFamily="34" charset="-120"/>
              </a:rPr>
              <a:t>S/ 668.40</a:t>
            </a:r>
            <a:endParaRPr lang="en-US" sz="2200" dirty="0"/>
          </a:p>
        </p:txBody>
      </p:sp>
      <p:sp>
        <p:nvSpPr>
          <p:cNvPr id="16" name="Text 13"/>
          <p:cNvSpPr/>
          <p:nvPr/>
        </p:nvSpPr>
        <p:spPr>
          <a:xfrm>
            <a:off x="2495074" y="4688839"/>
            <a:ext cx="3180482"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CE3"/>
                </a:solidFill>
                <a:latin typeface="Inter" pitchFamily="34" charset="0"/>
                <a:ea typeface="Inter" pitchFamily="34" charset="-122"/>
                <a:cs typeface="Inter" pitchFamily="34" charset="-120"/>
              </a:rPr>
              <a:t>costo total estimado del prototipo (Tabla 2)</a:t>
            </a:r>
            <a:endParaRPr lang="en-US" sz="1200" dirty="0"/>
          </a:p>
        </p:txBody>
      </p:sp>
      <p:sp>
        <p:nvSpPr>
          <p:cNvPr id="17" name="Shape 14"/>
          <p:cNvSpPr/>
          <p:nvPr/>
        </p:nvSpPr>
        <p:spPr>
          <a:xfrm>
            <a:off x="6251575" y="1280796"/>
            <a:ext cx="5327650" cy="4085590"/>
          </a:xfrm>
          <a:prstGeom prst="roundRect">
            <a:avLst>
              <a:gd name="adj" fmla="val 2409"/>
            </a:avLst>
          </a:prstGeom>
          <a:solidFill>
            <a:srgbClr val="FDFBF7"/>
          </a:solidFill>
          <a:ln w="6350">
            <a:solidFill>
              <a:srgbClr val="D9D3C6"/>
            </a:solidFill>
            <a:prstDash val="solid"/>
          </a:ln>
        </p:spPr>
      </p:sp>
      <p:sp>
        <p:nvSpPr>
          <p:cNvPr id="18" name="Text 15"/>
          <p:cNvSpPr/>
          <p:nvPr/>
        </p:nvSpPr>
        <p:spPr>
          <a:xfrm>
            <a:off x="6456680" y="1460500"/>
            <a:ext cx="506496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Montserrat" pitchFamily="34" charset="0"/>
                <a:ea typeface="Montserrat" pitchFamily="34" charset="-122"/>
                <a:cs typeface="Montserrat" pitchFamily="34" charset="-120"/>
              </a:rPr>
              <a:t>Operativa</a:t>
            </a:r>
            <a:endParaRPr lang="en-US" sz="1700" dirty="0"/>
          </a:p>
        </p:txBody>
      </p:sp>
      <p:sp>
        <p:nvSpPr>
          <p:cNvPr id="19" name="Shape 16"/>
          <p:cNvSpPr/>
          <p:nvPr/>
        </p:nvSpPr>
        <p:spPr>
          <a:xfrm>
            <a:off x="6456680" y="1833882"/>
            <a:ext cx="4917440" cy="558800"/>
          </a:xfrm>
          <a:prstGeom prst="roundRect">
            <a:avLst>
              <a:gd name="adj" fmla="val 13636"/>
            </a:avLst>
          </a:prstGeom>
          <a:solidFill>
            <a:srgbClr val="E4F4F1"/>
          </a:solidFill>
          <a:ln/>
        </p:spPr>
      </p:sp>
      <p:sp>
        <p:nvSpPr>
          <p:cNvPr id="20" name="Text 17"/>
          <p:cNvSpPr/>
          <p:nvPr/>
        </p:nvSpPr>
        <p:spPr>
          <a:xfrm>
            <a:off x="6596380" y="1935482"/>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A"/>
                </a:solidFill>
                <a:latin typeface="Montserrat" pitchFamily="34" charset="0"/>
                <a:ea typeface="Montserrat" pitchFamily="34" charset="-122"/>
                <a:cs typeface="Montserrat" pitchFamily="34" charset="-120"/>
              </a:rPr>
              <a:t>1</a:t>
            </a:r>
            <a:endParaRPr lang="en-US" sz="2000" dirty="0"/>
          </a:p>
        </p:txBody>
      </p:sp>
      <p:sp>
        <p:nvSpPr>
          <p:cNvPr id="21" name="Text 18"/>
          <p:cNvSpPr/>
          <p:nvPr/>
        </p:nvSpPr>
        <p:spPr>
          <a:xfrm>
            <a:off x="7078980" y="2001838"/>
            <a:ext cx="429514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nter" pitchFamily="34" charset="0"/>
                <a:ea typeface="Inter" pitchFamily="34" charset="-122"/>
                <a:cs typeface="Inter" pitchFamily="34" charset="-120"/>
              </a:rPr>
              <a:t>El personal elige la ruta en la interfaz web del ESP32.</a:t>
            </a:r>
            <a:endParaRPr lang="en-US" sz="1300" dirty="0"/>
          </a:p>
        </p:txBody>
      </p:sp>
      <p:sp>
        <p:nvSpPr>
          <p:cNvPr id="22" name="Shape 19"/>
          <p:cNvSpPr/>
          <p:nvPr/>
        </p:nvSpPr>
        <p:spPr>
          <a:xfrm>
            <a:off x="6456680" y="2506982"/>
            <a:ext cx="4917440" cy="648970"/>
          </a:xfrm>
          <a:prstGeom prst="roundRect">
            <a:avLst>
              <a:gd name="adj" fmla="val 11742"/>
            </a:avLst>
          </a:prstGeom>
          <a:solidFill>
            <a:srgbClr val="E4F4F1"/>
          </a:solidFill>
          <a:ln/>
        </p:spPr>
      </p:sp>
      <p:sp>
        <p:nvSpPr>
          <p:cNvPr id="23" name="Text 20"/>
          <p:cNvSpPr/>
          <p:nvPr/>
        </p:nvSpPr>
        <p:spPr>
          <a:xfrm>
            <a:off x="6596380" y="2653664"/>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A"/>
                </a:solidFill>
                <a:latin typeface="Montserrat" pitchFamily="34" charset="0"/>
                <a:ea typeface="Montserrat" pitchFamily="34" charset="-122"/>
                <a:cs typeface="Montserrat" pitchFamily="34" charset="-120"/>
              </a:rPr>
              <a:t>2</a:t>
            </a:r>
            <a:endParaRPr lang="en-US" sz="2000" dirty="0"/>
          </a:p>
        </p:txBody>
      </p:sp>
      <p:sp>
        <p:nvSpPr>
          <p:cNvPr id="24" name="Text 21"/>
          <p:cNvSpPr/>
          <p:nvPr/>
        </p:nvSpPr>
        <p:spPr>
          <a:xfrm>
            <a:off x="7078980" y="2608582"/>
            <a:ext cx="428010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nter" pitchFamily="34" charset="0"/>
                <a:ea typeface="Inter" pitchFamily="34" charset="-122"/>
                <a:cs typeface="Inter" pitchFamily="34" charset="-120"/>
              </a:rPr>
              <a:t>El ESP32 envía la orden de despacho al PIC por UART.</a:t>
            </a:r>
            <a:endParaRPr lang="en-US" sz="1300" dirty="0"/>
          </a:p>
        </p:txBody>
      </p:sp>
      <p:sp>
        <p:nvSpPr>
          <p:cNvPr id="25" name="Shape 22"/>
          <p:cNvSpPr/>
          <p:nvPr/>
        </p:nvSpPr>
        <p:spPr>
          <a:xfrm>
            <a:off x="6456680" y="3270250"/>
            <a:ext cx="4917440" cy="871855"/>
          </a:xfrm>
          <a:prstGeom prst="roundRect">
            <a:avLst>
              <a:gd name="adj" fmla="val 8740"/>
            </a:avLst>
          </a:prstGeom>
          <a:solidFill>
            <a:srgbClr val="E4F4F1"/>
          </a:solidFill>
          <a:ln/>
        </p:spPr>
      </p:sp>
      <p:sp>
        <p:nvSpPr>
          <p:cNvPr id="26" name="Text 23"/>
          <p:cNvSpPr/>
          <p:nvPr/>
        </p:nvSpPr>
        <p:spPr>
          <a:xfrm>
            <a:off x="6596380" y="3528377"/>
            <a:ext cx="4064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A"/>
                </a:solidFill>
                <a:latin typeface="Montserrat" pitchFamily="34" charset="0"/>
                <a:ea typeface="Montserrat" pitchFamily="34" charset="-122"/>
                <a:cs typeface="Montserrat" pitchFamily="34" charset="-120"/>
              </a:rPr>
              <a:t>3</a:t>
            </a:r>
            <a:endParaRPr lang="en-US" sz="2000" dirty="0"/>
          </a:p>
        </p:txBody>
      </p:sp>
      <p:sp>
        <p:nvSpPr>
          <p:cNvPr id="27" name="Text 24"/>
          <p:cNvSpPr/>
          <p:nvPr/>
        </p:nvSpPr>
        <p:spPr>
          <a:xfrm>
            <a:off x="7078980" y="3371850"/>
            <a:ext cx="4280103"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nter" pitchFamily="34" charset="0"/>
                <a:ea typeface="Inter" pitchFamily="34" charset="-122"/>
                <a:cs typeface="Inter" pitchFamily="34" charset="-120"/>
              </a:rPr>
              <a:t>El robot circula a baja tensión y velocidad controlada, con frenado automático ante personal y obstáculos.</a:t>
            </a:r>
            <a:endParaRPr lang="en-US" sz="1300" dirty="0"/>
          </a:p>
        </p:txBody>
      </p:sp>
      <p:sp>
        <p:nvSpPr>
          <p:cNvPr id="28" name="Text 25"/>
          <p:cNvSpPr/>
          <p:nvPr/>
        </p:nvSpPr>
        <p:spPr>
          <a:xfrm>
            <a:off x="6456680" y="4256407"/>
            <a:ext cx="506496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5C"/>
                </a:solidFill>
                <a:latin typeface="Inter" pitchFamily="34" charset="0"/>
                <a:ea typeface="Inter" pitchFamily="34" charset="-122"/>
                <a:cs typeface="Inter" pitchFamily="34" charset="-120"/>
              </a:rPr>
              <a:t>No requiere capacitación técnica compleja ni altera el flujo de trabajo del hospital, y libera tiempo para la atención clínica directa.</a:t>
            </a:r>
            <a:endParaRPr lang="en-US" sz="1300" dirty="0"/>
          </a:p>
        </p:txBody>
      </p:sp>
      <p:sp>
        <p:nvSpPr>
          <p:cNvPr id="29" name="Text 26"/>
          <p:cNvSpPr/>
          <p:nvPr/>
        </p:nvSpPr>
        <p:spPr>
          <a:xfrm>
            <a:off x="609600" y="6365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Elaboración propia. Tablas 2, 4 y 5 del informe.</a:t>
            </a:r>
            <a:endParaRPr lang="en-US" sz="1200" dirty="0"/>
          </a:p>
        </p:txBody>
      </p:sp>
      <p:sp>
        <p:nvSpPr>
          <p:cNvPr id="30" name="Text 27"/>
          <p:cNvSpPr/>
          <p:nvPr/>
        </p:nvSpPr>
        <p:spPr>
          <a:xfrm>
            <a:off x="10261600" y="6365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07 / 32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II · ESTADO DEL ARTE</a:t>
            </a:r>
            <a:endParaRPr lang="en-US" sz="1200" dirty="0"/>
          </a:p>
        </p:txBody>
      </p:sp>
      <p:sp>
        <p:nvSpPr>
          <p:cNvPr id="5" name="Text 2"/>
          <p:cNvSpPr/>
          <p:nvPr>
            <p:ph type="title"/>
          </p:nvPr>
        </p:nvSpPr>
        <p:spPr>
          <a:xfrm>
            <a:off x="609600" y="708661"/>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Antecedentes tecnológicos</a:t>
            </a:r>
            <a:endParaRPr lang="en-US" sz="2800" dirty="0"/>
          </a:p>
        </p:txBody>
      </p:sp>
      <p:sp>
        <p:nvSpPr>
          <p:cNvPr id="6" name="Shape 3"/>
          <p:cNvSpPr/>
          <p:nvPr/>
        </p:nvSpPr>
        <p:spPr>
          <a:xfrm>
            <a:off x="612775" y="1280796"/>
            <a:ext cx="7613650" cy="1101090"/>
          </a:xfrm>
          <a:prstGeom prst="roundRect">
            <a:avLst>
              <a:gd name="adj" fmla="val 8939"/>
            </a:avLst>
          </a:prstGeom>
          <a:solidFill>
            <a:srgbClr val="FDFBF7"/>
          </a:solidFill>
          <a:ln w="6350">
            <a:solidFill>
              <a:srgbClr val="D9D3C6"/>
            </a:solidFill>
            <a:prstDash val="solid"/>
          </a:ln>
        </p:spPr>
      </p:sp>
      <p:sp>
        <p:nvSpPr>
          <p:cNvPr id="7" name="Text 4"/>
          <p:cNvSpPr/>
          <p:nvPr/>
        </p:nvSpPr>
        <p:spPr>
          <a:xfrm>
            <a:off x="792480" y="1558289"/>
            <a:ext cx="10033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7A7A"/>
                </a:solidFill>
                <a:latin typeface="Montserrat" pitchFamily="34" charset="0"/>
                <a:ea typeface="Montserrat" pitchFamily="34" charset="-122"/>
                <a:cs typeface="Montserrat" pitchFamily="34" charset="-120"/>
              </a:rPr>
              <a:t>2024</a:t>
            </a:r>
            <a:endParaRPr lang="en-US" sz="1800" dirty="0"/>
          </a:p>
        </p:txBody>
      </p:sp>
      <p:sp>
        <p:nvSpPr>
          <p:cNvPr id="8" name="Text 5"/>
          <p:cNvSpPr/>
          <p:nvPr/>
        </p:nvSpPr>
        <p:spPr>
          <a:xfrm>
            <a:off x="792480" y="1891032"/>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[1] Rabbani</a:t>
            </a:r>
            <a:endParaRPr lang="en-US" sz="1200" dirty="0"/>
          </a:p>
        </p:txBody>
      </p:sp>
      <p:sp>
        <p:nvSpPr>
          <p:cNvPr id="9" name="Text 6"/>
          <p:cNvSpPr/>
          <p:nvPr/>
        </p:nvSpPr>
        <p:spPr>
          <a:xfrm>
            <a:off x="1897380" y="1397000"/>
            <a:ext cx="633382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Montserrat" pitchFamily="34" charset="0"/>
                <a:ea typeface="Montserrat" pitchFamily="34" charset="-122"/>
                <a:cs typeface="Montserrat" pitchFamily="34" charset="-120"/>
              </a:rPr>
              <a:t>Movilidad holonómica clínica</a:t>
            </a:r>
            <a:endParaRPr lang="en-US" sz="1400" dirty="0"/>
          </a:p>
        </p:txBody>
      </p:sp>
      <p:sp>
        <p:nvSpPr>
          <p:cNvPr id="10" name="Text 7"/>
          <p:cNvSpPr/>
          <p:nvPr/>
        </p:nvSpPr>
        <p:spPr>
          <a:xfrm>
            <a:off x="1897380" y="1648461"/>
            <a:ext cx="633382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A5C"/>
                </a:solidFill>
                <a:latin typeface="Inter" pitchFamily="34" charset="0"/>
                <a:ea typeface="Inter" pitchFamily="34" charset="-122"/>
                <a:cs typeface="Inter" pitchFamily="34" charset="-120"/>
              </a:rPr>
              <a:t>La tracción diferencial muestra deficiencias de maniobrabilidad en pasillos congestionados; las ruedas Mecanum permiten traslación lateral pura (a 90°) sin radio de giro frontal.</a:t>
            </a:r>
            <a:endParaRPr lang="en-US" sz="1200" dirty="0"/>
          </a:p>
        </p:txBody>
      </p:sp>
      <p:sp>
        <p:nvSpPr>
          <p:cNvPr id="11" name="Shape 8"/>
          <p:cNvSpPr/>
          <p:nvPr/>
        </p:nvSpPr>
        <p:spPr>
          <a:xfrm>
            <a:off x="612775" y="2477136"/>
            <a:ext cx="7613650" cy="895350"/>
          </a:xfrm>
          <a:prstGeom prst="roundRect">
            <a:avLst>
              <a:gd name="adj" fmla="val 10993"/>
            </a:avLst>
          </a:prstGeom>
          <a:solidFill>
            <a:srgbClr val="FDFBF7"/>
          </a:solidFill>
          <a:ln w="6350">
            <a:solidFill>
              <a:srgbClr val="D9D3C6"/>
            </a:solidFill>
            <a:prstDash val="solid"/>
          </a:ln>
        </p:spPr>
      </p:sp>
      <p:sp>
        <p:nvSpPr>
          <p:cNvPr id="12" name="Text 9"/>
          <p:cNvSpPr/>
          <p:nvPr/>
        </p:nvSpPr>
        <p:spPr>
          <a:xfrm>
            <a:off x="792480" y="2651761"/>
            <a:ext cx="10033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7A7A"/>
                </a:solidFill>
                <a:latin typeface="Montserrat" pitchFamily="34" charset="0"/>
                <a:ea typeface="Montserrat" pitchFamily="34" charset="-122"/>
                <a:cs typeface="Montserrat" pitchFamily="34" charset="-120"/>
              </a:rPr>
              <a:t>2025</a:t>
            </a:r>
            <a:endParaRPr lang="en-US" sz="1800" dirty="0"/>
          </a:p>
        </p:txBody>
      </p:sp>
      <p:sp>
        <p:nvSpPr>
          <p:cNvPr id="13" name="Text 10"/>
          <p:cNvSpPr/>
          <p:nvPr/>
        </p:nvSpPr>
        <p:spPr>
          <a:xfrm>
            <a:off x="792480" y="2984500"/>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[2] Sensors</a:t>
            </a:r>
            <a:endParaRPr lang="en-US" sz="1200" dirty="0"/>
          </a:p>
        </p:txBody>
      </p:sp>
      <p:sp>
        <p:nvSpPr>
          <p:cNvPr id="14" name="Text 11"/>
          <p:cNvSpPr/>
          <p:nvPr/>
        </p:nvSpPr>
        <p:spPr>
          <a:xfrm>
            <a:off x="1897380" y="2593339"/>
            <a:ext cx="633382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Montserrat" pitchFamily="34" charset="0"/>
                <a:ea typeface="Montserrat" pitchFamily="34" charset="-122"/>
                <a:cs typeface="Montserrat" pitchFamily="34" charset="-120"/>
              </a:rPr>
              <a:t>Control embebido en lazo cerrado</a:t>
            </a:r>
            <a:endParaRPr lang="en-US" sz="1400" dirty="0"/>
          </a:p>
        </p:txBody>
      </p:sp>
      <p:sp>
        <p:nvSpPr>
          <p:cNvPr id="15" name="Text 12"/>
          <p:cNvSpPr/>
          <p:nvPr/>
        </p:nvSpPr>
        <p:spPr>
          <a:xfrm>
            <a:off x="1897380" y="2844800"/>
            <a:ext cx="633382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A5C"/>
                </a:solidFill>
                <a:latin typeface="Inter" pitchFamily="34" charset="0"/>
                <a:ea typeface="Inter" pitchFamily="34" charset="-122"/>
                <a:cs typeface="Inter" pitchFamily="34" charset="-120"/>
              </a:rPr>
              <a:t>Modela el control de cuatro ruedas Mecanum independientes: sistemas embebidos descentralizados calculan trayectorias y ajustan el PWM de cada motor.</a:t>
            </a:r>
            <a:endParaRPr lang="en-US" sz="1200" dirty="0"/>
          </a:p>
        </p:txBody>
      </p:sp>
      <p:sp>
        <p:nvSpPr>
          <p:cNvPr id="16" name="Shape 13"/>
          <p:cNvSpPr/>
          <p:nvPr/>
        </p:nvSpPr>
        <p:spPr>
          <a:xfrm>
            <a:off x="612775" y="3467736"/>
            <a:ext cx="7613650" cy="1101090"/>
          </a:xfrm>
          <a:prstGeom prst="roundRect">
            <a:avLst>
              <a:gd name="adj" fmla="val 8939"/>
            </a:avLst>
          </a:prstGeom>
          <a:solidFill>
            <a:srgbClr val="FDFBF7"/>
          </a:solidFill>
          <a:ln w="6350">
            <a:solidFill>
              <a:srgbClr val="D9D3C6"/>
            </a:solidFill>
            <a:prstDash val="solid"/>
          </a:ln>
        </p:spPr>
      </p:sp>
      <p:sp>
        <p:nvSpPr>
          <p:cNvPr id="17" name="Text 14"/>
          <p:cNvSpPr/>
          <p:nvPr/>
        </p:nvSpPr>
        <p:spPr>
          <a:xfrm>
            <a:off x="792480" y="3745232"/>
            <a:ext cx="10033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0B7A7A"/>
                </a:solidFill>
                <a:latin typeface="Montserrat" pitchFamily="34" charset="0"/>
                <a:ea typeface="Montserrat" pitchFamily="34" charset="-122"/>
                <a:cs typeface="Montserrat" pitchFamily="34" charset="-120"/>
              </a:rPr>
              <a:t>2026</a:t>
            </a:r>
            <a:endParaRPr lang="en-US" sz="1800" dirty="0"/>
          </a:p>
        </p:txBody>
      </p:sp>
      <p:sp>
        <p:nvSpPr>
          <p:cNvPr id="18" name="Text 15"/>
          <p:cNvSpPr/>
          <p:nvPr/>
        </p:nvSpPr>
        <p:spPr>
          <a:xfrm>
            <a:off x="792480" y="4077971"/>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[3], [4]</a:t>
            </a:r>
            <a:endParaRPr lang="en-US" sz="1200" dirty="0"/>
          </a:p>
        </p:txBody>
      </p:sp>
      <p:sp>
        <p:nvSpPr>
          <p:cNvPr id="19" name="Text 16"/>
          <p:cNvSpPr/>
          <p:nvPr/>
        </p:nvSpPr>
        <p:spPr>
          <a:xfrm>
            <a:off x="1897380" y="3583939"/>
            <a:ext cx="633382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Montserrat" pitchFamily="34" charset="0"/>
                <a:ea typeface="Montserrat" pitchFamily="34" charset="-122"/>
                <a:cs typeface="Montserrat" pitchFamily="34" charset="-120"/>
              </a:rPr>
              <a:t>Evasión dinámica y reparto con AGV</a:t>
            </a:r>
            <a:endParaRPr lang="en-US" sz="1400" dirty="0"/>
          </a:p>
        </p:txBody>
      </p:sp>
      <p:sp>
        <p:nvSpPr>
          <p:cNvPr id="20" name="Text 17"/>
          <p:cNvSpPr/>
          <p:nvPr/>
        </p:nvSpPr>
        <p:spPr>
          <a:xfrm>
            <a:off x="1897380" y="3835400"/>
            <a:ext cx="633382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B4A5C"/>
                </a:solidFill>
                <a:latin typeface="Inter" pitchFamily="34" charset="0"/>
                <a:ea typeface="Inter" pitchFamily="34" charset="-122"/>
                <a:cs typeface="Inter" pitchFamily="34" charset="-120"/>
              </a:rPr>
              <a:t>Los robots asistenciales integran varias capas de sensado para sortear camillas y personal; el AGV de Caccavale y Finzi (2020) entrega medicamentos y reduce errores de reparto.</a:t>
            </a:r>
            <a:endParaRPr lang="en-US" sz="1200" dirty="0"/>
          </a:p>
        </p:txBody>
      </p:sp>
      <p:sp>
        <p:nvSpPr>
          <p:cNvPr id="21" name="Shape 18"/>
          <p:cNvSpPr/>
          <p:nvPr/>
        </p:nvSpPr>
        <p:spPr>
          <a:xfrm>
            <a:off x="609600" y="4660900"/>
            <a:ext cx="7620000" cy="1201420"/>
          </a:xfrm>
          <a:prstGeom prst="roundRect">
            <a:avLst>
              <a:gd name="adj" fmla="val 8457"/>
            </a:avLst>
          </a:prstGeom>
          <a:solidFill>
            <a:srgbClr val="0B2239"/>
          </a:solidFill>
          <a:ln/>
        </p:spPr>
      </p:sp>
      <p:sp>
        <p:nvSpPr>
          <p:cNvPr id="22" name="Text 19"/>
          <p:cNvSpPr/>
          <p:nvPr/>
        </p:nvSpPr>
        <p:spPr>
          <a:xfrm>
            <a:off x="787400" y="4775200"/>
            <a:ext cx="10033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3FC8B8"/>
                </a:solidFill>
                <a:latin typeface="Montserrat" pitchFamily="34" charset="0"/>
                <a:ea typeface="Montserrat" pitchFamily="34" charset="-122"/>
                <a:cs typeface="Montserrat" pitchFamily="34" charset="-120"/>
              </a:rPr>
              <a:t>2022</a:t>
            </a:r>
            <a:endParaRPr lang="en-US" sz="1800" dirty="0"/>
          </a:p>
        </p:txBody>
      </p:sp>
      <p:sp>
        <p:nvSpPr>
          <p:cNvPr id="23" name="Text 20"/>
          <p:cNvSpPr/>
          <p:nvPr/>
        </p:nvSpPr>
        <p:spPr>
          <a:xfrm>
            <a:off x="787400" y="5107942"/>
            <a:ext cx="10033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DC0CF"/>
                </a:solidFill>
                <a:latin typeface="Inter" pitchFamily="34" charset="0"/>
                <a:ea typeface="Inter" pitchFamily="34" charset="-122"/>
                <a:cs typeface="Inter" pitchFamily="34" charset="-120"/>
              </a:rPr>
              <a:t>[5] Technologies</a:t>
            </a:r>
            <a:endParaRPr lang="en-US" sz="1200" dirty="0"/>
          </a:p>
        </p:txBody>
      </p:sp>
      <p:sp>
        <p:nvSpPr>
          <p:cNvPr id="24" name="Text 21"/>
          <p:cNvSpPr/>
          <p:nvPr/>
        </p:nvSpPr>
        <p:spPr>
          <a:xfrm>
            <a:off x="1892300" y="4930142"/>
            <a:ext cx="634428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3F7F8"/>
                </a:solidFill>
                <a:latin typeface="Montserrat" pitchFamily="34" charset="0"/>
                <a:ea typeface="Montserrat" pitchFamily="34" charset="-122"/>
                <a:cs typeface="Montserrat" pitchFamily="34" charset="-120"/>
              </a:rPr>
              <a:t>Fusión frente a perturbaciones</a:t>
            </a:r>
            <a:endParaRPr lang="en-US" sz="1400" dirty="0"/>
          </a:p>
        </p:txBody>
      </p:sp>
      <p:sp>
        <p:nvSpPr>
          <p:cNvPr id="25" name="Text 22"/>
          <p:cNvSpPr/>
          <p:nvPr/>
        </p:nvSpPr>
        <p:spPr>
          <a:xfrm>
            <a:off x="1892300" y="5181600"/>
            <a:ext cx="6344285"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CE3"/>
                </a:solidFill>
                <a:latin typeface="Inter" pitchFamily="34" charset="0"/>
                <a:ea typeface="Inter" pitchFamily="34" charset="-122"/>
                <a:cs typeface="Inter" pitchFamily="34" charset="-120"/>
              </a:rPr>
              <a:t>Depender solo de ultrasonido genera vulnerabilidades por reflexión acústica; por eso se combinan ToF, ultrasonido y PIR.</a:t>
            </a:r>
            <a:endParaRPr lang="en-US" sz="1200" dirty="0"/>
          </a:p>
        </p:txBody>
      </p:sp>
      <p:sp>
        <p:nvSpPr>
          <p:cNvPr id="26" name="Shape 23"/>
          <p:cNvSpPr/>
          <p:nvPr/>
        </p:nvSpPr>
        <p:spPr>
          <a:xfrm>
            <a:off x="8534400" y="1277621"/>
            <a:ext cx="3048000" cy="3759200"/>
          </a:xfrm>
          <a:prstGeom prst="roundRect">
            <a:avLst>
              <a:gd name="adj" fmla="val 2500"/>
            </a:avLst>
          </a:prstGeom>
          <a:solidFill>
            <a:srgbClr val="FDFBF7"/>
          </a:solidFill>
          <a:ln/>
        </p:spPr>
      </p:sp>
      <p:pic>
        <p:nvPicPr>
          <p:cNvPr id="27" name="Image 1" descr="Vehículo guiado automatizado TUG de Aethon en un pasillo hospitalario">    </p:cNvPr>
          <p:cNvPicPr>
            <a:picLocks noChangeAspect="1"/>
          </p:cNvPicPr>
          <p:nvPr/>
        </p:nvPicPr>
        <p:blipFill>
          <a:blip r:embed="rId2"/>
          <a:srcRect l="0" r="0" t="-94" b="-94"/>
          <a:stretch/>
        </p:blipFill>
        <p:spPr>
          <a:xfrm>
            <a:off x="8540750" y="1283971"/>
            <a:ext cx="3035300" cy="3746500"/>
          </a:xfrm>
          <a:prstGeom prst="roundRect">
            <a:avLst>
              <a:gd name="adj" fmla="val 2301"/>
            </a:avLst>
          </a:prstGeom>
        </p:spPr>
      </p:pic>
      <p:sp>
        <p:nvSpPr>
          <p:cNvPr id="28" name="Shape 24"/>
          <p:cNvSpPr/>
          <p:nvPr/>
        </p:nvSpPr>
        <p:spPr>
          <a:xfrm>
            <a:off x="8537575" y="1280796"/>
            <a:ext cx="3041650" cy="3752850"/>
          </a:xfrm>
          <a:prstGeom prst="roundRect">
            <a:avLst>
              <a:gd name="adj" fmla="val 2401"/>
            </a:avLst>
          </a:prstGeom>
          <a:noFill/>
          <a:ln w="6350">
            <a:solidFill>
              <a:srgbClr val="D9D3C6"/>
            </a:solidFill>
            <a:prstDash val="solid"/>
          </a:ln>
        </p:spPr>
      </p:sp>
      <p:sp>
        <p:nvSpPr>
          <p:cNvPr id="29" name="Text 25"/>
          <p:cNvSpPr/>
          <p:nvPr/>
        </p:nvSpPr>
        <p:spPr>
          <a:xfrm>
            <a:off x="8534400" y="5087621"/>
            <a:ext cx="3139440"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B7C"/>
                </a:solidFill>
                <a:latin typeface="Inter" pitchFamily="34" charset="0"/>
                <a:ea typeface="Inter" pitchFamily="34" charset="-122"/>
                <a:cs typeface="Inter" pitchFamily="34" charset="-120"/>
              </a:rPr>
              <a:t>Fig. 3.</a:t>
            </a:r>
            <a:r>
              <a:rPr lang="en-US" sz="1200" dirty="0">
                <a:solidFill>
                  <a:srgbClr val="5B6B7C"/>
                </a:solidFill>
                <a:latin typeface="Inter" pitchFamily="34" charset="0"/>
                <a:ea typeface="Inter" pitchFamily="34" charset="-122"/>
                <a:cs typeface="Inter" pitchFamily="34" charset="-120"/>
              </a:rPr>
              <a:t> AGV modelo TUG. Fuente: Aethon [12].</a:t>
            </a:r>
            <a:endParaRPr lang="en-US" sz="1200" dirty="0"/>
          </a:p>
        </p:txBody>
      </p:sp>
      <p:sp>
        <p:nvSpPr>
          <p:cNvPr id="30" name="Text 26"/>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Refs. [1] a [5] y [12]; ver diapositiva 28.</a:t>
            </a:r>
            <a:endParaRPr lang="en-US" sz="1200" dirty="0"/>
          </a:p>
        </p:txBody>
      </p:sp>
      <p:sp>
        <p:nvSpPr>
          <p:cNvPr id="31" name="Text 27"/>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08 / 32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II · ESTADO DEL ARTE</a:t>
            </a:r>
            <a:endParaRPr lang="en-US" sz="1200" dirty="0"/>
          </a:p>
        </p:txBody>
      </p:sp>
      <p:sp>
        <p:nvSpPr>
          <p:cNvPr id="5" name="Text 2"/>
          <p:cNvSpPr/>
          <p:nvPr>
            <p:ph type="title"/>
          </p:nvPr>
        </p:nvSpPr>
        <p:spPr>
          <a:xfrm>
            <a:off x="609600" y="708664"/>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Comparación con trabajos hospitalarios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9760" y="1287781"/>
          <a:ext cx="10962640" cy="2263140"/>
        </p:xfrm>
        <a:graphic>
          <a:graphicData uri="http://schemas.openxmlformats.org/drawingml/2006/table">
            <a:tbl>
              <a:tblPr/>
              <a:tblGrid>
                <a:gridCol w="1973275"/>
                <a:gridCol w="2631034"/>
                <a:gridCol w="3069539"/>
                <a:gridCol w="3288792"/>
              </a:tblGrid>
              <a:tr h="343535">
                <a:tc>
                  <a:txBody>
                    <a:bodyPr/>
                    <a:lstStyle/>
                    <a:p>
                      <a:pPr indent="0" marL="0">
                        <a:lnSpc>
                          <a:spcPts val="1750"/>
                        </a:lnSpc>
                        <a:buNone/>
                      </a:pPr>
                      <a:r>
                        <a:rPr lang="en-US" sz="1250" b="1" dirty="0">
                          <a:solidFill>
                            <a:srgbClr val="F3F7F8"/>
                          </a:solidFill>
                          <a:latin typeface="Inter" pitchFamily="34" charset="0"/>
                          <a:ea typeface="Inter" pitchFamily="34" charset="-122"/>
                          <a:cs typeface="Inter" pitchFamily="34" charset="-120"/>
                        </a:rPr>
                        <a:t>Trabajo</a:t>
                      </a:r>
                      <a:endParaRPr lang="en-US" sz="1250" dirty="0">
                        <a:latin typeface="Inter" charset="0"/>
                        <a:ea typeface="Inter" charset="0"/>
                        <a:cs typeface="Inter" charset="0"/>
                      </a:endParaRPr>
                    </a:p>
                  </a:txBody>
                  <a:tcPr marL="55563" marR="55563" marT="55563" marB="55563" anchor="t">
                    <a:lnL w="12700" cap="flat" cmpd="sng" algn="ctr">
                      <a:solidFill>
                        <a:srgbClr val="C5C2BC"/>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750"/>
                        </a:lnSpc>
                        <a:buNone/>
                      </a:pPr>
                      <a:r>
                        <a:rPr lang="en-US" sz="1250" b="1" dirty="0">
                          <a:solidFill>
                            <a:srgbClr val="F3F7F8"/>
                          </a:solidFill>
                          <a:latin typeface="Inter" pitchFamily="34" charset="0"/>
                          <a:ea typeface="Inter" pitchFamily="34" charset="-122"/>
                          <a:cs typeface="Inter" pitchFamily="34" charset="-120"/>
                        </a:rPr>
                        <a:t>Plataforma de movilidad</a:t>
                      </a:r>
                      <a:endParaRPr lang="en-US" sz="1250" dirty="0">
                        <a:latin typeface="Inter" charset="0"/>
                        <a:ea typeface="Inter" charset="0"/>
                        <a:cs typeface="Inter" charset="0"/>
                      </a:endParaRPr>
                    </a:p>
                  </a:txBody>
                  <a:tcPr marL="55563" marR="55563" marT="55563" marB="55563"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750"/>
                        </a:lnSpc>
                        <a:buNone/>
                      </a:pPr>
                      <a:r>
                        <a:rPr lang="en-US" sz="1250" b="1" dirty="0">
                          <a:solidFill>
                            <a:srgbClr val="F3F7F8"/>
                          </a:solidFill>
                          <a:latin typeface="Inter" pitchFamily="34" charset="0"/>
                          <a:ea typeface="Inter" pitchFamily="34" charset="-122"/>
                          <a:cs typeface="Inter" pitchFamily="34" charset="-120"/>
                        </a:rPr>
                        <a:t>Sensores de navegación</a:t>
                      </a:r>
                      <a:endParaRPr lang="en-US" sz="1250" dirty="0">
                        <a:latin typeface="Inter" charset="0"/>
                        <a:ea typeface="Inter" charset="0"/>
                        <a:cs typeface="Inter" charset="0"/>
                      </a:endParaRPr>
                    </a:p>
                  </a:txBody>
                  <a:tcPr marL="55563" marR="55563" marT="55563" marB="55563"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750"/>
                        </a:lnSpc>
                        <a:buNone/>
                      </a:pPr>
                      <a:r>
                        <a:rPr lang="en-US" sz="1250" b="1" dirty="0">
                          <a:solidFill>
                            <a:srgbClr val="F3F7F8"/>
                          </a:solidFill>
                          <a:latin typeface="Inter" pitchFamily="34" charset="0"/>
                          <a:ea typeface="Inter" pitchFamily="34" charset="-122"/>
                          <a:cs typeface="Inter" pitchFamily="34" charset="-120"/>
                        </a:rPr>
                        <a:t>Obstáculos dinámicos (personas)</a:t>
                      </a:r>
                      <a:endParaRPr lang="en-US" sz="1250" dirty="0">
                        <a:latin typeface="Inter" charset="0"/>
                        <a:ea typeface="Inter" charset="0"/>
                        <a:cs typeface="Inter" charset="0"/>
                      </a:endParaRPr>
                    </a:p>
                  </a:txBody>
                  <a:tcPr marL="55563" marR="55563" marT="55563" marB="55563"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r>
              <a:tr h="565785">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Kim et al.</a:t>
                      </a:r>
                      <a:endParaRPr lang="en-US" sz="1250" dirty="0">
                        <a:latin typeface="Inter" charset="0"/>
                        <a:ea typeface="Inter" charset="0"/>
                        <a:cs typeface="Inter" charset="0"/>
                      </a:endParaRPr>
                    </a:p>
                  </a:txBody>
                  <a:tcPr marL="55563" marR="55563" marT="55563" marB="55563"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Base diferencial (Omorobot R1)</a:t>
                      </a:r>
                      <a:endParaRPr lang="en-US" sz="1250" dirty="0">
                        <a:latin typeface="Inter" charset="0"/>
                        <a:ea typeface="Inter" charset="0"/>
                        <a:cs typeface="Inter" charset="0"/>
                      </a:endParaRPr>
                    </a:p>
                  </a:txBody>
                  <a:tcPr marL="55563" marR="55563" marT="55563" marB="55563"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LiDAR 2D para navegación; LiDAR 3D para monitoreo</a:t>
                      </a:r>
                      <a:endParaRPr lang="en-US" sz="1250" dirty="0">
                        <a:latin typeface="Inter" charset="0"/>
                        <a:ea typeface="Inter" charset="0"/>
                        <a:cs typeface="Inter" charset="0"/>
                      </a:endParaRPr>
                    </a:p>
                  </a:txBody>
                  <a:tcPr marL="55563" marR="55563" marT="55563" marB="55563"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No considerados en las pruebas</a:t>
                      </a:r>
                      <a:endParaRPr lang="en-US" sz="1250" dirty="0">
                        <a:latin typeface="Inter" charset="0"/>
                        <a:ea typeface="Inter" charset="0"/>
                        <a:cs typeface="Inter" charset="0"/>
                      </a:endParaRPr>
                    </a:p>
                  </a:txBody>
                  <a:tcPr marL="55563" marR="55563" marT="55563" marB="55563"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565785">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Nambiappan et al.</a:t>
                      </a:r>
                      <a:endParaRPr lang="en-US" sz="1250" dirty="0">
                        <a:latin typeface="Inter" charset="0"/>
                        <a:ea typeface="Inter" charset="0"/>
                        <a:cs typeface="Inter" charset="0"/>
                      </a:endParaRPr>
                    </a:p>
                  </a:txBody>
                  <a:tcPr marL="55563" marR="55563" marT="55563" marB="55563"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Base omnidireccional con ruedas Mecanum (Ridgeback)</a:t>
                      </a:r>
                      <a:endParaRPr lang="en-US" sz="1250" dirty="0">
                        <a:latin typeface="Inter" charset="0"/>
                        <a:ea typeface="Inter" charset="0"/>
                        <a:cs typeface="Inter" charset="0"/>
                      </a:endParaRPr>
                    </a:p>
                  </a:txBody>
                  <a:tcPr marL="55563" marR="55563" marT="55563" marB="55563"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LiDAR frontal y trasero (270°); cámara RGB-D</a:t>
                      </a:r>
                      <a:endParaRPr lang="en-US" sz="1250" dirty="0">
                        <a:latin typeface="Inter" charset="0"/>
                        <a:ea typeface="Inter" charset="0"/>
                        <a:cs typeface="Inter" charset="0"/>
                      </a:endParaRPr>
                    </a:p>
                  </a:txBody>
                  <a:tcPr marL="55563" marR="55563" marT="55563" marB="55563"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Evita obstáculos; en un ensayo rodeó a un observador humano</a:t>
                      </a:r>
                      <a:endParaRPr lang="en-US" sz="1250" dirty="0">
                        <a:latin typeface="Inter" charset="0"/>
                        <a:ea typeface="Inter" charset="0"/>
                        <a:cs typeface="Inter" charset="0"/>
                      </a:endParaRPr>
                    </a:p>
                  </a:txBody>
                  <a:tcPr marL="55563" marR="55563" marT="55563" marB="55563"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788035">
                <a:tc>
                  <a:txBody>
                    <a:bodyPr/>
                    <a:lstStyle/>
                    <a:p>
                      <a:pPr indent="0" marL="0">
                        <a:lnSpc>
                          <a:spcPts val="1750"/>
                        </a:lnSpc>
                        <a:buNone/>
                      </a:pPr>
                      <a:r>
                        <a:rPr lang="en-US" sz="1250" dirty="0">
                          <a:solidFill>
                            <a:srgbClr val="0B7A7A"/>
                          </a:solidFill>
                          <a:latin typeface="Inter" pitchFamily="34" charset="0"/>
                          <a:ea typeface="Inter" pitchFamily="34" charset="-122"/>
                          <a:cs typeface="Inter" pitchFamily="34" charset="-120"/>
                        </a:rPr>
                        <a:t>Este proyecto</a:t>
                      </a:r>
                      <a:endParaRPr lang="en-US" sz="1250" dirty="0">
                        <a:latin typeface="Inter" charset="0"/>
                        <a:ea typeface="Inter" charset="0"/>
                        <a:cs typeface="Inter" charset="0"/>
                      </a:endParaRPr>
                    </a:p>
                  </a:txBody>
                  <a:tcPr marL="55563" marR="55563" marT="55563" marB="55563" anchor="t">
                    <a:lnL w="12700" cap="flat" cmpd="sng" algn="ctr">
                      <a:solidFill>
                        <a:srgbClr val="C5C2BC"/>
                      </a:solidFill>
                      <a:prstDash val="solid"/>
                      <a:round/>
                      <a:headEnd type="none" w="med" len="med"/>
                      <a:tailEnd type="none" w="med" len="med"/>
                    </a:lnL>
                    <a:lnR w="12700" cap="flat" cmpd="sng" algn="ctr">
                      <a:solidFill>
                        <a:srgbClr val="B2C2BF"/>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2C2BF"/>
                      </a:solidFill>
                      <a:prstDash val="solid"/>
                      <a:round/>
                      <a:headEnd type="none" w="med" len="med"/>
                      <a:tailEnd type="none" w="med" len="med"/>
                    </a:lnB>
                    <a:solidFill>
                      <a:srgbClr val="DFF3F0"/>
                    </a:solidFill>
                  </a:tcPr>
                </a:tc>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Cuatro ruedas Mecanum de 60 mm</a:t>
                      </a:r>
                      <a:endParaRPr lang="en-US" sz="1250" dirty="0">
                        <a:latin typeface="Inter" charset="0"/>
                        <a:ea typeface="Inter" charset="0"/>
                        <a:cs typeface="Inter" charset="0"/>
                      </a:endParaRPr>
                    </a:p>
                  </a:txBody>
                  <a:tcPr marL="55563" marR="55563" marT="55563" marB="55563" anchor="t">
                    <a:lnL w="12700" cap="flat" cmpd="sng" algn="ctr">
                      <a:solidFill>
                        <a:srgbClr val="B2C2BF"/>
                      </a:solidFill>
                      <a:prstDash val="solid"/>
                      <a:round/>
                      <a:headEnd type="none" w="med" len="med"/>
                      <a:tailEnd type="none" w="med" len="med"/>
                    </a:lnL>
                    <a:lnR w="12700" cap="flat" cmpd="sng" algn="ctr">
                      <a:solidFill>
                        <a:srgbClr val="B2C2BF"/>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2C2BF"/>
                      </a:solidFill>
                      <a:prstDash val="solid"/>
                      <a:round/>
                      <a:headEnd type="none" w="med" len="med"/>
                      <a:tailEnd type="none" w="med" len="med"/>
                    </a:lnB>
                    <a:solidFill>
                      <a:srgbClr val="DFF3F0"/>
                    </a:solidFill>
                  </a:tcPr>
                </a:tc>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ToF VL53L0X, ultrasonido HC-SR04 y PIR HC-SR505</a:t>
                      </a:r>
                      <a:endParaRPr lang="en-US" sz="1250" dirty="0">
                        <a:latin typeface="Inter" charset="0"/>
                        <a:ea typeface="Inter" charset="0"/>
                        <a:cs typeface="Inter" charset="0"/>
                      </a:endParaRPr>
                    </a:p>
                  </a:txBody>
                  <a:tcPr marL="55563" marR="55563" marT="55563" marB="55563" anchor="t">
                    <a:lnL w="12700" cap="flat" cmpd="sng" algn="ctr">
                      <a:solidFill>
                        <a:srgbClr val="B2C2BF"/>
                      </a:solidFill>
                      <a:prstDash val="solid"/>
                      <a:round/>
                      <a:headEnd type="none" w="med" len="med"/>
                      <a:tailEnd type="none" w="med" len="med"/>
                    </a:lnL>
                    <a:lnR w="12700" cap="flat" cmpd="sng" algn="ctr">
                      <a:solidFill>
                        <a:srgbClr val="B2C2BF"/>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2C2BF"/>
                      </a:solidFill>
                      <a:prstDash val="solid"/>
                      <a:round/>
                      <a:headEnd type="none" w="med" len="med"/>
                      <a:tailEnd type="none" w="med" len="med"/>
                    </a:lnB>
                    <a:solidFill>
                      <a:srgbClr val="DFF3F0"/>
                    </a:solidFill>
                  </a:tcPr>
                </a:tc>
                <a:tc>
                  <a:txBody>
                    <a:bodyPr/>
                    <a:lstStyle/>
                    <a:p>
                      <a:pPr indent="0" marL="0">
                        <a:lnSpc>
                          <a:spcPts val="1750"/>
                        </a:lnSpc>
                        <a:buNone/>
                      </a:pPr>
                      <a:r>
                        <a:rPr lang="en-US" sz="1250" dirty="0">
                          <a:solidFill>
                            <a:srgbClr val="14213D"/>
                          </a:solidFill>
                          <a:latin typeface="Inter" pitchFamily="34" charset="0"/>
                          <a:ea typeface="Inter" pitchFamily="34" charset="-122"/>
                          <a:cs typeface="Inter" pitchFamily="34" charset="-120"/>
                        </a:rPr>
                        <a:t>Estimación estático vs. dinámico con el PIR, con las limitaciones de la Sección VIII</a:t>
                      </a:r>
                      <a:endParaRPr lang="en-US" sz="1250" dirty="0">
                        <a:latin typeface="Inter" charset="0"/>
                        <a:ea typeface="Inter" charset="0"/>
                        <a:cs typeface="Inter" charset="0"/>
                      </a:endParaRPr>
                    </a:p>
                  </a:txBody>
                  <a:tcPr marL="55563" marR="55563" marT="55563" marB="55563" anchor="t">
                    <a:lnL w="12700" cap="flat" cmpd="sng" algn="ctr">
                      <a:solidFill>
                        <a:srgbClr val="B2C2BF"/>
                      </a:solidFill>
                      <a:prstDash val="solid"/>
                      <a:round/>
                      <a:headEnd type="none" w="med" len="med"/>
                      <a:tailEnd type="none" w="med" len="med"/>
                    </a:lnL>
                    <a:lnR w="12700" cap="flat" cmpd="sng" algn="ctr">
                      <a:solidFill>
                        <a:srgbClr val="B2C2BF"/>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2C2BF"/>
                      </a:solidFill>
                      <a:prstDash val="solid"/>
                      <a:round/>
                      <a:headEnd type="none" w="med" len="med"/>
                      <a:tailEnd type="none" w="med" len="med"/>
                    </a:lnB>
                    <a:solidFill>
                      <a:srgbClr val="DFF3F0"/>
                    </a:solidFill>
                  </a:tcPr>
                </a:tc>
              </a:tr>
            </a:tbl>
          </a:graphicData>
        </a:graphic>
      </p:graphicFrame>
      <p:sp>
        <p:nvSpPr>
          <p:cNvPr id="7" name="Text 3"/>
          <p:cNvSpPr/>
          <p:nvPr/>
        </p:nvSpPr>
        <p:spPr>
          <a:xfrm>
            <a:off x="609600" y="3728721"/>
            <a:ext cx="11301984"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B7C"/>
                </a:solidFill>
                <a:latin typeface="Inter" pitchFamily="34" charset="0"/>
                <a:ea typeface="Inter" pitchFamily="34" charset="-122"/>
                <a:cs typeface="Inter" pitchFamily="34" charset="-120"/>
              </a:rPr>
              <a:t>Tabla 1.</a:t>
            </a:r>
            <a:r>
              <a:rPr lang="en-US" sz="1200" dirty="0">
                <a:solidFill>
                  <a:srgbClr val="5B6B7C"/>
                </a:solidFill>
                <a:latin typeface="Inter" pitchFamily="34" charset="0"/>
                <a:ea typeface="Inter" pitchFamily="34" charset="-122"/>
                <a:cs typeface="Inter" pitchFamily="34" charset="-120"/>
              </a:rPr>
              <a:t> Comparación del prototipo con trabajos hospitalarios relacionados. Fuente: Elaboración propia.</a:t>
            </a:r>
            <a:endParaRPr lang="en-US" sz="1200" dirty="0"/>
          </a:p>
        </p:txBody>
      </p:sp>
      <p:sp>
        <p:nvSpPr>
          <p:cNvPr id="8" name="Shape 4"/>
          <p:cNvSpPr/>
          <p:nvPr/>
        </p:nvSpPr>
        <p:spPr>
          <a:xfrm>
            <a:off x="609600" y="4104642"/>
            <a:ext cx="10972800" cy="741680"/>
          </a:xfrm>
          <a:prstGeom prst="roundRect">
            <a:avLst>
              <a:gd name="adj" fmla="val 13699"/>
            </a:avLst>
          </a:prstGeom>
          <a:solidFill>
            <a:srgbClr val="0B2239"/>
          </a:solidFill>
          <a:ln/>
        </p:spPr>
      </p:sp>
      <p:pic>
        <p:nvPicPr>
          <p:cNvPr id="9" name="Image 1" descr="Lightbulb">    </p:cNvPr>
          <p:cNvPicPr>
            <a:picLocks noChangeAspect="1"/>
          </p:cNvPicPr>
          <p:nvPr/>
        </p:nvPicPr>
        <p:blipFill>
          <a:blip r:embed="rId2"/>
          <a:srcRect l="0" r="0" t="0" b="0"/>
          <a:stretch/>
        </p:blipFill>
        <p:spPr>
          <a:xfrm>
            <a:off x="812800" y="4323079"/>
            <a:ext cx="304800" cy="304800"/>
          </a:xfrm>
          <a:prstGeom prst="rect">
            <a:avLst/>
          </a:prstGeom>
        </p:spPr>
      </p:pic>
      <p:sp>
        <p:nvSpPr>
          <p:cNvPr id="10" name="Text 5"/>
          <p:cNvSpPr/>
          <p:nvPr/>
        </p:nvSpPr>
        <p:spPr>
          <a:xfrm>
            <a:off x="1270000" y="4244342"/>
            <a:ext cx="10412476"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7F8"/>
                </a:solidFill>
                <a:latin typeface="Inter" pitchFamily="34" charset="0"/>
                <a:ea typeface="Inter" pitchFamily="34" charset="-122"/>
                <a:cs typeface="Inter" pitchFamily="34" charset="-120"/>
              </a:rPr>
              <a:t>Este proyecto propone una alternativa de bajo costo: tracción Mecanum de 60 mm, sensado ToF + ultrasonido + PIR y estimación persona/objeto con el PIR.</a:t>
            </a:r>
            <a:endParaRPr lang="en-US" sz="1300" dirty="0"/>
          </a:p>
        </p:txBody>
      </p:sp>
      <p:sp>
        <p:nvSpPr>
          <p:cNvPr id="11" name="Text 6"/>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Tabla 1 del informe del TP.</a:t>
            </a:r>
            <a:endParaRPr lang="en-US" sz="1200" dirty="0"/>
          </a:p>
        </p:txBody>
      </p:sp>
      <p:sp>
        <p:nvSpPr>
          <p:cNvPr id="12" name="Text 7"/>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09 / 32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III · APORTES DE INNOVACIÓN · 1 DE 4</a:t>
            </a:r>
            <a:endParaRPr lang="en-US" sz="1200" dirty="0"/>
          </a:p>
        </p:txBody>
      </p:sp>
      <p:sp>
        <p:nvSpPr>
          <p:cNvPr id="5" name="Text 2"/>
          <p:cNvSpPr/>
          <p:nvPr>
            <p:ph type="title"/>
          </p:nvPr>
        </p:nvSpPr>
        <p:spPr>
          <a:xfrm>
            <a:off x="609600" y="708664"/>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Fusión sensorial y evasión a 90°</a:t>
            </a:r>
            <a:endParaRPr lang="en-US" sz="2800" dirty="0"/>
          </a:p>
        </p:txBody>
      </p:sp>
      <p:sp>
        <p:nvSpPr>
          <p:cNvPr id="6" name="Shape 3"/>
          <p:cNvSpPr/>
          <p:nvPr/>
        </p:nvSpPr>
        <p:spPr>
          <a:xfrm>
            <a:off x="609600" y="1277621"/>
            <a:ext cx="2540000" cy="2507298"/>
          </a:xfrm>
          <a:prstGeom prst="roundRect">
            <a:avLst>
              <a:gd name="adj" fmla="val 4052"/>
            </a:avLst>
          </a:prstGeom>
          <a:solidFill>
            <a:srgbClr val="0B2239"/>
          </a:solidFill>
          <a:ln/>
        </p:spPr>
      </p:sp>
      <p:sp>
        <p:nvSpPr>
          <p:cNvPr id="7" name="Text 4"/>
          <p:cNvSpPr/>
          <p:nvPr/>
        </p:nvSpPr>
        <p:spPr>
          <a:xfrm>
            <a:off x="787400" y="1718785"/>
            <a:ext cx="224993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3FC8B8"/>
                </a:solidFill>
                <a:latin typeface="Montserrat" pitchFamily="34" charset="0"/>
                <a:ea typeface="Montserrat" pitchFamily="34" charset="-122"/>
                <a:cs typeface="Montserrat" pitchFamily="34" charset="-120"/>
              </a:rPr>
              <a:t>Sensado</a:t>
            </a:r>
            <a:endParaRPr lang="en-US" sz="1600" dirty="0"/>
          </a:p>
        </p:txBody>
      </p:sp>
      <p:sp>
        <p:nvSpPr>
          <p:cNvPr id="8" name="Text 5"/>
          <p:cNvSpPr/>
          <p:nvPr/>
        </p:nvSpPr>
        <p:spPr>
          <a:xfrm>
            <a:off x="787400" y="2051527"/>
            <a:ext cx="224993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3F7F8"/>
                </a:solidFill>
                <a:latin typeface="Inter" pitchFamily="34" charset="0"/>
                <a:ea typeface="Inter" pitchFamily="34" charset="-122"/>
                <a:cs typeface="Inter" pitchFamily="34" charset="-120"/>
              </a:rPr>
              <a:t>ToF VL53L0X</a:t>
            </a:r>
            <a:endParaRPr lang="en-US" sz="1300" dirty="0"/>
          </a:p>
          <a:p>
            <a:pPr algn="l" indent="0" marL="0">
              <a:lnSpc>
                <a:spcPts val="1755"/>
              </a:lnSpc>
              <a:buNone/>
            </a:pPr>
            <a:r>
              <a:rPr lang="en-US" sz="1300" dirty="0">
                <a:solidFill>
                  <a:srgbClr val="F3F7F8"/>
                </a:solidFill>
                <a:latin typeface="Inter" pitchFamily="34" charset="0"/>
                <a:ea typeface="Inter" pitchFamily="34" charset="-122"/>
                <a:cs typeface="Inter" pitchFamily="34" charset="-120"/>
              </a:rPr>
              <a:t>(láser, I²C)</a:t>
            </a:r>
            <a:endParaRPr lang="en-US" sz="1300" dirty="0"/>
          </a:p>
        </p:txBody>
      </p:sp>
      <p:sp>
        <p:nvSpPr>
          <p:cNvPr id="9" name="Text 6"/>
          <p:cNvSpPr/>
          <p:nvPr/>
        </p:nvSpPr>
        <p:spPr>
          <a:xfrm>
            <a:off x="787400" y="2586199"/>
            <a:ext cx="2249932"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3F7F8"/>
                </a:solidFill>
                <a:latin typeface="Inter" pitchFamily="34" charset="0"/>
                <a:ea typeface="Inter" pitchFamily="34" charset="-122"/>
                <a:cs typeface="Inter" pitchFamily="34" charset="-120"/>
              </a:rPr>
              <a:t>Ultrasonido HC-SR04</a:t>
            </a:r>
            <a:endParaRPr lang="en-US" sz="1300" dirty="0"/>
          </a:p>
        </p:txBody>
      </p:sp>
      <p:sp>
        <p:nvSpPr>
          <p:cNvPr id="10" name="Text 7"/>
          <p:cNvSpPr/>
          <p:nvPr/>
        </p:nvSpPr>
        <p:spPr>
          <a:xfrm>
            <a:off x="787400" y="2897981"/>
            <a:ext cx="224993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3F7F8"/>
                </a:solidFill>
                <a:latin typeface="Inter" pitchFamily="34" charset="0"/>
                <a:ea typeface="Inter" pitchFamily="34" charset="-122"/>
                <a:cs typeface="Inter" pitchFamily="34" charset="-120"/>
              </a:rPr>
              <a:t>PIR HC-SR505</a:t>
            </a:r>
            <a:endParaRPr lang="en-US" sz="1300" dirty="0"/>
          </a:p>
          <a:p>
            <a:pPr algn="l" indent="0" marL="0">
              <a:lnSpc>
                <a:spcPts val="1755"/>
              </a:lnSpc>
              <a:buNone/>
            </a:pPr>
            <a:r>
              <a:rPr lang="en-US" sz="1300" dirty="0">
                <a:solidFill>
                  <a:srgbClr val="F3F7F8"/>
                </a:solidFill>
                <a:latin typeface="Inter" pitchFamily="34" charset="0"/>
                <a:ea typeface="Inter" pitchFamily="34" charset="-122"/>
                <a:cs typeface="Inter" pitchFamily="34" charset="-120"/>
              </a:rPr>
              <a:t>(firma térmica)</a:t>
            </a:r>
            <a:endParaRPr lang="en-US" sz="1300" dirty="0"/>
          </a:p>
        </p:txBody>
      </p:sp>
      <p:pic>
        <p:nvPicPr>
          <p:cNvPr id="11" name="Image 1" descr="arrow-right">    </p:cNvPr>
          <p:cNvPicPr>
            <a:picLocks noChangeAspect="1"/>
          </p:cNvPicPr>
          <p:nvPr/>
        </p:nvPicPr>
        <p:blipFill>
          <a:blip r:embed="rId2"/>
          <a:srcRect l="0" r="0" t="0" b="0"/>
          <a:stretch/>
        </p:blipFill>
        <p:spPr>
          <a:xfrm>
            <a:off x="3276600" y="2436019"/>
            <a:ext cx="355600" cy="190500"/>
          </a:xfrm>
          <a:prstGeom prst="rect">
            <a:avLst/>
          </a:prstGeom>
        </p:spPr>
      </p:pic>
      <p:sp>
        <p:nvSpPr>
          <p:cNvPr id="12" name="Shape 8"/>
          <p:cNvSpPr/>
          <p:nvPr/>
        </p:nvSpPr>
        <p:spPr>
          <a:xfrm>
            <a:off x="3765550" y="1283971"/>
            <a:ext cx="2400300" cy="2494598"/>
          </a:xfrm>
          <a:prstGeom prst="roundRect">
            <a:avLst>
              <a:gd name="adj" fmla="val 3968"/>
            </a:avLst>
          </a:prstGeom>
          <a:solidFill>
            <a:srgbClr val="E4F4F1"/>
          </a:solidFill>
          <a:ln w="12700">
            <a:solidFill>
              <a:srgbClr val="0B7A7A"/>
            </a:solidFill>
            <a:prstDash val="solid"/>
          </a:ln>
        </p:spPr>
      </p:sp>
      <p:pic>
        <p:nvPicPr>
          <p:cNvPr id="13" name="Image 2" descr="Search">    </p:cNvPr>
          <p:cNvPicPr>
            <a:picLocks noChangeAspect="1"/>
          </p:cNvPicPr>
          <p:nvPr/>
        </p:nvPicPr>
        <p:blipFill>
          <a:blip r:embed="rId3"/>
          <a:srcRect l="0" r="0" t="0" b="0"/>
          <a:stretch/>
        </p:blipFill>
        <p:spPr>
          <a:xfrm>
            <a:off x="4787900" y="1927386"/>
            <a:ext cx="355600" cy="355600"/>
          </a:xfrm>
          <a:prstGeom prst="rect">
            <a:avLst/>
          </a:prstGeom>
        </p:spPr>
      </p:pic>
      <p:sp>
        <p:nvSpPr>
          <p:cNvPr id="14" name="Text 9"/>
          <p:cNvSpPr/>
          <p:nvPr/>
        </p:nvSpPr>
        <p:spPr>
          <a:xfrm>
            <a:off x="3772988" y="2371886"/>
            <a:ext cx="2385346" cy="254000"/>
          </a:xfrm>
          <a:prstGeom prst="rect">
            <a:avLst/>
          </a:prstGeom>
          <a:noFill/>
          <a:ln/>
        </p:spPr>
        <p:txBody>
          <a:bodyPr wrap="square" lIns="0" tIns="0" rIns="0" bIns="0" rtlCol="0" anchor="t">
            <a:normAutofit/>
          </a:bodyPr>
          <a:lstStyle/>
          <a:p>
            <a:pPr algn="ctr" indent="0" marL="0">
              <a:lnSpc>
                <a:spcPts val="1800"/>
              </a:lnSpc>
              <a:buNone/>
            </a:pPr>
            <a:r>
              <a:rPr lang="en-US" sz="1500" b="1" dirty="0">
                <a:solidFill>
                  <a:srgbClr val="14213D"/>
                </a:solidFill>
                <a:latin typeface="Montserrat" pitchFamily="34" charset="0"/>
                <a:ea typeface="Montserrat" pitchFamily="34" charset="-122"/>
                <a:cs typeface="Montserrat" pitchFamily="34" charset="-120"/>
              </a:rPr>
              <a:t>Algoritmo de fusión</a:t>
            </a:r>
            <a:endParaRPr lang="en-US" sz="1500" dirty="0"/>
          </a:p>
        </p:txBody>
      </p:sp>
      <p:sp>
        <p:nvSpPr>
          <p:cNvPr id="15" name="Text 10"/>
          <p:cNvSpPr/>
          <p:nvPr/>
        </p:nvSpPr>
        <p:spPr>
          <a:xfrm>
            <a:off x="4013076" y="2689386"/>
            <a:ext cx="1905248" cy="471170"/>
          </a:xfrm>
          <a:prstGeom prst="rect">
            <a:avLst/>
          </a:prstGeom>
          <a:noFill/>
          <a:ln/>
        </p:spPr>
        <p:txBody>
          <a:bodyPr wrap="square" lIns="0" tIns="0" rIns="0" bIns="0" rtlCol="0" anchor="t">
            <a:normAutofit/>
          </a:bodyPr>
          <a:lstStyle/>
          <a:p>
            <a:pPr algn="ctr" indent="0" marL="0">
              <a:lnSpc>
                <a:spcPts val="1755"/>
              </a:lnSpc>
              <a:buNone/>
            </a:pPr>
            <a:r>
              <a:rPr lang="en-US" sz="1300" dirty="0">
                <a:solidFill>
                  <a:srgbClr val="14213D"/>
                </a:solidFill>
                <a:latin typeface="Inter" pitchFamily="34" charset="0"/>
                <a:ea typeface="Inter" pitchFamily="34" charset="-122"/>
                <a:cs typeface="Inter" pitchFamily="34" charset="-120"/>
              </a:rPr>
              <a:t>¿Hay proximidad física?</a:t>
            </a:r>
            <a:endParaRPr lang="en-US" sz="1300" dirty="0"/>
          </a:p>
          <a:p>
            <a:pPr algn="ctr" indent="0" marL="0">
              <a:lnSpc>
                <a:spcPts val="1755"/>
              </a:lnSpc>
              <a:buNone/>
            </a:pPr>
            <a:r>
              <a:rPr lang="en-US" sz="1300" dirty="0">
                <a:solidFill>
                  <a:srgbClr val="14213D"/>
                </a:solidFill>
                <a:latin typeface="Inter" pitchFamily="34" charset="0"/>
                <a:ea typeface="Inter" pitchFamily="34" charset="-122"/>
                <a:cs typeface="Inter" pitchFamily="34" charset="-120"/>
              </a:rPr>
              <a:t>¿Hay señal PIR?</a:t>
            </a:r>
            <a:endParaRPr lang="en-US" sz="1300" dirty="0"/>
          </a:p>
        </p:txBody>
      </p:sp>
      <p:pic>
        <p:nvPicPr>
          <p:cNvPr id="16" name="Image 3" descr="arrow-right">    </p:cNvPr>
          <p:cNvPicPr>
            <a:picLocks noChangeAspect="1"/>
          </p:cNvPicPr>
          <p:nvPr/>
        </p:nvPicPr>
        <p:blipFill>
          <a:blip r:embed="rId4"/>
          <a:srcRect l="0" r="0" t="0" b="0"/>
          <a:stretch/>
        </p:blipFill>
        <p:spPr>
          <a:xfrm>
            <a:off x="6299200" y="2436019"/>
            <a:ext cx="355600" cy="190500"/>
          </a:xfrm>
          <a:prstGeom prst="rect">
            <a:avLst/>
          </a:prstGeom>
        </p:spPr>
      </p:pic>
      <p:sp>
        <p:nvSpPr>
          <p:cNvPr id="17" name="Shape 11"/>
          <p:cNvSpPr/>
          <p:nvPr/>
        </p:nvSpPr>
        <p:spPr>
          <a:xfrm>
            <a:off x="6788150" y="1283971"/>
            <a:ext cx="4787900" cy="1177449"/>
          </a:xfrm>
          <a:prstGeom prst="roundRect">
            <a:avLst>
              <a:gd name="adj" fmla="val 8090"/>
            </a:avLst>
          </a:prstGeom>
          <a:solidFill>
            <a:srgbClr val="FDFBF7"/>
          </a:solidFill>
          <a:ln w="12700">
            <a:solidFill>
              <a:srgbClr val="0B7A7A"/>
            </a:solidFill>
            <a:prstDash val="solid"/>
          </a:ln>
        </p:spPr>
      </p:sp>
      <p:sp>
        <p:nvSpPr>
          <p:cNvPr id="18" name="Text 12"/>
          <p:cNvSpPr/>
          <p:nvPr/>
        </p:nvSpPr>
        <p:spPr>
          <a:xfrm>
            <a:off x="6969760" y="1481057"/>
            <a:ext cx="45574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7A"/>
                </a:solidFill>
                <a:latin typeface="Inter" pitchFamily="34" charset="0"/>
                <a:ea typeface="Inter" pitchFamily="34" charset="-122"/>
                <a:cs typeface="Inter" pitchFamily="34" charset="-120"/>
              </a:rPr>
              <a:t>PROXIMIDAD + PIR</a:t>
            </a:r>
            <a:endParaRPr lang="en-US" sz="1200" dirty="0"/>
          </a:p>
        </p:txBody>
      </p:sp>
      <p:sp>
        <p:nvSpPr>
          <p:cNvPr id="19" name="Text 13"/>
          <p:cNvSpPr/>
          <p:nvPr/>
        </p:nvSpPr>
        <p:spPr>
          <a:xfrm>
            <a:off x="6969760" y="1757921"/>
            <a:ext cx="455742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Montserrat" pitchFamily="34" charset="0"/>
                <a:ea typeface="Montserrat" pitchFamily="34" charset="-122"/>
                <a:cs typeface="Montserrat" pitchFamily="34" charset="-120"/>
              </a:rPr>
              <a:t>Obstáculo dinámico biológico</a:t>
            </a:r>
            <a:endParaRPr lang="en-US" sz="1500" dirty="0"/>
          </a:p>
        </p:txBody>
      </p:sp>
      <p:sp>
        <p:nvSpPr>
          <p:cNvPr id="20" name="Text 14"/>
          <p:cNvSpPr/>
          <p:nvPr/>
        </p:nvSpPr>
        <p:spPr>
          <a:xfrm>
            <a:off x="6969760" y="2050021"/>
            <a:ext cx="4557420"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3B4A5C"/>
                </a:solidFill>
                <a:latin typeface="Inter" pitchFamily="34" charset="0"/>
                <a:ea typeface="Inter" pitchFamily="34" charset="-122"/>
                <a:cs typeface="Inter" pitchFamily="34" charset="-120"/>
              </a:rPr>
              <a:t>Posible paciente o personal médico: frenado de cortesía.</a:t>
            </a:r>
            <a:endParaRPr lang="en-US" sz="1250" dirty="0"/>
          </a:p>
        </p:txBody>
      </p:sp>
      <p:sp>
        <p:nvSpPr>
          <p:cNvPr id="21" name="Shape 15"/>
          <p:cNvSpPr/>
          <p:nvPr/>
        </p:nvSpPr>
        <p:spPr>
          <a:xfrm>
            <a:off x="6788150" y="2601119"/>
            <a:ext cx="4787900" cy="1177449"/>
          </a:xfrm>
          <a:prstGeom prst="roundRect">
            <a:avLst>
              <a:gd name="adj" fmla="val 8090"/>
            </a:avLst>
          </a:prstGeom>
          <a:solidFill>
            <a:srgbClr val="FDFBF7"/>
          </a:solidFill>
          <a:ln w="12700">
            <a:solidFill>
              <a:srgbClr val="B8412B"/>
            </a:solidFill>
            <a:prstDash val="solid"/>
          </a:ln>
        </p:spPr>
      </p:sp>
      <p:sp>
        <p:nvSpPr>
          <p:cNvPr id="22" name="Text 16"/>
          <p:cNvSpPr/>
          <p:nvPr/>
        </p:nvSpPr>
        <p:spPr>
          <a:xfrm>
            <a:off x="6969760" y="2744632"/>
            <a:ext cx="4557420" cy="212487"/>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B8412B"/>
                </a:solidFill>
                <a:latin typeface="Inter" pitchFamily="34" charset="0"/>
                <a:ea typeface="Inter" pitchFamily="34" charset="-122"/>
                <a:cs typeface="Inter" pitchFamily="34" charset="-120"/>
              </a:rPr>
              <a:t>PROXIMIDAD SIN PIR</a:t>
            </a:r>
            <a:endParaRPr lang="en-US" sz="1050" dirty="0"/>
          </a:p>
        </p:txBody>
      </p:sp>
      <p:sp>
        <p:nvSpPr>
          <p:cNvPr id="23" name="Text 17"/>
          <p:cNvSpPr/>
          <p:nvPr/>
        </p:nvSpPr>
        <p:spPr>
          <a:xfrm>
            <a:off x="6969760" y="2995216"/>
            <a:ext cx="4557420" cy="225901"/>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4213D"/>
                </a:solidFill>
                <a:latin typeface="Montserrat" pitchFamily="34" charset="0"/>
                <a:ea typeface="Montserrat" pitchFamily="34" charset="-122"/>
                <a:cs typeface="Montserrat" pitchFamily="34" charset="-120"/>
              </a:rPr>
              <a:t>Obstáculo estático inanimado</a:t>
            </a:r>
            <a:endParaRPr lang="en-US" sz="1350" dirty="0"/>
          </a:p>
        </p:txBody>
      </p:sp>
      <p:sp>
        <p:nvSpPr>
          <p:cNvPr id="24" name="Text 18"/>
          <p:cNvSpPr/>
          <p:nvPr/>
        </p:nvSpPr>
        <p:spPr>
          <a:xfrm>
            <a:off x="6969760" y="3259218"/>
            <a:ext cx="4557420" cy="401241"/>
          </a:xfrm>
          <a:prstGeom prst="rect">
            <a:avLst/>
          </a:prstGeom>
          <a:noFill/>
          <a:ln/>
        </p:spPr>
        <p:txBody>
          <a:bodyPr wrap="square" lIns="0" tIns="0" rIns="0" bIns="0" rtlCol="0" anchor="t">
            <a:normAutofit/>
          </a:bodyPr>
          <a:lstStyle/>
          <a:p>
            <a:pPr algn="l" indent="0" marL="0">
              <a:lnSpc>
                <a:spcPts val="1482"/>
              </a:lnSpc>
              <a:buNone/>
            </a:pPr>
            <a:r>
              <a:rPr lang="en-US" sz="1098" dirty="0">
                <a:solidFill>
                  <a:srgbClr val="3B4A5C"/>
                </a:solidFill>
                <a:latin typeface="Inter" pitchFamily="34" charset="0"/>
                <a:ea typeface="Inter" pitchFamily="34" charset="-122"/>
                <a:cs typeface="Inter" pitchFamily="34" charset="-120"/>
              </a:rPr>
              <a:t>Por ejemplo, una camilla estacionada: traslación lateral a 90° sin giro frontal amplio.</a:t>
            </a:r>
            <a:endParaRPr lang="en-US" sz="1098" dirty="0"/>
          </a:p>
        </p:txBody>
      </p:sp>
      <p:sp>
        <p:nvSpPr>
          <p:cNvPr id="25" name="Shape 19"/>
          <p:cNvSpPr/>
          <p:nvPr/>
        </p:nvSpPr>
        <p:spPr>
          <a:xfrm>
            <a:off x="609600" y="3962716"/>
            <a:ext cx="10972800" cy="640080"/>
          </a:xfrm>
          <a:prstGeom prst="roundRect">
            <a:avLst>
              <a:gd name="adj" fmla="val 15873"/>
            </a:avLst>
          </a:prstGeom>
          <a:solidFill>
            <a:srgbClr val="E4F4F1"/>
          </a:solidFill>
          <a:ln/>
        </p:spPr>
      </p:sp>
      <p:pic>
        <p:nvPicPr>
          <p:cNvPr id="26" name="Image 4" descr="Warning">    </p:cNvPr>
          <p:cNvPicPr>
            <a:picLocks noChangeAspect="1"/>
          </p:cNvPicPr>
          <p:nvPr/>
        </p:nvPicPr>
        <p:blipFill>
          <a:blip r:embed="rId5"/>
          <a:srcRect l="0" r="0" t="0" b="0"/>
          <a:stretch/>
        </p:blipFill>
        <p:spPr>
          <a:xfrm>
            <a:off x="787400" y="4155759"/>
            <a:ext cx="254000" cy="254000"/>
          </a:xfrm>
          <a:prstGeom prst="rect">
            <a:avLst/>
          </a:prstGeom>
        </p:spPr>
      </p:pic>
      <p:sp>
        <p:nvSpPr>
          <p:cNvPr id="27" name="Text 20"/>
          <p:cNvSpPr/>
          <p:nvPr/>
        </p:nvSpPr>
        <p:spPr>
          <a:xfrm>
            <a:off x="1168400" y="4077016"/>
            <a:ext cx="10543286"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13D"/>
                </a:solidFill>
                <a:latin typeface="Inter" pitchFamily="34" charset="0"/>
                <a:ea typeface="Inter" pitchFamily="34" charset="-122"/>
                <a:cs typeface="Inter" pitchFamily="34" charset="-120"/>
              </a:rPr>
              <a:t>Los sensores no identifican de forma inequívoca a una persona o un objeto: la clasificación es una estimación y se eligen respuestas conservadoras [3], [5].</a:t>
            </a:r>
            <a:endParaRPr lang="en-US" sz="1200" dirty="0"/>
          </a:p>
        </p:txBody>
      </p:sp>
      <p:sp>
        <p:nvSpPr>
          <p:cNvPr id="28" name="Text 21"/>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Refs. [3] Scientific Reports (2026) · [5] Technologies (2022)</a:t>
            </a:r>
            <a:endParaRPr lang="en-US" sz="1200" dirty="0"/>
          </a:p>
        </p:txBody>
      </p:sp>
      <p:sp>
        <p:nvSpPr>
          <p:cNvPr id="29" name="Text 22"/>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10 / 32</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III · APORTES DE INNOVACIÓN · 2 DE 4</a:t>
            </a:r>
            <a:endParaRPr lang="en-US" sz="1200" dirty="0"/>
          </a:p>
        </p:txBody>
      </p:sp>
      <p:sp>
        <p:nvSpPr>
          <p:cNvPr id="5" name="Text 2"/>
          <p:cNvSpPr/>
          <p:nvPr>
            <p:ph type="title"/>
          </p:nvPr>
        </p:nvSpPr>
        <p:spPr>
          <a:xfrm>
            <a:off x="609600" y="708664"/>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Arquitectura dual asíncrona</a:t>
            </a:r>
            <a:endParaRPr lang="en-US" sz="2800" dirty="0"/>
          </a:p>
        </p:txBody>
      </p:sp>
      <p:sp>
        <p:nvSpPr>
          <p:cNvPr id="6" name="Shape 3"/>
          <p:cNvSpPr/>
          <p:nvPr/>
        </p:nvSpPr>
        <p:spPr>
          <a:xfrm>
            <a:off x="609600" y="1277621"/>
            <a:ext cx="4064000" cy="2273300"/>
          </a:xfrm>
          <a:prstGeom prst="roundRect">
            <a:avLst>
              <a:gd name="adj" fmla="val 4469"/>
            </a:avLst>
          </a:prstGeom>
          <a:solidFill>
            <a:srgbClr val="0B2239"/>
          </a:solidFill>
          <a:ln/>
        </p:spPr>
      </p:sp>
      <p:sp>
        <p:nvSpPr>
          <p:cNvPr id="7" name="Text 4"/>
          <p:cNvSpPr/>
          <p:nvPr/>
        </p:nvSpPr>
        <p:spPr>
          <a:xfrm>
            <a:off x="812800" y="1455421"/>
            <a:ext cx="376732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C8B8"/>
                </a:solidFill>
                <a:latin typeface="Inter" pitchFamily="34" charset="0"/>
                <a:ea typeface="Inter" pitchFamily="34" charset="-122"/>
                <a:cs typeface="Inter" pitchFamily="34" charset="-120"/>
              </a:rPr>
              <a:t>CONTROL EN TIEMPO REAL · 5 V</a:t>
            </a:r>
            <a:endParaRPr lang="en-US" sz="1200" dirty="0"/>
          </a:p>
        </p:txBody>
      </p:sp>
      <p:sp>
        <p:nvSpPr>
          <p:cNvPr id="8" name="Text 5"/>
          <p:cNvSpPr/>
          <p:nvPr/>
        </p:nvSpPr>
        <p:spPr>
          <a:xfrm>
            <a:off x="812800" y="1770379"/>
            <a:ext cx="376732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7F8"/>
                </a:solidFill>
                <a:latin typeface="Montserrat" pitchFamily="34" charset="0"/>
                <a:ea typeface="Montserrat" pitchFamily="34" charset="-122"/>
                <a:cs typeface="Montserrat" pitchFamily="34" charset="-120"/>
              </a:rPr>
              <a:t>PIC18F47Q10</a:t>
            </a:r>
            <a:endParaRPr lang="en-US" sz="2000" dirty="0"/>
          </a:p>
        </p:txBody>
      </p:sp>
      <p:sp>
        <p:nvSpPr>
          <p:cNvPr id="9" name="Shape 6"/>
          <p:cNvSpPr/>
          <p:nvPr/>
        </p:nvSpPr>
        <p:spPr>
          <a:xfrm>
            <a:off x="825500" y="2176779"/>
            <a:ext cx="0" cy="222885"/>
          </a:xfrm>
          <a:prstGeom prst="line">
            <a:avLst/>
          </a:prstGeom>
          <a:noFill/>
          <a:ln w="25400">
            <a:solidFill>
              <a:srgbClr val="3FC8B8"/>
            </a:solidFill>
            <a:prstDash val="solid"/>
          </a:ln>
        </p:spPr>
      </p:sp>
      <p:sp>
        <p:nvSpPr>
          <p:cNvPr id="10" name="Text 7"/>
          <p:cNvSpPr/>
          <p:nvPr/>
        </p:nvSpPr>
        <p:spPr>
          <a:xfrm>
            <a:off x="939800" y="2176779"/>
            <a:ext cx="363651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CE3"/>
                </a:solidFill>
                <a:latin typeface="Inter" pitchFamily="34" charset="0"/>
                <a:ea typeface="Inter" pitchFamily="34" charset="-122"/>
                <a:cs typeface="Inter" pitchFamily="34" charset="-120"/>
              </a:rPr>
              <a:t>Control determinista en tiempo real</a:t>
            </a:r>
            <a:endParaRPr lang="en-US" sz="1300" dirty="0"/>
          </a:p>
        </p:txBody>
      </p:sp>
      <p:sp>
        <p:nvSpPr>
          <p:cNvPr id="11" name="Shape 8"/>
          <p:cNvSpPr/>
          <p:nvPr/>
        </p:nvSpPr>
        <p:spPr>
          <a:xfrm>
            <a:off x="825500" y="2501267"/>
            <a:ext cx="0" cy="222885"/>
          </a:xfrm>
          <a:prstGeom prst="line">
            <a:avLst/>
          </a:prstGeom>
          <a:noFill/>
          <a:ln w="25400">
            <a:solidFill>
              <a:srgbClr val="3FC8B8"/>
            </a:solidFill>
            <a:prstDash val="solid"/>
          </a:ln>
        </p:spPr>
      </p:sp>
      <p:sp>
        <p:nvSpPr>
          <p:cNvPr id="12" name="Text 9"/>
          <p:cNvSpPr/>
          <p:nvPr/>
        </p:nvSpPr>
        <p:spPr>
          <a:xfrm>
            <a:off x="939800" y="2501267"/>
            <a:ext cx="363651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CE3"/>
                </a:solidFill>
                <a:latin typeface="Inter" pitchFamily="34" charset="0"/>
                <a:ea typeface="Inter" pitchFamily="34" charset="-122"/>
                <a:cs typeface="Inter" pitchFamily="34" charset="-120"/>
              </a:rPr>
              <a:t>Cuatro señales PWM independientes</a:t>
            </a:r>
            <a:endParaRPr lang="en-US" sz="1300" dirty="0"/>
          </a:p>
        </p:txBody>
      </p:sp>
      <p:sp>
        <p:nvSpPr>
          <p:cNvPr id="13" name="Shape 10"/>
          <p:cNvSpPr/>
          <p:nvPr/>
        </p:nvSpPr>
        <p:spPr>
          <a:xfrm>
            <a:off x="825500" y="2825750"/>
            <a:ext cx="0" cy="222885"/>
          </a:xfrm>
          <a:prstGeom prst="line">
            <a:avLst/>
          </a:prstGeom>
          <a:noFill/>
          <a:ln w="25400">
            <a:solidFill>
              <a:srgbClr val="3FC8B8"/>
            </a:solidFill>
            <a:prstDash val="solid"/>
          </a:ln>
        </p:spPr>
      </p:sp>
      <p:sp>
        <p:nvSpPr>
          <p:cNvPr id="14" name="Text 11"/>
          <p:cNvSpPr/>
          <p:nvPr/>
        </p:nvSpPr>
        <p:spPr>
          <a:xfrm>
            <a:off x="939800" y="2825750"/>
            <a:ext cx="363651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CE3"/>
                </a:solidFill>
                <a:latin typeface="Inter" pitchFamily="34" charset="0"/>
                <a:ea typeface="Inter" pitchFamily="34" charset="-122"/>
                <a:cs typeface="Inter" pitchFamily="34" charset="-120"/>
              </a:rPr>
              <a:t>Muestreo de entradas analógicas (ADC)</a:t>
            </a:r>
            <a:endParaRPr lang="en-US" sz="1300" dirty="0"/>
          </a:p>
        </p:txBody>
      </p:sp>
      <p:sp>
        <p:nvSpPr>
          <p:cNvPr id="15" name="Shape 12"/>
          <p:cNvSpPr/>
          <p:nvPr/>
        </p:nvSpPr>
        <p:spPr>
          <a:xfrm>
            <a:off x="825500" y="3150239"/>
            <a:ext cx="0" cy="222885"/>
          </a:xfrm>
          <a:prstGeom prst="line">
            <a:avLst/>
          </a:prstGeom>
          <a:noFill/>
          <a:ln w="25400">
            <a:solidFill>
              <a:srgbClr val="3FC8B8"/>
            </a:solidFill>
            <a:prstDash val="solid"/>
          </a:ln>
        </p:spPr>
      </p:sp>
      <p:sp>
        <p:nvSpPr>
          <p:cNvPr id="16" name="Text 13"/>
          <p:cNvSpPr/>
          <p:nvPr/>
        </p:nvSpPr>
        <p:spPr>
          <a:xfrm>
            <a:off x="939800" y="3150239"/>
            <a:ext cx="363651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DCE3"/>
                </a:solidFill>
                <a:latin typeface="Inter" pitchFamily="34" charset="0"/>
                <a:ea typeface="Inter" pitchFamily="34" charset="-122"/>
                <a:cs typeface="Inter" pitchFamily="34" charset="-120"/>
              </a:rPr>
              <a:t>Lazos de navegación y máquina de estados</a:t>
            </a:r>
            <a:endParaRPr lang="en-US" sz="1300" dirty="0"/>
          </a:p>
        </p:txBody>
      </p:sp>
      <p:sp>
        <p:nvSpPr>
          <p:cNvPr id="17" name="Text 14"/>
          <p:cNvSpPr/>
          <p:nvPr/>
        </p:nvSpPr>
        <p:spPr>
          <a:xfrm>
            <a:off x="5695188" y="1643379"/>
            <a:ext cx="801624" cy="345440"/>
          </a:xfrm>
          <a:prstGeom prst="rect">
            <a:avLst/>
          </a:prstGeom>
          <a:noFill/>
          <a:ln/>
        </p:spPr>
        <p:txBody>
          <a:bodyPr wrap="square" lIns="0" tIns="0" rIns="0" bIns="0" rtlCol="0" anchor="t">
            <a:normAutofit/>
          </a:bodyPr>
          <a:lstStyle/>
          <a:p>
            <a:pPr algn="ctr" indent="0" marL="0">
              <a:lnSpc>
                <a:spcPts val="2520"/>
              </a:lnSpc>
              <a:buNone/>
            </a:pPr>
            <a:r>
              <a:rPr lang="en-US" sz="1800" b="1" dirty="0">
                <a:solidFill>
                  <a:srgbClr val="0B7A7A"/>
                </a:solidFill>
                <a:latin typeface="Montserrat" pitchFamily="34" charset="0"/>
                <a:ea typeface="Montserrat" pitchFamily="34" charset="-122"/>
                <a:cs typeface="Montserrat" pitchFamily="34" charset="-120"/>
              </a:rPr>
              <a:t>UART</a:t>
            </a:r>
            <a:endParaRPr lang="en-US" sz="1800" dirty="0"/>
          </a:p>
        </p:txBody>
      </p:sp>
      <p:pic>
        <p:nvPicPr>
          <p:cNvPr id="18" name="Image 1" descr="arrow-right">    </p:cNvPr>
          <p:cNvPicPr>
            <a:picLocks noChangeAspect="1"/>
          </p:cNvPicPr>
          <p:nvPr/>
        </p:nvPicPr>
        <p:blipFill>
          <a:blip r:embed="rId2"/>
          <a:srcRect l="0" r="0" t="0" b="0"/>
          <a:stretch/>
        </p:blipFill>
        <p:spPr>
          <a:xfrm>
            <a:off x="5715000" y="2052321"/>
            <a:ext cx="762000" cy="279400"/>
          </a:xfrm>
          <a:prstGeom prst="rect">
            <a:avLst/>
          </a:prstGeom>
        </p:spPr>
      </p:pic>
      <p:pic>
        <p:nvPicPr>
          <p:cNvPr id="19" name="Image 2" descr="arrow-left">    </p:cNvPr>
          <p:cNvPicPr>
            <a:picLocks noChangeAspect="1"/>
          </p:cNvPicPr>
          <p:nvPr/>
        </p:nvPicPr>
        <p:blipFill>
          <a:blip r:embed="rId3"/>
          <a:srcRect l="0" r="0" t="0" b="0"/>
          <a:stretch/>
        </p:blipFill>
        <p:spPr>
          <a:xfrm>
            <a:off x="5715000" y="2420621"/>
            <a:ext cx="762000" cy="279400"/>
          </a:xfrm>
          <a:prstGeom prst="rect">
            <a:avLst/>
          </a:prstGeom>
        </p:spPr>
      </p:pic>
      <p:sp>
        <p:nvSpPr>
          <p:cNvPr id="20" name="Text 15"/>
          <p:cNvSpPr/>
          <p:nvPr/>
        </p:nvSpPr>
        <p:spPr>
          <a:xfrm>
            <a:off x="5351225" y="2788921"/>
            <a:ext cx="1489472" cy="42164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3B4A5C"/>
                </a:solidFill>
                <a:latin typeface="Inter" pitchFamily="34" charset="0"/>
                <a:ea typeface="Inter" pitchFamily="34" charset="-122"/>
                <a:cs typeface="Inter" pitchFamily="34" charset="-120"/>
              </a:rPr>
              <a:t>Conversor TXS0108</a:t>
            </a:r>
            <a:endParaRPr lang="en-US" sz="1200" dirty="0"/>
          </a:p>
          <a:p>
            <a:pPr algn="ctr" indent="0" marL="0">
              <a:lnSpc>
                <a:spcPts val="1560"/>
              </a:lnSpc>
              <a:buNone/>
            </a:pPr>
            <a:r>
              <a:rPr lang="en-US" sz="1200" dirty="0">
                <a:solidFill>
                  <a:srgbClr val="3B4A5C"/>
                </a:solidFill>
                <a:latin typeface="Inter" pitchFamily="34" charset="0"/>
                <a:ea typeface="Inter" pitchFamily="34" charset="-122"/>
                <a:cs typeface="Inter" pitchFamily="34" charset="-120"/>
              </a:rPr>
              <a:t>5 V a 3.3 V</a:t>
            </a:r>
            <a:endParaRPr lang="en-US" sz="1200" dirty="0"/>
          </a:p>
        </p:txBody>
      </p:sp>
      <p:sp>
        <p:nvSpPr>
          <p:cNvPr id="21" name="Shape 16"/>
          <p:cNvSpPr/>
          <p:nvPr/>
        </p:nvSpPr>
        <p:spPr>
          <a:xfrm>
            <a:off x="7521575" y="1280796"/>
            <a:ext cx="4057650" cy="2266950"/>
          </a:xfrm>
          <a:prstGeom prst="roundRect">
            <a:avLst>
              <a:gd name="adj" fmla="val 4342"/>
            </a:avLst>
          </a:prstGeom>
          <a:solidFill>
            <a:srgbClr val="FDFBF7"/>
          </a:solidFill>
          <a:ln w="6350">
            <a:solidFill>
              <a:srgbClr val="D9D3C6"/>
            </a:solidFill>
            <a:prstDash val="solid"/>
          </a:ln>
        </p:spPr>
      </p:sp>
      <p:sp>
        <p:nvSpPr>
          <p:cNvPr id="22" name="Text 17"/>
          <p:cNvSpPr/>
          <p:nvPr/>
        </p:nvSpPr>
        <p:spPr>
          <a:xfrm>
            <a:off x="7726680" y="1460500"/>
            <a:ext cx="375686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7A"/>
                </a:solidFill>
                <a:latin typeface="Inter" pitchFamily="34" charset="0"/>
                <a:ea typeface="Inter" pitchFamily="34" charset="-122"/>
                <a:cs typeface="Inter" pitchFamily="34" charset="-120"/>
              </a:rPr>
              <a:t>INTERFAZ IoT · 3.3 V</a:t>
            </a:r>
            <a:endParaRPr lang="en-US" sz="1200" dirty="0"/>
          </a:p>
        </p:txBody>
      </p:sp>
      <p:sp>
        <p:nvSpPr>
          <p:cNvPr id="23" name="Text 18"/>
          <p:cNvSpPr/>
          <p:nvPr/>
        </p:nvSpPr>
        <p:spPr>
          <a:xfrm>
            <a:off x="7726680" y="1775464"/>
            <a:ext cx="375686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Montserrat" pitchFamily="34" charset="0"/>
                <a:ea typeface="Montserrat" pitchFamily="34" charset="-122"/>
                <a:cs typeface="Montserrat" pitchFamily="34" charset="-120"/>
              </a:rPr>
              <a:t>ESP32</a:t>
            </a:r>
            <a:endParaRPr lang="en-US" sz="2000" dirty="0"/>
          </a:p>
        </p:txBody>
      </p:sp>
      <p:sp>
        <p:nvSpPr>
          <p:cNvPr id="24" name="Shape 19"/>
          <p:cNvSpPr/>
          <p:nvPr/>
        </p:nvSpPr>
        <p:spPr>
          <a:xfrm>
            <a:off x="7739380" y="2181864"/>
            <a:ext cx="0" cy="222885"/>
          </a:xfrm>
          <a:prstGeom prst="line">
            <a:avLst/>
          </a:prstGeom>
          <a:noFill/>
          <a:ln w="25400">
            <a:solidFill>
              <a:srgbClr val="3FC8B8"/>
            </a:solidFill>
            <a:prstDash val="solid"/>
          </a:ln>
        </p:spPr>
      </p:sp>
      <p:sp>
        <p:nvSpPr>
          <p:cNvPr id="25" name="Text 20"/>
          <p:cNvSpPr/>
          <p:nvPr/>
        </p:nvSpPr>
        <p:spPr>
          <a:xfrm>
            <a:off x="7853680" y="2181864"/>
            <a:ext cx="362605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A5C"/>
                </a:solidFill>
                <a:latin typeface="Inter" pitchFamily="34" charset="0"/>
                <a:ea typeface="Inter" pitchFamily="34" charset="-122"/>
                <a:cs typeface="Inter" pitchFamily="34" charset="-120"/>
              </a:rPr>
              <a:t>Interfaz web IoT de monitoreo</a:t>
            </a:r>
            <a:endParaRPr lang="en-US" sz="1300" dirty="0"/>
          </a:p>
        </p:txBody>
      </p:sp>
      <p:sp>
        <p:nvSpPr>
          <p:cNvPr id="26" name="Shape 21"/>
          <p:cNvSpPr/>
          <p:nvPr/>
        </p:nvSpPr>
        <p:spPr>
          <a:xfrm>
            <a:off x="7739380" y="2506346"/>
            <a:ext cx="0" cy="222885"/>
          </a:xfrm>
          <a:prstGeom prst="line">
            <a:avLst/>
          </a:prstGeom>
          <a:noFill/>
          <a:ln w="25400">
            <a:solidFill>
              <a:srgbClr val="3FC8B8"/>
            </a:solidFill>
            <a:prstDash val="solid"/>
          </a:ln>
        </p:spPr>
      </p:sp>
      <p:sp>
        <p:nvSpPr>
          <p:cNvPr id="27" name="Text 22"/>
          <p:cNvSpPr/>
          <p:nvPr/>
        </p:nvSpPr>
        <p:spPr>
          <a:xfrm>
            <a:off x="7853680" y="2506346"/>
            <a:ext cx="362605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A5C"/>
                </a:solidFill>
                <a:latin typeface="Inter" pitchFamily="34" charset="0"/>
                <a:ea typeface="Inter" pitchFamily="34" charset="-122"/>
                <a:cs typeface="Inter" pitchFamily="34" charset="-120"/>
              </a:rPr>
              <a:t>Solicitudes de despacho (Tópico 1 o 2)</a:t>
            </a:r>
            <a:endParaRPr lang="en-US" sz="1300" dirty="0"/>
          </a:p>
        </p:txBody>
      </p:sp>
      <p:sp>
        <p:nvSpPr>
          <p:cNvPr id="28" name="Shape 23"/>
          <p:cNvSpPr/>
          <p:nvPr/>
        </p:nvSpPr>
        <p:spPr>
          <a:xfrm>
            <a:off x="7739380" y="2830829"/>
            <a:ext cx="0" cy="222885"/>
          </a:xfrm>
          <a:prstGeom prst="line">
            <a:avLst/>
          </a:prstGeom>
          <a:noFill/>
          <a:ln w="25400">
            <a:solidFill>
              <a:srgbClr val="3FC8B8"/>
            </a:solidFill>
            <a:prstDash val="solid"/>
          </a:ln>
        </p:spPr>
      </p:sp>
      <p:sp>
        <p:nvSpPr>
          <p:cNvPr id="29" name="Text 24"/>
          <p:cNvSpPr/>
          <p:nvPr/>
        </p:nvSpPr>
        <p:spPr>
          <a:xfrm>
            <a:off x="7853680" y="2830829"/>
            <a:ext cx="3626053"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B4A5C"/>
                </a:solidFill>
                <a:latin typeface="Inter" pitchFamily="34" charset="0"/>
                <a:ea typeface="Inter" pitchFamily="34" charset="-122"/>
                <a:cs typeface="Inter" pitchFamily="34" charset="-120"/>
              </a:rPr>
              <a:t>Gestión asíncrona de las operaciones de red</a:t>
            </a:r>
            <a:endParaRPr lang="en-US" sz="1300" dirty="0"/>
          </a:p>
        </p:txBody>
      </p:sp>
      <p:sp>
        <p:nvSpPr>
          <p:cNvPr id="30" name="Shape 25"/>
          <p:cNvSpPr/>
          <p:nvPr/>
        </p:nvSpPr>
        <p:spPr>
          <a:xfrm>
            <a:off x="609600" y="3728721"/>
            <a:ext cx="10972800" cy="533400"/>
          </a:xfrm>
          <a:prstGeom prst="roundRect">
            <a:avLst>
              <a:gd name="adj" fmla="val 19048"/>
            </a:avLst>
          </a:prstGeom>
          <a:solidFill>
            <a:srgbClr val="E4F4F1"/>
          </a:solidFill>
          <a:ln/>
        </p:spPr>
      </p:sp>
      <p:pic>
        <p:nvPicPr>
          <p:cNvPr id="31" name="Image 3" descr="Lightning">    </p:cNvPr>
          <p:cNvPicPr>
            <a:picLocks noChangeAspect="1"/>
          </p:cNvPicPr>
          <p:nvPr/>
        </p:nvPicPr>
        <p:blipFill>
          <a:blip r:embed="rId4"/>
          <a:srcRect l="0" r="0" t="0" b="0"/>
          <a:stretch/>
        </p:blipFill>
        <p:spPr>
          <a:xfrm>
            <a:off x="787400" y="3855721"/>
            <a:ext cx="279400" cy="279400"/>
          </a:xfrm>
          <a:prstGeom prst="rect">
            <a:avLst/>
          </a:prstGeom>
        </p:spPr>
      </p:pic>
      <p:sp>
        <p:nvSpPr>
          <p:cNvPr id="32" name="Text 26"/>
          <p:cNvSpPr/>
          <p:nvPr/>
        </p:nvSpPr>
        <p:spPr>
          <a:xfrm>
            <a:off x="1193800" y="3883980"/>
            <a:ext cx="10517124"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4213D"/>
                </a:solidFill>
                <a:latin typeface="Inter" pitchFamily="34" charset="0"/>
                <a:ea typeface="Inter" pitchFamily="34" charset="-122"/>
                <a:cs typeface="Inter" pitchFamily="34" charset="-120"/>
              </a:rPr>
              <a:t>La navegación queda separada de la red: las solicitudes HTTP no bloquean el control de movimiento.</a:t>
            </a:r>
            <a:endParaRPr lang="en-US" sz="1300" dirty="0"/>
          </a:p>
        </p:txBody>
      </p:sp>
      <p:sp>
        <p:nvSpPr>
          <p:cNvPr id="33" name="Text 27"/>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Elaboración propia. Informe del TP, aporte 2.</a:t>
            </a:r>
            <a:endParaRPr lang="en-US" sz="1200" dirty="0"/>
          </a:p>
        </p:txBody>
      </p:sp>
      <p:sp>
        <p:nvSpPr>
          <p:cNvPr id="34" name="Text 28"/>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11 / 32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III · APORTES DE INNOVACIÓN · 3 DE 4</a:t>
            </a:r>
            <a:endParaRPr lang="en-US" sz="1200" dirty="0"/>
          </a:p>
        </p:txBody>
      </p:sp>
      <p:sp>
        <p:nvSpPr>
          <p:cNvPr id="5" name="Text 2"/>
          <p:cNvSpPr/>
          <p:nvPr>
            <p:ph type="title"/>
          </p:nvPr>
        </p:nvSpPr>
        <p:spPr>
          <a:xfrm>
            <a:off x="609600" y="708664"/>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Monitoreo ambiental y trazabilidad</a:t>
            </a:r>
            <a:endParaRPr lang="en-US" sz="2800" dirty="0"/>
          </a:p>
        </p:txBody>
      </p:sp>
      <p:sp>
        <p:nvSpPr>
          <p:cNvPr id="6" name="Shape 3"/>
          <p:cNvSpPr/>
          <p:nvPr/>
        </p:nvSpPr>
        <p:spPr>
          <a:xfrm>
            <a:off x="612775" y="1280796"/>
            <a:ext cx="3536077" cy="2889250"/>
          </a:xfrm>
          <a:prstGeom prst="roundRect">
            <a:avLst>
              <a:gd name="adj" fmla="val 3407"/>
            </a:avLst>
          </a:prstGeom>
          <a:solidFill>
            <a:srgbClr val="FDFBF7"/>
          </a:solidFill>
          <a:ln w="6350">
            <a:solidFill>
              <a:srgbClr val="D9D3C6"/>
            </a:solidFill>
            <a:prstDash val="solid"/>
          </a:ln>
        </p:spPr>
      </p:sp>
      <p:pic>
        <p:nvPicPr>
          <p:cNvPr id="7" name="Image 1" descr="Activity">    </p:cNvPr>
          <p:cNvPicPr>
            <a:picLocks noChangeAspect="1"/>
          </p:cNvPicPr>
          <p:nvPr/>
        </p:nvPicPr>
        <p:blipFill>
          <a:blip r:embed="rId2"/>
          <a:srcRect l="0" r="0" t="0" b="0"/>
          <a:stretch/>
        </p:blipFill>
        <p:spPr>
          <a:xfrm>
            <a:off x="817880" y="1460500"/>
            <a:ext cx="355600" cy="355600"/>
          </a:xfrm>
          <a:prstGeom prst="rect">
            <a:avLst/>
          </a:prstGeom>
        </p:spPr>
      </p:pic>
      <p:sp>
        <p:nvSpPr>
          <p:cNvPr id="8" name="Text 4"/>
          <p:cNvSpPr/>
          <p:nvPr/>
        </p:nvSpPr>
        <p:spPr>
          <a:xfrm>
            <a:off x="817880" y="1905000"/>
            <a:ext cx="3219643" cy="48768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4213D"/>
                </a:solidFill>
                <a:latin typeface="Montserrat" pitchFamily="34" charset="0"/>
                <a:ea typeface="Montserrat" pitchFamily="34" charset="-122"/>
                <a:cs typeface="Montserrat" pitchFamily="34" charset="-120"/>
              </a:rPr>
              <a:t>LM35</a:t>
            </a:r>
            <a:endParaRPr lang="en-US" sz="2600" dirty="0"/>
          </a:p>
        </p:txBody>
      </p:sp>
      <p:sp>
        <p:nvSpPr>
          <p:cNvPr id="9" name="Text 5"/>
          <p:cNvSpPr/>
          <p:nvPr/>
        </p:nvSpPr>
        <p:spPr>
          <a:xfrm>
            <a:off x="817880" y="2456179"/>
            <a:ext cx="32196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7A"/>
                </a:solidFill>
                <a:latin typeface="Inter" pitchFamily="34" charset="0"/>
                <a:ea typeface="Inter" pitchFamily="34" charset="-122"/>
                <a:cs typeface="Inter" pitchFamily="34" charset="-120"/>
              </a:rPr>
              <a:t>ANALÓGICO · ADC</a:t>
            </a:r>
            <a:endParaRPr lang="en-US" sz="1200" dirty="0"/>
          </a:p>
        </p:txBody>
      </p:sp>
      <p:sp>
        <p:nvSpPr>
          <p:cNvPr id="10" name="Text 6"/>
          <p:cNvSpPr/>
          <p:nvPr/>
        </p:nvSpPr>
        <p:spPr>
          <a:xfrm>
            <a:off x="817880" y="2758442"/>
            <a:ext cx="32196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Montserrat" pitchFamily="34" charset="0"/>
                <a:ea typeface="Montserrat" pitchFamily="34" charset="-122"/>
                <a:cs typeface="Montserrat" pitchFamily="34" charset="-120"/>
              </a:rPr>
              <a:t>Cadena de frío</a:t>
            </a:r>
            <a:endParaRPr lang="en-US" sz="1500" dirty="0"/>
          </a:p>
        </p:txBody>
      </p:sp>
      <p:sp>
        <p:nvSpPr>
          <p:cNvPr id="11" name="Text 7"/>
          <p:cNvSpPr/>
          <p:nvPr/>
        </p:nvSpPr>
        <p:spPr>
          <a:xfrm>
            <a:off x="817880" y="3075942"/>
            <a:ext cx="32196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5C"/>
                </a:solidFill>
                <a:latin typeface="Inter" pitchFamily="34" charset="0"/>
                <a:ea typeface="Inter" pitchFamily="34" charset="-122"/>
                <a:cs typeface="Inter" pitchFamily="34" charset="-120"/>
              </a:rPr>
              <a:t>Mide la temperatura del compartimento mediante una entrada ADC.</a:t>
            </a:r>
            <a:endParaRPr lang="en-US" sz="1300" dirty="0"/>
          </a:p>
        </p:txBody>
      </p:sp>
      <p:sp>
        <p:nvSpPr>
          <p:cNvPr id="12" name="Shape 8"/>
          <p:cNvSpPr/>
          <p:nvPr/>
        </p:nvSpPr>
        <p:spPr>
          <a:xfrm>
            <a:off x="4333002" y="1280796"/>
            <a:ext cx="3536156" cy="2889250"/>
          </a:xfrm>
          <a:prstGeom prst="roundRect">
            <a:avLst>
              <a:gd name="adj" fmla="val 3407"/>
            </a:avLst>
          </a:prstGeom>
          <a:solidFill>
            <a:srgbClr val="FDFBF7"/>
          </a:solidFill>
          <a:ln w="6350">
            <a:solidFill>
              <a:srgbClr val="D9D3C6"/>
            </a:solidFill>
            <a:prstDash val="solid"/>
          </a:ln>
        </p:spPr>
      </p:sp>
      <p:pic>
        <p:nvPicPr>
          <p:cNvPr id="13" name="Image 2" descr="Lightbulb">    </p:cNvPr>
          <p:cNvPicPr>
            <a:picLocks noChangeAspect="1"/>
          </p:cNvPicPr>
          <p:nvPr/>
        </p:nvPicPr>
        <p:blipFill>
          <a:blip r:embed="rId3"/>
          <a:srcRect l="0" r="0" t="0" b="0"/>
          <a:stretch/>
        </p:blipFill>
        <p:spPr>
          <a:xfrm>
            <a:off x="4538107" y="1460500"/>
            <a:ext cx="355600" cy="355600"/>
          </a:xfrm>
          <a:prstGeom prst="rect">
            <a:avLst/>
          </a:prstGeom>
        </p:spPr>
      </p:pic>
      <p:sp>
        <p:nvSpPr>
          <p:cNvPr id="14" name="Text 9"/>
          <p:cNvSpPr/>
          <p:nvPr/>
        </p:nvSpPr>
        <p:spPr>
          <a:xfrm>
            <a:off x="4538107" y="1905000"/>
            <a:ext cx="3219725" cy="48768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4213D"/>
                </a:solidFill>
                <a:latin typeface="Montserrat" pitchFamily="34" charset="0"/>
                <a:ea typeface="Montserrat" pitchFamily="34" charset="-122"/>
                <a:cs typeface="Montserrat" pitchFamily="34" charset="-120"/>
              </a:rPr>
              <a:t>LDR</a:t>
            </a:r>
            <a:endParaRPr lang="en-US" sz="2600" dirty="0"/>
          </a:p>
        </p:txBody>
      </p:sp>
      <p:sp>
        <p:nvSpPr>
          <p:cNvPr id="15" name="Text 10"/>
          <p:cNvSpPr/>
          <p:nvPr/>
        </p:nvSpPr>
        <p:spPr>
          <a:xfrm>
            <a:off x="4538107" y="2456179"/>
            <a:ext cx="32197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7A"/>
                </a:solidFill>
                <a:latin typeface="Inter" pitchFamily="34" charset="0"/>
                <a:ea typeface="Inter" pitchFamily="34" charset="-122"/>
                <a:cs typeface="Inter" pitchFamily="34" charset="-120"/>
              </a:rPr>
              <a:t>ANALÓGICO · ADC</a:t>
            </a:r>
            <a:endParaRPr lang="en-US" sz="1200" dirty="0"/>
          </a:p>
        </p:txBody>
      </p:sp>
      <p:sp>
        <p:nvSpPr>
          <p:cNvPr id="16" name="Text 11"/>
          <p:cNvSpPr/>
          <p:nvPr/>
        </p:nvSpPr>
        <p:spPr>
          <a:xfrm>
            <a:off x="4538107" y="2758442"/>
            <a:ext cx="32197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Montserrat" pitchFamily="34" charset="0"/>
                <a:ea typeface="Montserrat" pitchFamily="34" charset="-122"/>
                <a:cs typeface="Montserrat" pitchFamily="34" charset="-120"/>
              </a:rPr>
              <a:t>Fármacos fotosensibles</a:t>
            </a:r>
            <a:endParaRPr lang="en-US" sz="1500" dirty="0"/>
          </a:p>
        </p:txBody>
      </p:sp>
      <p:sp>
        <p:nvSpPr>
          <p:cNvPr id="17" name="Text 12"/>
          <p:cNvSpPr/>
          <p:nvPr/>
        </p:nvSpPr>
        <p:spPr>
          <a:xfrm>
            <a:off x="4538107" y="3075942"/>
            <a:ext cx="321972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5C"/>
                </a:solidFill>
                <a:latin typeface="Inter" pitchFamily="34" charset="0"/>
                <a:ea typeface="Inter" pitchFamily="34" charset="-122"/>
                <a:cs typeface="Inter" pitchFamily="34" charset="-120"/>
              </a:rPr>
              <a:t>Supervisa las variaciones de iluminación dentro del compartimento.</a:t>
            </a:r>
            <a:endParaRPr lang="en-US" sz="1300" dirty="0"/>
          </a:p>
        </p:txBody>
      </p:sp>
      <p:sp>
        <p:nvSpPr>
          <p:cNvPr id="18" name="Shape 13"/>
          <p:cNvSpPr/>
          <p:nvPr/>
        </p:nvSpPr>
        <p:spPr>
          <a:xfrm>
            <a:off x="8050133" y="1277621"/>
            <a:ext cx="3532267" cy="2895600"/>
          </a:xfrm>
          <a:prstGeom prst="roundRect">
            <a:avLst>
              <a:gd name="adj" fmla="val 3509"/>
            </a:avLst>
          </a:prstGeom>
          <a:solidFill>
            <a:srgbClr val="0B2239"/>
          </a:solidFill>
          <a:ln/>
        </p:spPr>
      </p:sp>
      <p:pic>
        <p:nvPicPr>
          <p:cNvPr id="19" name="Image 3" descr="Lock">    </p:cNvPr>
          <p:cNvPicPr>
            <a:picLocks noChangeAspect="1"/>
          </p:cNvPicPr>
          <p:nvPr/>
        </p:nvPicPr>
        <p:blipFill>
          <a:blip r:embed="rId4"/>
          <a:srcRect l="0" r="0" t="0" b="0"/>
          <a:stretch/>
        </p:blipFill>
        <p:spPr>
          <a:xfrm>
            <a:off x="8253333" y="1455421"/>
            <a:ext cx="355600" cy="355600"/>
          </a:xfrm>
          <a:prstGeom prst="rect">
            <a:avLst/>
          </a:prstGeom>
        </p:spPr>
      </p:pic>
      <p:sp>
        <p:nvSpPr>
          <p:cNvPr id="20" name="Text 14"/>
          <p:cNvSpPr/>
          <p:nvPr/>
        </p:nvSpPr>
        <p:spPr>
          <a:xfrm>
            <a:off x="8253333" y="1899921"/>
            <a:ext cx="3219643" cy="48768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F3F7F8"/>
                </a:solidFill>
                <a:latin typeface="Montserrat" pitchFamily="34" charset="0"/>
                <a:ea typeface="Montserrat" pitchFamily="34" charset="-122"/>
                <a:cs typeface="Montserrat" pitchFamily="34" charset="-120"/>
              </a:rPr>
              <a:t>MC-38</a:t>
            </a:r>
            <a:endParaRPr lang="en-US" sz="2600" dirty="0"/>
          </a:p>
        </p:txBody>
      </p:sp>
      <p:sp>
        <p:nvSpPr>
          <p:cNvPr id="21" name="Text 15"/>
          <p:cNvSpPr/>
          <p:nvPr/>
        </p:nvSpPr>
        <p:spPr>
          <a:xfrm>
            <a:off x="8253333" y="2451100"/>
            <a:ext cx="32196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C8B8"/>
                </a:solidFill>
                <a:latin typeface="Inter" pitchFamily="34" charset="0"/>
                <a:ea typeface="Inter" pitchFamily="34" charset="-122"/>
                <a:cs typeface="Inter" pitchFamily="34" charset="-120"/>
              </a:rPr>
              <a:t>DIGITAL · GPIO</a:t>
            </a:r>
            <a:endParaRPr lang="en-US" sz="1200" dirty="0"/>
          </a:p>
        </p:txBody>
      </p:sp>
      <p:sp>
        <p:nvSpPr>
          <p:cNvPr id="22" name="Text 16"/>
          <p:cNvSpPr/>
          <p:nvPr/>
        </p:nvSpPr>
        <p:spPr>
          <a:xfrm>
            <a:off x="8253333" y="2753364"/>
            <a:ext cx="32196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7F8"/>
                </a:solidFill>
                <a:latin typeface="Montserrat" pitchFamily="34" charset="0"/>
                <a:ea typeface="Montserrat" pitchFamily="34" charset="-122"/>
                <a:cs typeface="Montserrat" pitchFamily="34" charset="-120"/>
              </a:rPr>
              <a:t>Cierre del compartimento</a:t>
            </a:r>
            <a:endParaRPr lang="en-US" sz="1500" dirty="0"/>
          </a:p>
        </p:txBody>
      </p:sp>
      <p:sp>
        <p:nvSpPr>
          <p:cNvPr id="23" name="Text 17"/>
          <p:cNvSpPr/>
          <p:nvPr/>
        </p:nvSpPr>
        <p:spPr>
          <a:xfrm>
            <a:off x="8253333" y="3070864"/>
            <a:ext cx="3219643"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3"/>
                </a:solidFill>
                <a:latin typeface="Inter" pitchFamily="34" charset="0"/>
                <a:ea typeface="Inter" pitchFamily="34" charset="-122"/>
                <a:cs typeface="Inter" pitchFamily="34" charset="-120"/>
              </a:rPr>
              <a:t>Sensor magnético que detecta la apertura de la puerta. Ante una condición anómala previa al despacho, puede impedir el inicio del recorrido.</a:t>
            </a:r>
            <a:endParaRPr lang="en-US" sz="1300" dirty="0"/>
          </a:p>
        </p:txBody>
      </p:sp>
      <p:sp>
        <p:nvSpPr>
          <p:cNvPr id="24" name="Shape 18"/>
          <p:cNvSpPr/>
          <p:nvPr/>
        </p:nvSpPr>
        <p:spPr>
          <a:xfrm>
            <a:off x="609600" y="4351021"/>
            <a:ext cx="10972800" cy="698500"/>
          </a:xfrm>
          <a:prstGeom prst="roundRect">
            <a:avLst>
              <a:gd name="adj" fmla="val 14545"/>
            </a:avLst>
          </a:prstGeom>
          <a:solidFill>
            <a:srgbClr val="E4F4F1"/>
          </a:solidFill>
          <a:ln/>
        </p:spPr>
      </p:sp>
      <p:pic>
        <p:nvPicPr>
          <p:cNvPr id="25" name="Image 4" descr="Warning">    </p:cNvPr>
          <p:cNvPicPr>
            <a:picLocks noChangeAspect="1"/>
          </p:cNvPicPr>
          <p:nvPr/>
        </p:nvPicPr>
        <p:blipFill>
          <a:blip r:embed="rId5"/>
          <a:srcRect l="0" r="0" t="0" b="0"/>
          <a:stretch/>
        </p:blipFill>
        <p:spPr>
          <a:xfrm>
            <a:off x="787400" y="4560571"/>
            <a:ext cx="279400" cy="279400"/>
          </a:xfrm>
          <a:prstGeom prst="rect">
            <a:avLst/>
          </a:prstGeom>
        </p:spPr>
      </p:pic>
      <p:sp>
        <p:nvSpPr>
          <p:cNvPr id="26" name="Text 19"/>
          <p:cNvSpPr/>
          <p:nvPr/>
        </p:nvSpPr>
        <p:spPr>
          <a:xfrm>
            <a:off x="1193800" y="4478021"/>
            <a:ext cx="10517124"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14213D"/>
                </a:solidFill>
                <a:latin typeface="Inter" pitchFamily="34" charset="0"/>
                <a:ea typeface="Inter" pitchFamily="34" charset="-122"/>
                <a:cs typeface="Inter" pitchFamily="34" charset="-120"/>
              </a:rPr>
              <a:t>Dos entradas analógicas y una digital generan alertas cuando se incumplen los límites configurados. Conservar medicamentos con requisitos específicos dependerá de la validación y, de ser necesario, de mecanismos adicionales de regulación ambiental.</a:t>
            </a:r>
            <a:endParaRPr lang="en-US" sz="1250" dirty="0"/>
          </a:p>
        </p:txBody>
      </p:sp>
      <p:sp>
        <p:nvSpPr>
          <p:cNvPr id="27" name="Text 20"/>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Elaboración propia. Informe del TP, aporte 3.</a:t>
            </a:r>
            <a:endParaRPr lang="en-US" sz="1200" dirty="0"/>
          </a:p>
        </p:txBody>
      </p:sp>
      <p:sp>
        <p:nvSpPr>
          <p:cNvPr id="28" name="Text 21"/>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12 / 32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III · APORTES DE INNOVACIÓN · 4 DE 4</a:t>
            </a:r>
            <a:endParaRPr lang="en-US" sz="1200" dirty="0"/>
          </a:p>
        </p:txBody>
      </p:sp>
      <p:sp>
        <p:nvSpPr>
          <p:cNvPr id="5" name="Text 2"/>
          <p:cNvSpPr/>
          <p:nvPr>
            <p:ph type="title"/>
          </p:nvPr>
        </p:nvSpPr>
        <p:spPr>
          <a:xfrm>
            <a:off x="609600" y="708664"/>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Navegación por nodos magnéticos</a:t>
            </a:r>
            <a:endParaRPr lang="en-US" sz="2800" dirty="0"/>
          </a:p>
        </p:txBody>
      </p:sp>
      <p:pic>
        <p:nvPicPr>
          <p:cNvPr id="6" name="Image 1" descr="Esquema ilustrativo de una pista con tres nodos magnéticos, un inicio y dos destinos">    </p:cNvPr>
          <p:cNvPicPr>
            <a:picLocks noChangeAspect="1"/>
          </p:cNvPicPr>
          <p:nvPr/>
        </p:nvPicPr>
        <p:blipFill>
          <a:blip r:embed="rId2"/>
          <a:srcRect l="0" r="0" t="0" b="0"/>
          <a:stretch/>
        </p:blipFill>
        <p:spPr>
          <a:xfrm>
            <a:off x="609600" y="1277621"/>
            <a:ext cx="4826000" cy="3302000"/>
          </a:xfrm>
          <a:prstGeom prst="rect">
            <a:avLst/>
          </a:prstGeom>
        </p:spPr>
      </p:pic>
      <p:sp>
        <p:nvSpPr>
          <p:cNvPr id="7" name="Text 3"/>
          <p:cNvSpPr/>
          <p:nvPr/>
        </p:nvSpPr>
        <p:spPr>
          <a:xfrm>
            <a:off x="774700" y="4046221"/>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Inter" pitchFamily="34" charset="0"/>
                <a:ea typeface="Inter" pitchFamily="34" charset="-122"/>
                <a:cs typeface="Inter" pitchFamily="34" charset="-120"/>
              </a:rPr>
              <a:t>Inicio</a:t>
            </a:r>
            <a:endParaRPr lang="en-US" sz="1200" dirty="0"/>
          </a:p>
        </p:txBody>
      </p:sp>
      <p:sp>
        <p:nvSpPr>
          <p:cNvPr id="8" name="Text 4"/>
          <p:cNvSpPr/>
          <p:nvPr/>
        </p:nvSpPr>
        <p:spPr>
          <a:xfrm>
            <a:off x="1854200" y="4046221"/>
            <a:ext cx="431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412B"/>
                </a:solidFill>
                <a:latin typeface="Inter" pitchFamily="34" charset="0"/>
                <a:ea typeface="Inter" pitchFamily="34" charset="-122"/>
                <a:cs typeface="Inter" pitchFamily="34" charset="-120"/>
              </a:rPr>
              <a:t>N1</a:t>
            </a:r>
            <a:endParaRPr lang="en-US" sz="1200" dirty="0"/>
          </a:p>
        </p:txBody>
      </p:sp>
      <p:sp>
        <p:nvSpPr>
          <p:cNvPr id="9" name="Text 5"/>
          <p:cNvSpPr/>
          <p:nvPr/>
        </p:nvSpPr>
        <p:spPr>
          <a:xfrm>
            <a:off x="2933700" y="4046221"/>
            <a:ext cx="431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412B"/>
                </a:solidFill>
                <a:latin typeface="Inter" pitchFamily="34" charset="0"/>
                <a:ea typeface="Inter" pitchFamily="34" charset="-122"/>
                <a:cs typeface="Inter" pitchFamily="34" charset="-120"/>
              </a:rPr>
              <a:t>N2</a:t>
            </a:r>
            <a:endParaRPr lang="en-US" sz="1200" dirty="0"/>
          </a:p>
        </p:txBody>
      </p:sp>
      <p:sp>
        <p:nvSpPr>
          <p:cNvPr id="10" name="Text 6"/>
          <p:cNvSpPr/>
          <p:nvPr/>
        </p:nvSpPr>
        <p:spPr>
          <a:xfrm>
            <a:off x="4013200" y="4046221"/>
            <a:ext cx="431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412B"/>
                </a:solidFill>
                <a:latin typeface="Inter" pitchFamily="34" charset="0"/>
                <a:ea typeface="Inter" pitchFamily="34" charset="-122"/>
                <a:cs typeface="Inter" pitchFamily="34" charset="-120"/>
              </a:rPr>
              <a:t>N3</a:t>
            </a:r>
            <a:endParaRPr lang="en-US" sz="1200" dirty="0"/>
          </a:p>
        </p:txBody>
      </p:sp>
      <p:sp>
        <p:nvSpPr>
          <p:cNvPr id="11" name="Text 7"/>
          <p:cNvSpPr/>
          <p:nvPr/>
        </p:nvSpPr>
        <p:spPr>
          <a:xfrm>
            <a:off x="4521200" y="4046221"/>
            <a:ext cx="876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7A7A"/>
                </a:solidFill>
                <a:latin typeface="Inter" pitchFamily="34" charset="0"/>
                <a:ea typeface="Inter" pitchFamily="34" charset="-122"/>
                <a:cs typeface="Inter" pitchFamily="34" charset="-120"/>
              </a:rPr>
              <a:t>Tópico 1</a:t>
            </a:r>
            <a:endParaRPr lang="en-US" sz="1200" dirty="0"/>
          </a:p>
        </p:txBody>
      </p:sp>
      <p:sp>
        <p:nvSpPr>
          <p:cNvPr id="12" name="Text 8"/>
          <p:cNvSpPr/>
          <p:nvPr/>
        </p:nvSpPr>
        <p:spPr>
          <a:xfrm>
            <a:off x="2711450" y="1633221"/>
            <a:ext cx="876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7A7A"/>
                </a:solidFill>
                <a:latin typeface="Inter" pitchFamily="34" charset="0"/>
                <a:ea typeface="Inter" pitchFamily="34" charset="-122"/>
                <a:cs typeface="Inter" pitchFamily="34" charset="-120"/>
              </a:rPr>
              <a:t>Tópico 2</a:t>
            </a:r>
            <a:endParaRPr lang="en-US" sz="1200" dirty="0"/>
          </a:p>
        </p:txBody>
      </p:sp>
      <p:sp>
        <p:nvSpPr>
          <p:cNvPr id="13" name="Text 9"/>
          <p:cNvSpPr/>
          <p:nvPr/>
        </p:nvSpPr>
        <p:spPr>
          <a:xfrm>
            <a:off x="609600" y="4643121"/>
            <a:ext cx="4970780" cy="42164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B7C"/>
                </a:solidFill>
                <a:latin typeface="Inter" pitchFamily="34" charset="0"/>
                <a:ea typeface="Inter" pitchFamily="34" charset="-122"/>
                <a:cs typeface="Inter" pitchFamily="34" charset="-120"/>
              </a:rPr>
              <a:t>Esquema ilustrativo</a:t>
            </a:r>
            <a:r>
              <a:rPr lang="en-US" sz="1200" dirty="0">
                <a:solidFill>
                  <a:srgbClr val="5B6B7C"/>
                </a:solidFill>
                <a:latin typeface="Inter" pitchFamily="34" charset="0"/>
                <a:ea typeface="Inter" pitchFamily="34" charset="-122"/>
                <a:cs typeface="Inter" pitchFamily="34" charset="-120"/>
              </a:rPr>
              <a:t> de una pista con encrucijadas magnéticas (nodos N1 a N3) y dos destinos predefinidos.</a:t>
            </a:r>
            <a:endParaRPr lang="en-US" sz="1200" dirty="0"/>
          </a:p>
        </p:txBody>
      </p:sp>
      <p:sp>
        <p:nvSpPr>
          <p:cNvPr id="14" name="Shape 10"/>
          <p:cNvSpPr/>
          <p:nvPr/>
        </p:nvSpPr>
        <p:spPr>
          <a:xfrm>
            <a:off x="5743575" y="1280796"/>
            <a:ext cx="5835650" cy="1050290"/>
          </a:xfrm>
          <a:prstGeom prst="roundRect">
            <a:avLst>
              <a:gd name="adj" fmla="val 9371"/>
            </a:avLst>
          </a:prstGeom>
          <a:solidFill>
            <a:srgbClr val="FDFBF7"/>
          </a:solidFill>
          <a:ln w="6350">
            <a:solidFill>
              <a:srgbClr val="D9D3C6"/>
            </a:solidFill>
            <a:prstDash val="solid"/>
          </a:ln>
        </p:spPr>
      </p:sp>
      <p:sp>
        <p:nvSpPr>
          <p:cNvPr id="15" name="Text 11"/>
          <p:cNvSpPr/>
          <p:nvPr/>
        </p:nvSpPr>
        <p:spPr>
          <a:xfrm>
            <a:off x="5935980" y="1435100"/>
            <a:ext cx="56143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Montserrat" pitchFamily="34" charset="0"/>
                <a:ea typeface="Montserrat" pitchFamily="34" charset="-122"/>
                <a:cs typeface="Montserrat" pitchFamily="34" charset="-120"/>
              </a:rPr>
              <a:t>Hitos magnéticos</a:t>
            </a:r>
            <a:endParaRPr lang="en-US" sz="1500" dirty="0"/>
          </a:p>
        </p:txBody>
      </p:sp>
      <p:sp>
        <p:nvSpPr>
          <p:cNvPr id="16" name="Text 12"/>
          <p:cNvSpPr/>
          <p:nvPr/>
        </p:nvSpPr>
        <p:spPr>
          <a:xfrm>
            <a:off x="5935980" y="1714500"/>
            <a:ext cx="56143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5C"/>
                </a:solidFill>
                <a:latin typeface="Inter" pitchFamily="34" charset="0"/>
                <a:ea typeface="Inter" pitchFamily="34" charset="-122"/>
                <a:cs typeface="Inter" pitchFamily="34" charset="-120"/>
              </a:rPr>
              <a:t>Imanes de ferrita colocados en el suelo actúan como referencias espaciales.</a:t>
            </a:r>
            <a:endParaRPr lang="en-US" sz="1300" dirty="0"/>
          </a:p>
        </p:txBody>
      </p:sp>
      <p:sp>
        <p:nvSpPr>
          <p:cNvPr id="17" name="Shape 13"/>
          <p:cNvSpPr/>
          <p:nvPr/>
        </p:nvSpPr>
        <p:spPr>
          <a:xfrm>
            <a:off x="5743575" y="2451739"/>
            <a:ext cx="5835650" cy="1281430"/>
          </a:xfrm>
          <a:prstGeom prst="roundRect">
            <a:avLst>
              <a:gd name="adj" fmla="val 7681"/>
            </a:avLst>
          </a:prstGeom>
          <a:solidFill>
            <a:srgbClr val="FDFBF7"/>
          </a:solidFill>
          <a:ln w="6350">
            <a:solidFill>
              <a:srgbClr val="D9D3C6"/>
            </a:solidFill>
            <a:prstDash val="solid"/>
          </a:ln>
        </p:spPr>
      </p:sp>
      <p:sp>
        <p:nvSpPr>
          <p:cNvPr id="18" name="Text 14"/>
          <p:cNvSpPr/>
          <p:nvPr/>
        </p:nvSpPr>
        <p:spPr>
          <a:xfrm>
            <a:off x="5935980" y="2606042"/>
            <a:ext cx="56143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Montserrat" pitchFamily="34" charset="0"/>
                <a:ea typeface="Montserrat" pitchFamily="34" charset="-122"/>
                <a:cs typeface="Montserrat" pitchFamily="34" charset="-120"/>
              </a:rPr>
              <a:t>Sensor Hall SS49E</a:t>
            </a:r>
            <a:endParaRPr lang="en-US" sz="1500" dirty="0"/>
          </a:p>
        </p:txBody>
      </p:sp>
      <p:sp>
        <p:nvSpPr>
          <p:cNvPr id="19" name="Text 15"/>
          <p:cNvSpPr/>
          <p:nvPr/>
        </p:nvSpPr>
        <p:spPr>
          <a:xfrm>
            <a:off x="5935980" y="2885442"/>
            <a:ext cx="561436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A5C"/>
                </a:solidFill>
                <a:latin typeface="Inter" pitchFamily="34" charset="0"/>
                <a:ea typeface="Inter" pitchFamily="34" charset="-122"/>
                <a:cs typeface="Inter" pitchFamily="34" charset="-120"/>
              </a:rPr>
              <a:t>Detecta cada nodo con salida analógica por el ADC. El módulo KY-024 mide de 30 a 50 mm y tolera la deriva lateral de las ruedas Mecanum.</a:t>
            </a:r>
            <a:endParaRPr lang="en-US" sz="1300" dirty="0"/>
          </a:p>
        </p:txBody>
      </p:sp>
      <p:sp>
        <p:nvSpPr>
          <p:cNvPr id="20" name="Shape 16"/>
          <p:cNvSpPr/>
          <p:nvPr/>
        </p:nvSpPr>
        <p:spPr>
          <a:xfrm>
            <a:off x="5740400" y="3850642"/>
            <a:ext cx="5842000" cy="1046480"/>
          </a:xfrm>
          <a:prstGeom prst="roundRect">
            <a:avLst>
              <a:gd name="adj" fmla="val 9709"/>
            </a:avLst>
          </a:prstGeom>
          <a:solidFill>
            <a:srgbClr val="0B2239"/>
          </a:solidFill>
          <a:ln/>
        </p:spPr>
      </p:sp>
      <p:sp>
        <p:nvSpPr>
          <p:cNvPr id="21" name="Text 17"/>
          <p:cNvSpPr/>
          <p:nvPr/>
        </p:nvSpPr>
        <p:spPr>
          <a:xfrm>
            <a:off x="5930900" y="4003042"/>
            <a:ext cx="56248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7F8"/>
                </a:solidFill>
                <a:latin typeface="Montserrat" pitchFamily="34" charset="0"/>
                <a:ea typeface="Montserrat" pitchFamily="34" charset="-122"/>
                <a:cs typeface="Montserrat" pitchFamily="34" charset="-120"/>
              </a:rPr>
              <a:t>Máquina de estados</a:t>
            </a:r>
            <a:endParaRPr lang="en-US" sz="1500" dirty="0"/>
          </a:p>
        </p:txBody>
      </p:sp>
      <p:sp>
        <p:nvSpPr>
          <p:cNvPr id="22" name="Text 18"/>
          <p:cNvSpPr/>
          <p:nvPr/>
        </p:nvSpPr>
        <p:spPr>
          <a:xfrm>
            <a:off x="5930900" y="4282442"/>
            <a:ext cx="562483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3"/>
                </a:solidFill>
                <a:latin typeface="Inter" pitchFamily="34" charset="0"/>
                <a:ea typeface="Inter" pitchFamily="34" charset="-122"/>
                <a:cs typeface="Inter" pitchFamily="34" charset="-120"/>
              </a:rPr>
              <a:t>Cuenta los nodos superados y decide seguir de frente o girar según la ruta (Tópico 1 o 2) recibida por UART.</a:t>
            </a:r>
            <a:endParaRPr lang="en-US" sz="1300" dirty="0"/>
          </a:p>
        </p:txBody>
      </p:sp>
      <p:sp>
        <p:nvSpPr>
          <p:cNvPr id="23" name="Text 19"/>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Elaboración propia. Informe del TP, aporte 4 y Tabla 5.</a:t>
            </a:r>
            <a:endParaRPr lang="en-US" sz="1200" dirty="0"/>
          </a:p>
        </p:txBody>
      </p:sp>
      <p:sp>
        <p:nvSpPr>
          <p:cNvPr id="24" name="Text 20"/>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13 / 32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IV · OBJETIVOS</a:t>
            </a:r>
            <a:endParaRPr lang="en-US" sz="1200" dirty="0"/>
          </a:p>
        </p:txBody>
      </p:sp>
      <p:sp>
        <p:nvSpPr>
          <p:cNvPr id="5" name="Text 2"/>
          <p:cNvSpPr/>
          <p:nvPr>
            <p:ph type="title"/>
          </p:nvPr>
        </p:nvSpPr>
        <p:spPr>
          <a:xfrm>
            <a:off x="609600" y="708664"/>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Objetivo general y específicos</a:t>
            </a:r>
            <a:endParaRPr lang="en-US" sz="2800" dirty="0"/>
          </a:p>
        </p:txBody>
      </p:sp>
      <p:sp>
        <p:nvSpPr>
          <p:cNvPr id="6" name="Shape 3"/>
          <p:cNvSpPr/>
          <p:nvPr/>
        </p:nvSpPr>
        <p:spPr>
          <a:xfrm>
            <a:off x="609600" y="1252221"/>
            <a:ext cx="10972800" cy="1236980"/>
          </a:xfrm>
          <a:prstGeom prst="roundRect">
            <a:avLst>
              <a:gd name="adj" fmla="val 8214"/>
            </a:avLst>
          </a:prstGeom>
          <a:solidFill>
            <a:srgbClr val="0B2239"/>
          </a:solidFill>
          <a:ln/>
        </p:spPr>
      </p:sp>
      <p:sp>
        <p:nvSpPr>
          <p:cNvPr id="7" name="Text 4"/>
          <p:cNvSpPr/>
          <p:nvPr/>
        </p:nvSpPr>
        <p:spPr>
          <a:xfrm>
            <a:off x="812800" y="13919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C8B8"/>
                </a:solidFill>
                <a:latin typeface="Inter" pitchFamily="34" charset="0"/>
                <a:ea typeface="Inter" pitchFamily="34" charset="-122"/>
                <a:cs typeface="Inter" pitchFamily="34" charset="-120"/>
              </a:rPr>
              <a:t>OBJETIVO GENERAL</a:t>
            </a:r>
            <a:endParaRPr lang="en-US" sz="1200" dirty="0"/>
          </a:p>
        </p:txBody>
      </p:sp>
      <p:sp>
        <p:nvSpPr>
          <p:cNvPr id="8" name="Text 5"/>
          <p:cNvSpPr/>
          <p:nvPr/>
        </p:nvSpPr>
        <p:spPr>
          <a:xfrm>
            <a:off x="812800" y="1656079"/>
            <a:ext cx="10883392"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7F8"/>
                </a:solidFill>
                <a:latin typeface="Inter" pitchFamily="34" charset="0"/>
                <a:ea typeface="Inter" pitchFamily="34" charset="-122"/>
                <a:cs typeface="Inter" pitchFamily="34" charset="-120"/>
              </a:rPr>
              <a:t>Desarrollar un prototipo de unidad móvil con tracción omnidireccional Mecanum, gobernada por una arquitectura de procesamiento dual (PIC18F47Q10 e IoT), para optimizar el transporte intrahospitalario de insumos médicos, con fusión sensorial para evadir obstáculos, navegación por nodos magnéticos y monitoreo ambiental de la carga.</a:t>
            </a:r>
            <a:endParaRPr lang="en-US" sz="1300" dirty="0"/>
          </a:p>
        </p:txBody>
      </p:sp>
      <p:sp>
        <p:nvSpPr>
          <p:cNvPr id="9" name="Shape 6"/>
          <p:cNvSpPr/>
          <p:nvPr/>
        </p:nvSpPr>
        <p:spPr>
          <a:xfrm>
            <a:off x="612775" y="2644775"/>
            <a:ext cx="3549650" cy="2533650"/>
          </a:xfrm>
          <a:prstGeom prst="roundRect">
            <a:avLst>
              <a:gd name="adj" fmla="val 3885"/>
            </a:avLst>
          </a:prstGeom>
          <a:solidFill>
            <a:srgbClr val="FDFBF7"/>
          </a:solidFill>
          <a:ln w="6350">
            <a:solidFill>
              <a:srgbClr val="D9D3C6"/>
            </a:solidFill>
            <a:prstDash val="solid"/>
          </a:ln>
        </p:spPr>
      </p:sp>
      <p:sp>
        <p:nvSpPr>
          <p:cNvPr id="10" name="Text 7"/>
          <p:cNvSpPr/>
          <p:nvPr/>
        </p:nvSpPr>
        <p:spPr>
          <a:xfrm>
            <a:off x="792480" y="2799079"/>
            <a:ext cx="32859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7A"/>
                </a:solidFill>
                <a:latin typeface="Inter" pitchFamily="34" charset="0"/>
                <a:ea typeface="Inter" pitchFamily="34" charset="-122"/>
                <a:cs typeface="Inter" pitchFamily="34" charset="-120"/>
              </a:rPr>
              <a:t>1 · HARDWARE</a:t>
            </a:r>
            <a:endParaRPr lang="en-US" sz="1200" dirty="0"/>
          </a:p>
        </p:txBody>
      </p:sp>
      <p:sp>
        <p:nvSpPr>
          <p:cNvPr id="11" name="Text 8"/>
          <p:cNvSpPr/>
          <p:nvPr/>
        </p:nvSpPr>
        <p:spPr>
          <a:xfrm>
            <a:off x="792480" y="3088642"/>
            <a:ext cx="328594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5C"/>
                </a:solidFill>
                <a:latin typeface="Inter" pitchFamily="34" charset="0"/>
                <a:ea typeface="Inter" pitchFamily="34" charset="-122"/>
                <a:cs typeface="Inter" pitchFamily="34" charset="-120"/>
              </a:rPr>
              <a:t>Diseñar e implementar la plataforma electrónica y de potencia: PIC18F47Q10, ESP32, cuatro motores DC con ruedas Mecanum y dos subsistemas de sensado.</a:t>
            </a:r>
            <a:endParaRPr lang="en-US" sz="1200" dirty="0"/>
          </a:p>
        </p:txBody>
      </p:sp>
      <p:sp>
        <p:nvSpPr>
          <p:cNvPr id="12" name="Shape 9"/>
          <p:cNvSpPr/>
          <p:nvPr/>
        </p:nvSpPr>
        <p:spPr>
          <a:xfrm>
            <a:off x="805180" y="4018279"/>
            <a:ext cx="0" cy="426720"/>
          </a:xfrm>
          <a:prstGeom prst="line">
            <a:avLst/>
          </a:prstGeom>
          <a:noFill/>
          <a:ln w="25400">
            <a:solidFill>
              <a:srgbClr val="3FC8B8"/>
            </a:solidFill>
            <a:prstDash val="solid"/>
          </a:ln>
        </p:spPr>
      </p:sp>
      <p:sp>
        <p:nvSpPr>
          <p:cNvPr id="13" name="Text 10"/>
          <p:cNvSpPr/>
          <p:nvPr/>
        </p:nvSpPr>
        <p:spPr>
          <a:xfrm>
            <a:off x="906780" y="4018279"/>
            <a:ext cx="3168218"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A5C"/>
                </a:solidFill>
                <a:latin typeface="Inter" pitchFamily="34" charset="0"/>
                <a:ea typeface="Inter" pitchFamily="34" charset="-122"/>
                <a:cs typeface="Inter" pitchFamily="34" charset="-120"/>
              </a:rPr>
              <a:t>Navegación:</a:t>
            </a:r>
            <a:r>
              <a:rPr lang="en-US" sz="1200" dirty="0">
                <a:solidFill>
                  <a:srgbClr val="3B4A5C"/>
                </a:solidFill>
                <a:latin typeface="Inter" pitchFamily="34" charset="0"/>
                <a:ea typeface="Inter" pitchFamily="34" charset="-122"/>
                <a:cs typeface="Inter" pitchFamily="34" charset="-120"/>
              </a:rPr>
              <a:t> VL53L0X (I²C), HC-SR04, PIR y Hall SS49E.</a:t>
            </a:r>
            <a:endParaRPr lang="en-US" sz="1200" dirty="0"/>
          </a:p>
        </p:txBody>
      </p:sp>
      <p:sp>
        <p:nvSpPr>
          <p:cNvPr id="14" name="Shape 11"/>
          <p:cNvSpPr/>
          <p:nvPr/>
        </p:nvSpPr>
        <p:spPr>
          <a:xfrm>
            <a:off x="805180" y="4521200"/>
            <a:ext cx="0" cy="213360"/>
          </a:xfrm>
          <a:prstGeom prst="line">
            <a:avLst/>
          </a:prstGeom>
          <a:noFill/>
          <a:ln w="25400">
            <a:solidFill>
              <a:srgbClr val="3FC8B8"/>
            </a:solidFill>
            <a:prstDash val="solid"/>
          </a:ln>
        </p:spPr>
      </p:sp>
      <p:sp>
        <p:nvSpPr>
          <p:cNvPr id="15" name="Text 12"/>
          <p:cNvSpPr/>
          <p:nvPr/>
        </p:nvSpPr>
        <p:spPr>
          <a:xfrm>
            <a:off x="906780" y="4521200"/>
            <a:ext cx="31682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A5C"/>
                </a:solidFill>
                <a:latin typeface="Inter" pitchFamily="34" charset="0"/>
                <a:ea typeface="Inter" pitchFamily="34" charset="-122"/>
                <a:cs typeface="Inter" pitchFamily="34" charset="-120"/>
              </a:rPr>
              <a:t>Resguardo clínico:</a:t>
            </a:r>
            <a:r>
              <a:rPr lang="en-US" sz="1200" dirty="0">
                <a:solidFill>
                  <a:srgbClr val="3B4A5C"/>
                </a:solidFill>
                <a:latin typeface="Inter" pitchFamily="34" charset="0"/>
                <a:ea typeface="Inter" pitchFamily="34" charset="-122"/>
                <a:cs typeface="Inter" pitchFamily="34" charset="-120"/>
              </a:rPr>
              <a:t> LM35, LDR y MC-38.</a:t>
            </a:r>
            <a:endParaRPr lang="en-US" sz="1200" dirty="0"/>
          </a:p>
        </p:txBody>
      </p:sp>
      <p:sp>
        <p:nvSpPr>
          <p:cNvPr id="16" name="Shape 13"/>
          <p:cNvSpPr/>
          <p:nvPr/>
        </p:nvSpPr>
        <p:spPr>
          <a:xfrm>
            <a:off x="4321175" y="2644775"/>
            <a:ext cx="3549650" cy="2533650"/>
          </a:xfrm>
          <a:prstGeom prst="roundRect">
            <a:avLst>
              <a:gd name="adj" fmla="val 3885"/>
            </a:avLst>
          </a:prstGeom>
          <a:solidFill>
            <a:srgbClr val="FDFBF7"/>
          </a:solidFill>
          <a:ln w="6350">
            <a:solidFill>
              <a:srgbClr val="D9D3C6"/>
            </a:solidFill>
            <a:prstDash val="solid"/>
          </a:ln>
        </p:spPr>
      </p:sp>
      <p:sp>
        <p:nvSpPr>
          <p:cNvPr id="17" name="Text 14"/>
          <p:cNvSpPr/>
          <p:nvPr/>
        </p:nvSpPr>
        <p:spPr>
          <a:xfrm>
            <a:off x="4500880" y="2799079"/>
            <a:ext cx="32859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7A"/>
                </a:solidFill>
                <a:latin typeface="Inter" pitchFamily="34" charset="0"/>
                <a:ea typeface="Inter" pitchFamily="34" charset="-122"/>
                <a:cs typeface="Inter" pitchFamily="34" charset="-120"/>
              </a:rPr>
              <a:t>2 · SOFTWARE</a:t>
            </a:r>
            <a:endParaRPr lang="en-US" sz="1200" dirty="0"/>
          </a:p>
        </p:txBody>
      </p:sp>
      <p:sp>
        <p:nvSpPr>
          <p:cNvPr id="18" name="Text 15"/>
          <p:cNvSpPr/>
          <p:nvPr/>
        </p:nvSpPr>
        <p:spPr>
          <a:xfrm>
            <a:off x="4500880" y="3088642"/>
            <a:ext cx="32859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5C"/>
                </a:solidFill>
                <a:latin typeface="Inter" pitchFamily="34" charset="0"/>
                <a:ea typeface="Inter" pitchFamily="34" charset="-122"/>
                <a:cs typeface="Inter" pitchFamily="34" charset="-120"/>
              </a:rPr>
              <a:t>Desarrollar el firmware en C con MPLAB XC8 para implementar:</a:t>
            </a:r>
            <a:endParaRPr lang="en-US" sz="1200" dirty="0"/>
          </a:p>
        </p:txBody>
      </p:sp>
      <p:sp>
        <p:nvSpPr>
          <p:cNvPr id="19" name="Shape 16"/>
          <p:cNvSpPr/>
          <p:nvPr/>
        </p:nvSpPr>
        <p:spPr>
          <a:xfrm>
            <a:off x="4513580" y="3591564"/>
            <a:ext cx="0" cy="426720"/>
          </a:xfrm>
          <a:prstGeom prst="line">
            <a:avLst/>
          </a:prstGeom>
          <a:noFill/>
          <a:ln w="25400">
            <a:solidFill>
              <a:srgbClr val="3FC8B8"/>
            </a:solidFill>
            <a:prstDash val="solid"/>
          </a:ln>
        </p:spPr>
      </p:sp>
      <p:sp>
        <p:nvSpPr>
          <p:cNvPr id="20" name="Text 17"/>
          <p:cNvSpPr/>
          <p:nvPr/>
        </p:nvSpPr>
        <p:spPr>
          <a:xfrm>
            <a:off x="4615180" y="3591564"/>
            <a:ext cx="316821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5C"/>
                </a:solidFill>
                <a:latin typeface="Inter" pitchFamily="34" charset="0"/>
                <a:ea typeface="Inter" pitchFamily="34" charset="-122"/>
                <a:cs typeface="Inter" pitchFamily="34" charset="-120"/>
              </a:rPr>
              <a:t>Lazos anticolisión que distinguen obstáculos dinámicos y estáticos.</a:t>
            </a:r>
            <a:endParaRPr lang="en-US" sz="1200" dirty="0"/>
          </a:p>
        </p:txBody>
      </p:sp>
      <p:sp>
        <p:nvSpPr>
          <p:cNvPr id="21" name="Shape 18"/>
          <p:cNvSpPr/>
          <p:nvPr/>
        </p:nvSpPr>
        <p:spPr>
          <a:xfrm>
            <a:off x="4513580" y="4094479"/>
            <a:ext cx="0" cy="426720"/>
          </a:xfrm>
          <a:prstGeom prst="line">
            <a:avLst/>
          </a:prstGeom>
          <a:noFill/>
          <a:ln w="25400">
            <a:solidFill>
              <a:srgbClr val="3FC8B8"/>
            </a:solidFill>
            <a:prstDash val="solid"/>
          </a:ln>
        </p:spPr>
      </p:sp>
      <p:sp>
        <p:nvSpPr>
          <p:cNvPr id="22" name="Text 19"/>
          <p:cNvSpPr/>
          <p:nvPr/>
        </p:nvSpPr>
        <p:spPr>
          <a:xfrm>
            <a:off x="4615180" y="4094479"/>
            <a:ext cx="316821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5C"/>
                </a:solidFill>
                <a:latin typeface="Inter" pitchFamily="34" charset="0"/>
                <a:ea typeface="Inter" pitchFamily="34" charset="-122"/>
                <a:cs typeface="Inter" pitchFamily="34" charset="-120"/>
              </a:rPr>
              <a:t>Máquina de estados por nodos magnéticos y lectura continua del ADC.</a:t>
            </a:r>
            <a:endParaRPr lang="en-US" sz="1200" dirty="0"/>
          </a:p>
        </p:txBody>
      </p:sp>
      <p:sp>
        <p:nvSpPr>
          <p:cNvPr id="23" name="Shape 20"/>
          <p:cNvSpPr/>
          <p:nvPr/>
        </p:nvSpPr>
        <p:spPr>
          <a:xfrm>
            <a:off x="4513580" y="4597400"/>
            <a:ext cx="0" cy="426720"/>
          </a:xfrm>
          <a:prstGeom prst="line">
            <a:avLst/>
          </a:prstGeom>
          <a:noFill/>
          <a:ln w="25400">
            <a:solidFill>
              <a:srgbClr val="3FC8B8"/>
            </a:solidFill>
            <a:prstDash val="solid"/>
          </a:ln>
        </p:spPr>
      </p:sp>
      <p:sp>
        <p:nvSpPr>
          <p:cNvPr id="24" name="Text 21"/>
          <p:cNvSpPr/>
          <p:nvPr/>
        </p:nvSpPr>
        <p:spPr>
          <a:xfrm>
            <a:off x="4615180" y="4597400"/>
            <a:ext cx="316821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5C"/>
                </a:solidFill>
                <a:latin typeface="Inter" pitchFamily="34" charset="0"/>
                <a:ea typeface="Inter" pitchFamily="34" charset="-122"/>
                <a:cs typeface="Inter" pitchFamily="34" charset="-120"/>
              </a:rPr>
              <a:t>Seguridad con el MC-38 y selección de rutas por UART desde el ESP32.</a:t>
            </a:r>
            <a:endParaRPr lang="en-US" sz="1200" dirty="0"/>
          </a:p>
        </p:txBody>
      </p:sp>
      <p:sp>
        <p:nvSpPr>
          <p:cNvPr id="25" name="Shape 22"/>
          <p:cNvSpPr/>
          <p:nvPr/>
        </p:nvSpPr>
        <p:spPr>
          <a:xfrm>
            <a:off x="8029575" y="2644775"/>
            <a:ext cx="3549650" cy="2533650"/>
          </a:xfrm>
          <a:prstGeom prst="roundRect">
            <a:avLst>
              <a:gd name="adj" fmla="val 3885"/>
            </a:avLst>
          </a:prstGeom>
          <a:solidFill>
            <a:srgbClr val="FDFBF7"/>
          </a:solidFill>
          <a:ln w="6350">
            <a:solidFill>
              <a:srgbClr val="D9D3C6"/>
            </a:solidFill>
            <a:prstDash val="solid"/>
          </a:ln>
        </p:spPr>
      </p:sp>
      <p:sp>
        <p:nvSpPr>
          <p:cNvPr id="26" name="Text 23"/>
          <p:cNvSpPr/>
          <p:nvPr/>
        </p:nvSpPr>
        <p:spPr>
          <a:xfrm>
            <a:off x="8209280" y="2799079"/>
            <a:ext cx="32859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7A"/>
                </a:solidFill>
                <a:latin typeface="Inter" pitchFamily="34" charset="0"/>
                <a:ea typeface="Inter" pitchFamily="34" charset="-122"/>
                <a:cs typeface="Inter" pitchFamily="34" charset="-120"/>
              </a:rPr>
              <a:t>3 · VALIDACIÓN</a:t>
            </a:r>
            <a:endParaRPr lang="en-US" sz="1200" dirty="0"/>
          </a:p>
        </p:txBody>
      </p:sp>
      <p:sp>
        <p:nvSpPr>
          <p:cNvPr id="27" name="Text 24"/>
          <p:cNvSpPr/>
          <p:nvPr/>
        </p:nvSpPr>
        <p:spPr>
          <a:xfrm>
            <a:off x="8209280" y="3088642"/>
            <a:ext cx="32859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5C"/>
                </a:solidFill>
                <a:latin typeface="Inter" pitchFamily="34" charset="0"/>
                <a:ea typeface="Inter" pitchFamily="34" charset="-122"/>
                <a:cs typeface="Inter" pitchFamily="34" charset="-120"/>
              </a:rPr>
              <a:t>Validar el prototipo en una pista simulada con encrucijadas magnéticas, midiendo:</a:t>
            </a:r>
            <a:endParaRPr lang="en-US" sz="1200" dirty="0"/>
          </a:p>
        </p:txBody>
      </p:sp>
      <p:sp>
        <p:nvSpPr>
          <p:cNvPr id="28" name="Shape 25"/>
          <p:cNvSpPr/>
          <p:nvPr/>
        </p:nvSpPr>
        <p:spPr>
          <a:xfrm>
            <a:off x="8221980" y="3591564"/>
            <a:ext cx="0" cy="213360"/>
          </a:xfrm>
          <a:prstGeom prst="line">
            <a:avLst/>
          </a:prstGeom>
          <a:noFill/>
          <a:ln w="25400">
            <a:solidFill>
              <a:srgbClr val="3FC8B8"/>
            </a:solidFill>
            <a:prstDash val="solid"/>
          </a:ln>
        </p:spPr>
      </p:sp>
      <p:sp>
        <p:nvSpPr>
          <p:cNvPr id="29" name="Text 26"/>
          <p:cNvSpPr/>
          <p:nvPr/>
        </p:nvSpPr>
        <p:spPr>
          <a:xfrm>
            <a:off x="8323580" y="3591564"/>
            <a:ext cx="316821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A5C"/>
                </a:solidFill>
                <a:latin typeface="Inter" pitchFamily="34" charset="0"/>
                <a:ea typeface="Inter" pitchFamily="34" charset="-122"/>
                <a:cs typeface="Inter" pitchFamily="34" charset="-120"/>
              </a:rPr>
              <a:t>Tasa de éxito</a:t>
            </a:r>
            <a:r>
              <a:rPr lang="en-US" sz="1200" dirty="0">
                <a:solidFill>
                  <a:srgbClr val="3B4A5C"/>
                </a:solidFill>
                <a:latin typeface="Inter" pitchFamily="34" charset="0"/>
                <a:ea typeface="Inter" pitchFamily="34" charset="-122"/>
                <a:cs typeface="Inter" pitchFamily="34" charset="-120"/>
              </a:rPr>
              <a:t> de llegada al Tópico 1 o 2.</a:t>
            </a:r>
            <a:endParaRPr lang="en-US" sz="1200" dirty="0"/>
          </a:p>
        </p:txBody>
      </p:sp>
      <p:sp>
        <p:nvSpPr>
          <p:cNvPr id="30" name="Shape 27"/>
          <p:cNvSpPr/>
          <p:nvPr/>
        </p:nvSpPr>
        <p:spPr>
          <a:xfrm>
            <a:off x="8221980" y="3881121"/>
            <a:ext cx="0" cy="426720"/>
          </a:xfrm>
          <a:prstGeom prst="line">
            <a:avLst/>
          </a:prstGeom>
          <a:noFill/>
          <a:ln w="25400">
            <a:solidFill>
              <a:srgbClr val="3FC8B8"/>
            </a:solidFill>
            <a:prstDash val="solid"/>
          </a:ln>
        </p:spPr>
      </p:sp>
      <p:sp>
        <p:nvSpPr>
          <p:cNvPr id="31" name="Text 28"/>
          <p:cNvSpPr/>
          <p:nvPr/>
        </p:nvSpPr>
        <p:spPr>
          <a:xfrm>
            <a:off x="8323580" y="3881121"/>
            <a:ext cx="3168218"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A5C"/>
                </a:solidFill>
                <a:latin typeface="Inter" pitchFamily="34" charset="0"/>
                <a:ea typeface="Inter" pitchFamily="34" charset="-122"/>
                <a:cs typeface="Inter" pitchFamily="34" charset="-120"/>
              </a:rPr>
              <a:t>Tiempo de reacción</a:t>
            </a:r>
            <a:r>
              <a:rPr lang="en-US" sz="1200" dirty="0">
                <a:solidFill>
                  <a:srgbClr val="3B4A5C"/>
                </a:solidFill>
                <a:latin typeface="Inter" pitchFamily="34" charset="0"/>
                <a:ea typeface="Inter" pitchFamily="34" charset="-122"/>
                <a:cs typeface="Inter" pitchFamily="34" charset="-120"/>
              </a:rPr>
              <a:t> hasta el frenado o la evasión lateral a 90°.</a:t>
            </a:r>
            <a:endParaRPr lang="en-US" sz="1200" dirty="0"/>
          </a:p>
        </p:txBody>
      </p:sp>
      <p:sp>
        <p:nvSpPr>
          <p:cNvPr id="32" name="Shape 29"/>
          <p:cNvSpPr/>
          <p:nvPr/>
        </p:nvSpPr>
        <p:spPr>
          <a:xfrm>
            <a:off x="8221980" y="4384042"/>
            <a:ext cx="0" cy="640080"/>
          </a:xfrm>
          <a:prstGeom prst="line">
            <a:avLst/>
          </a:prstGeom>
          <a:noFill/>
          <a:ln w="25400">
            <a:solidFill>
              <a:srgbClr val="3FC8B8"/>
            </a:solidFill>
            <a:prstDash val="solid"/>
          </a:ln>
        </p:spPr>
      </p:sp>
      <p:sp>
        <p:nvSpPr>
          <p:cNvPr id="33" name="Text 30"/>
          <p:cNvSpPr/>
          <p:nvPr/>
        </p:nvSpPr>
        <p:spPr>
          <a:xfrm>
            <a:off x="8323580" y="4384042"/>
            <a:ext cx="316821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4A5C"/>
                </a:solidFill>
                <a:latin typeface="Inter" pitchFamily="34" charset="0"/>
                <a:ea typeface="Inter" pitchFamily="34" charset="-122"/>
                <a:cs typeface="Inter" pitchFamily="34" charset="-120"/>
              </a:rPr>
              <a:t>Error absoluto</a:t>
            </a:r>
            <a:r>
              <a:rPr lang="en-US" sz="1200" dirty="0">
                <a:solidFill>
                  <a:srgbClr val="3B4A5C"/>
                </a:solidFill>
                <a:latin typeface="Inter" pitchFamily="34" charset="0"/>
                <a:ea typeface="Inter" pitchFamily="34" charset="-122"/>
                <a:cs typeface="Inter" pitchFamily="34" charset="-120"/>
              </a:rPr>
              <a:t> de temperatura, iluminación y campo magnético frente a instrumentos patrón.</a:t>
            </a:r>
            <a:endParaRPr lang="en-US" sz="1200" dirty="0"/>
          </a:p>
        </p:txBody>
      </p:sp>
      <p:sp>
        <p:nvSpPr>
          <p:cNvPr id="34" name="Text 31"/>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Elaboración propia. Informe del TP, sección IV.</a:t>
            </a:r>
            <a:endParaRPr lang="en-US" sz="1200" dirty="0"/>
          </a:p>
        </p:txBody>
      </p:sp>
      <p:sp>
        <p:nvSpPr>
          <p:cNvPr id="35" name="Text 32"/>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14 / 32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V · MATERIALES Y COSTOS · 1 DE 2</a:t>
            </a:r>
            <a:endParaRPr lang="en-US" sz="1200" dirty="0"/>
          </a:p>
        </p:txBody>
      </p:sp>
      <p:sp>
        <p:nvSpPr>
          <p:cNvPr id="5" name="Text 2"/>
          <p:cNvSpPr/>
          <p:nvPr>
            <p:ph type="title"/>
          </p:nvPr>
        </p:nvSpPr>
        <p:spPr>
          <a:xfrm>
            <a:off x="609600" y="708664"/>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Lista de materiales del prototipo</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9760" y="1262381"/>
          <a:ext cx="10962640" cy="3632200"/>
        </p:xfrm>
        <a:graphic>
          <a:graphicData uri="http://schemas.openxmlformats.org/drawingml/2006/table">
            <a:tbl>
              <a:tblPr/>
              <a:tblGrid>
                <a:gridCol w="2740660"/>
                <a:gridCol w="4933188"/>
                <a:gridCol w="1315517"/>
                <a:gridCol w="1973275"/>
              </a:tblGrid>
              <a:tr h="330200">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Subsistema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Componente</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Cantidad</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algn="r" indent="0" marL="0">
                        <a:lnSpc>
                          <a:spcPts val="1680"/>
                        </a:lnSpc>
                        <a:buNone/>
                      </a:pPr>
                      <a:r>
                        <a:rPr lang="en-US" sz="1200" b="1" dirty="0">
                          <a:solidFill>
                            <a:srgbClr val="F3F7F8"/>
                          </a:solidFill>
                          <a:latin typeface="Inter" pitchFamily="34" charset="0"/>
                          <a:ea typeface="Inter" pitchFamily="34" charset="-122"/>
                          <a:cs typeface="Inter" pitchFamily="34" charset="-120"/>
                        </a:rPr>
                        <a:t>Costo (S/)</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Procesamiento y control</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PIC18F47Q10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135.00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Visualización local</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Pantalla OLED 0.96" SSD1306 (I²C)</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15.00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Escudo de navegación</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Cinta magnética adhesiva (hitos de pista)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 pack</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10.00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Comunicaciones IoT</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Módulo ESP32</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14.00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Comunicaciones IoT</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Conversor de nivel TXS0108</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16.00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Tracción Mecanum</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Ruedas Mecanum (60 mm)</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70.00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Tracción Mecanum</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Motores DC (6 V, 200 rpm)</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32.00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Etapa de potencia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Módulo driver puente H TB6612FNG</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2</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30.00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Regulación y energía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Batería LiPo 3S (11.1 V, 2200 mAh)</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120.00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Regulación y energía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Regulador LM2596 (5 V)</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8.00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bl>
          </a:graphicData>
        </a:graphic>
      </p:graphicFrame>
      <p:sp>
        <p:nvSpPr>
          <p:cNvPr id="7" name="Text 3"/>
          <p:cNvSpPr/>
          <p:nvPr/>
        </p:nvSpPr>
        <p:spPr>
          <a:xfrm>
            <a:off x="609600" y="5046979"/>
            <a:ext cx="11301984"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B7C"/>
                </a:solidFill>
                <a:latin typeface="Inter" pitchFamily="34" charset="0"/>
                <a:ea typeface="Inter" pitchFamily="34" charset="-122"/>
                <a:cs typeface="Inter" pitchFamily="34" charset="-120"/>
              </a:rPr>
              <a:t>Tabla 2 (1/2).</a:t>
            </a:r>
            <a:r>
              <a:rPr lang="en-US" sz="1200" dirty="0">
                <a:solidFill>
                  <a:srgbClr val="5B6B7C"/>
                </a:solidFill>
                <a:latin typeface="Inter" pitchFamily="34" charset="0"/>
                <a:ea typeface="Inter" pitchFamily="34" charset="-122"/>
                <a:cs typeface="Inter" pitchFamily="34" charset="-120"/>
              </a:rPr>
              <a:t> Lista de materiales y costos del prototipo. Continúa en la diapositiva siguiente. Fuente: Elaboración propia.</a:t>
            </a:r>
            <a:endParaRPr lang="en-US" sz="1200" dirty="0"/>
          </a:p>
        </p:txBody>
      </p:sp>
      <p:sp>
        <p:nvSpPr>
          <p:cNvPr id="8" name="Text 4"/>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Tabla 2 del informe del TP.</a:t>
            </a:r>
            <a:endParaRPr lang="en-US" sz="1200" dirty="0"/>
          </a:p>
        </p:txBody>
      </p:sp>
      <p:sp>
        <p:nvSpPr>
          <p:cNvPr id="9" name="Text 5"/>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15 / 32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V · MATERIALES Y COSTOS · 2 DE 2</a:t>
            </a:r>
            <a:endParaRPr lang="en-US" sz="1200" dirty="0"/>
          </a:p>
        </p:txBody>
      </p:sp>
      <p:sp>
        <p:nvSpPr>
          <p:cNvPr id="5" name="Text 2"/>
          <p:cNvSpPr/>
          <p:nvPr>
            <p:ph type="title"/>
          </p:nvPr>
        </p:nvSpPr>
        <p:spPr>
          <a:xfrm>
            <a:off x="609600" y="708664"/>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Protección, sensado, estructura y total</a:t>
            </a:r>
            <a:endParaRPr lang="en-US" sz="2800" dirty="0"/>
          </a:p>
        </p:txBody>
      </p:sp>
      <p:sp>
        <p:nvSpPr>
          <p:cNvPr id="6" name="Text 3"/>
          <p:cNvSpPr/>
          <p:nvPr/>
        </p:nvSpPr>
        <p:spPr>
          <a:xfrm>
            <a:off x="609600" y="1252227"/>
            <a:ext cx="549402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7A7A"/>
                </a:solidFill>
                <a:latin typeface="Montserrat" pitchFamily="34" charset="0"/>
                <a:ea typeface="Montserrat" pitchFamily="34" charset="-122"/>
                <a:cs typeface="Montserrat" pitchFamily="34" charset="-120"/>
              </a:rPr>
              <a:t>Protección y trazabilidad</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760" y="1564645"/>
          <a:ext cx="5323840" cy="2971800"/>
        </p:xfrm>
        <a:graphic>
          <a:graphicData uri="http://schemas.openxmlformats.org/drawingml/2006/table">
            <a:tbl>
              <a:tblPr/>
              <a:tblGrid>
                <a:gridCol w="2981350"/>
                <a:gridCol w="851814"/>
                <a:gridCol w="1490675"/>
              </a:tblGrid>
              <a:tr h="330200">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Componente</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Cant.</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algn="r" indent="0" marL="0">
                        <a:lnSpc>
                          <a:spcPts val="1680"/>
                        </a:lnSpc>
                        <a:buNone/>
                      </a:pPr>
                      <a:r>
                        <a:rPr lang="en-US" sz="1200" b="1" dirty="0">
                          <a:solidFill>
                            <a:srgbClr val="F3F7F8"/>
                          </a:solidFill>
                          <a:latin typeface="Inter" pitchFamily="34" charset="0"/>
                          <a:ea typeface="Inter" pitchFamily="34" charset="-122"/>
                          <a:cs typeface="Inter" pitchFamily="34" charset="-120"/>
                        </a:rPr>
                        <a:t>S/</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Optoacopladores PC817</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6.00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Diodos 1N4007</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2.00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Capacitores cerámicos (100 nF)</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Capacitores electrolíticos</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 pack</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Resistencias</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 pack</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Fotorresistencia LDR</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2.50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Sensor de temperatura LM35</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6.50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Sensor magnético MC-38</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10.00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bl>
          </a:graphicData>
        </a:graphic>
      </p:graphicFrame>
      <p:sp>
        <p:nvSpPr>
          <p:cNvPr id="8" name="Shape 4"/>
          <p:cNvSpPr/>
          <p:nvPr/>
        </p:nvSpPr>
        <p:spPr>
          <a:xfrm>
            <a:off x="609600" y="4625342"/>
            <a:ext cx="5334000" cy="787400"/>
          </a:xfrm>
          <a:prstGeom prst="roundRect">
            <a:avLst>
              <a:gd name="adj" fmla="val 12903"/>
            </a:avLst>
          </a:prstGeom>
          <a:solidFill>
            <a:srgbClr val="0B2239"/>
          </a:solidFill>
          <a:ln/>
        </p:spPr>
      </p:sp>
      <p:sp>
        <p:nvSpPr>
          <p:cNvPr id="9" name="Text 5"/>
          <p:cNvSpPr/>
          <p:nvPr/>
        </p:nvSpPr>
        <p:spPr>
          <a:xfrm>
            <a:off x="787400" y="4903477"/>
            <a:ext cx="653336"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3FC8B8"/>
                </a:solidFill>
                <a:latin typeface="Inter" pitchFamily="34" charset="0"/>
                <a:ea typeface="Inter" pitchFamily="34" charset="-122"/>
                <a:cs typeface="Inter" pitchFamily="34" charset="-120"/>
              </a:rPr>
              <a:t>TOTAL</a:t>
            </a:r>
            <a:endParaRPr lang="en-US" sz="1300" dirty="0"/>
          </a:p>
        </p:txBody>
      </p:sp>
      <p:sp>
        <p:nvSpPr>
          <p:cNvPr id="10" name="Text 6"/>
          <p:cNvSpPr/>
          <p:nvPr/>
        </p:nvSpPr>
        <p:spPr>
          <a:xfrm>
            <a:off x="1415632" y="4752342"/>
            <a:ext cx="4350168" cy="558800"/>
          </a:xfrm>
          <a:prstGeom prst="rect">
            <a:avLst/>
          </a:prstGeom>
          <a:noFill/>
          <a:ln/>
        </p:spPr>
        <p:txBody>
          <a:bodyPr wrap="square" lIns="0" tIns="0" rIns="0" bIns="0" rtlCol="0" anchor="t">
            <a:normAutofit/>
          </a:bodyPr>
          <a:lstStyle/>
          <a:p>
            <a:pPr algn="r" indent="0" marL="0">
              <a:lnSpc>
                <a:spcPts val="4200"/>
              </a:lnSpc>
              <a:buNone/>
            </a:pPr>
            <a:r>
              <a:rPr lang="en-US" sz="3000" b="1" dirty="0">
                <a:solidFill>
                  <a:srgbClr val="F3F7F8"/>
                </a:solidFill>
                <a:latin typeface="Montserrat" pitchFamily="34" charset="0"/>
                <a:ea typeface="Montserrat" pitchFamily="34" charset="-122"/>
                <a:cs typeface="Montserrat" pitchFamily="34" charset="-120"/>
              </a:rPr>
              <a:t>S/ 668.40</a:t>
            </a:r>
            <a:endParaRPr lang="en-US" sz="3000" dirty="0"/>
          </a:p>
        </p:txBody>
      </p:sp>
      <p:sp>
        <p:nvSpPr>
          <p:cNvPr id="11" name="Text 7"/>
          <p:cNvSpPr/>
          <p:nvPr/>
        </p:nvSpPr>
        <p:spPr>
          <a:xfrm>
            <a:off x="6197600" y="1252227"/>
            <a:ext cx="554634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B7A7A"/>
                </a:solidFill>
                <a:latin typeface="Montserrat" pitchFamily="34" charset="0"/>
                <a:ea typeface="Montserrat" pitchFamily="34" charset="-122"/>
                <a:cs typeface="Montserrat" pitchFamily="34" charset="-120"/>
              </a:rPr>
              <a:t>Navegación y estructura</a:t>
            </a:r>
            <a:endParaRPr lang="en-US" sz="1400" dirty="0"/>
          </a:p>
        </p:txBody>
      </p:sp>
      <p:graphicFrame>
        <p:nvGraphicFramePr>
          <p:cNvPr id="12" name="Table 1"/>
          <p:cNvGraphicFramePr>
            <a:graphicFrameLocks noGrp="1"/>
          </p:cNvGraphicFramePr>
          <p:nvPr>
            <p:extLst>
              <p:ext uri="{D42A27DB-BD31-4B8C-83A1-F6EECF244321}">
                <p14:modId xmlns:p14="http://schemas.microsoft.com/office/powerpoint/2010/main" val="1579011935"/>
              </p:ext>
            </p:extLst>
          </p:nvPr>
        </p:nvGraphicFramePr>
        <p:xfrm>
          <a:off x="6207760" y="1564645"/>
          <a:ext cx="5374640" cy="3632200"/>
        </p:xfrm>
        <a:graphic>
          <a:graphicData uri="http://schemas.openxmlformats.org/drawingml/2006/table">
            <a:tbl>
              <a:tblPr/>
              <a:tblGrid>
                <a:gridCol w="3117291"/>
                <a:gridCol w="752450"/>
                <a:gridCol w="1504899"/>
              </a:tblGrid>
              <a:tr h="330200">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Componente</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Cant.</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algn="r" indent="0" marL="0">
                        <a:lnSpc>
                          <a:spcPts val="1680"/>
                        </a:lnSpc>
                        <a:buNone/>
                      </a:pPr>
                      <a:r>
                        <a:rPr lang="en-US" sz="1200" b="1" dirty="0">
                          <a:solidFill>
                            <a:srgbClr val="F3F7F8"/>
                          </a:solidFill>
                          <a:latin typeface="Inter" pitchFamily="34" charset="0"/>
                          <a:ea typeface="Inter" pitchFamily="34" charset="-122"/>
                          <a:cs typeface="Inter" pitchFamily="34" charset="-120"/>
                        </a:rPr>
                        <a:t>S/</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Sensor efecto Hall SS49E</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2</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16.00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Sensor ToF VL53L0X</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2</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32.00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PIR HC-SR505</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2</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13.00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Ultrasonido HC-SR04</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32.00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Placas perforadas</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3</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15.00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Borneras</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Pines header</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2</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Cables sólidos (4 m)</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3.20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Cable de múltiples hilos (4 m)</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3.20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Chasis híbrido MDF, acrílico y PLA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algn="r" indent="0" marL="0">
                        <a:lnSpc>
                          <a:spcPts val="1680"/>
                        </a:lnSpc>
                        <a:buNone/>
                      </a:pPr>
                      <a:r>
                        <a:rPr lang="en-US" sz="1200" dirty="0">
                          <a:solidFill>
                            <a:srgbClr val="14213D"/>
                          </a:solidFill>
                          <a:latin typeface="Inter" pitchFamily="34" charset="0"/>
                          <a:ea typeface="Inter" pitchFamily="34" charset="-122"/>
                          <a:cs typeface="Inter" pitchFamily="34" charset="-120"/>
                        </a:rPr>
                        <a:t>60.00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bl>
          </a:graphicData>
        </a:graphic>
      </p:graphicFrame>
      <p:sp>
        <p:nvSpPr>
          <p:cNvPr id="13" name="Text 8"/>
          <p:cNvSpPr/>
          <p:nvPr/>
        </p:nvSpPr>
        <p:spPr>
          <a:xfrm>
            <a:off x="609600" y="5565142"/>
            <a:ext cx="11301984"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B7C"/>
                </a:solidFill>
                <a:latin typeface="Inter" pitchFamily="34" charset="0"/>
                <a:ea typeface="Inter" pitchFamily="34" charset="-122"/>
                <a:cs typeface="Inter" pitchFamily="34" charset="-120"/>
              </a:rPr>
              <a:t>Tabla 2 (2/2).</a:t>
            </a:r>
            <a:r>
              <a:rPr lang="en-US" sz="1200" dirty="0">
                <a:solidFill>
                  <a:srgbClr val="5B6B7C"/>
                </a:solidFill>
                <a:latin typeface="Inter" pitchFamily="34" charset="0"/>
                <a:ea typeface="Inter" pitchFamily="34" charset="-122"/>
                <a:cs typeface="Inter" pitchFamily="34" charset="-120"/>
              </a:rPr>
              <a:t> Lista de materiales y costos del prototipo; el total incluye también la diapositiva anterior. Fuente: Elaboración propia.</a:t>
            </a:r>
            <a:endParaRPr lang="en-US" sz="1200" dirty="0"/>
          </a:p>
        </p:txBody>
      </p:sp>
      <p:sp>
        <p:nvSpPr>
          <p:cNvPr id="14" name="Text 9"/>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Tabla 2 del informe del TP.</a:t>
            </a:r>
            <a:endParaRPr lang="en-US" sz="1200" dirty="0"/>
          </a:p>
        </p:txBody>
      </p:sp>
      <p:sp>
        <p:nvSpPr>
          <p:cNvPr id="15" name="Text 10"/>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16 / 32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0108"/>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0B7A7A"/>
                </a:solidFill>
                <a:latin typeface="Inter" pitchFamily="34" charset="0"/>
                <a:ea typeface="Inter" pitchFamily="34" charset="-122"/>
                <a:cs typeface="Inter" pitchFamily="34" charset="-120"/>
              </a:rPr>
              <a:t>V · SELECCIÓN DE MATERIALES · TABLA 3</a:t>
            </a:r>
            <a:endParaRPr lang="en-US" sz="1159" dirty="0"/>
          </a:p>
        </p:txBody>
      </p:sp>
      <p:sp>
        <p:nvSpPr>
          <p:cNvPr id="5" name="Text 2"/>
          <p:cNvSpPr/>
          <p:nvPr>
            <p:ph type="title"/>
          </p:nvPr>
        </p:nvSpPr>
        <p:spPr>
          <a:xfrm>
            <a:off x="609600" y="700013"/>
            <a:ext cx="10203180" cy="400606"/>
          </a:xfrm>
          <a:prstGeom prst="rect">
            <a:avLst/>
          </a:prstGeom>
          <a:noFill/>
          <a:ln/>
        </p:spPr>
        <p:txBody>
          <a:bodyPr wrap="square" lIns="0" tIns="0" rIns="0" bIns="0" rtlCol="0" anchor="t">
            <a:normAutofit/>
          </a:bodyPr>
          <a:lstStyle/>
          <a:p>
            <a:pPr algn="l" indent="0" marL="0">
              <a:lnSpc>
                <a:spcPts val="2974"/>
              </a:lnSpc>
              <a:buNone/>
            </a:pPr>
            <a:r>
              <a:rPr lang="en-US" sz="2704" b="1" i="0" dirty="0">
                <a:solidFill>
                  <a:srgbClr val="14213D"/>
                </a:solidFill>
                <a:latin typeface="Montserrat" pitchFamily="34" charset="0"/>
                <a:ea typeface="Montserrat" pitchFamily="34" charset="-122"/>
                <a:cs typeface="Montserrat" pitchFamily="34" charset="-120"/>
              </a:rPr>
              <a:t>Motor DC: TT amarillo frente a TT azul</a:t>
            </a:r>
            <a:endParaRPr lang="en-US" sz="2704"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9760" y="1237781"/>
          <a:ext cx="6593840" cy="3164840"/>
        </p:xfrm>
        <a:graphic>
          <a:graphicData uri="http://schemas.openxmlformats.org/drawingml/2006/table">
            <a:tbl>
              <a:tblPr/>
              <a:tblGrid>
                <a:gridCol w="1450645"/>
                <a:gridCol w="1582522"/>
                <a:gridCol w="1846275"/>
                <a:gridCol w="1714398"/>
              </a:tblGrid>
              <a:tr h="330200">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Parámetro</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Requisito</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TT amarillo (elegido)</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TT azul</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Tipo de motor</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DC con reductora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1:48, engranajes de plástico</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1:90, engranajes metálicos</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Torque</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Mayor a 0.05 N·m</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0.08 N·m</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0.25 N·m</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Corriente de arranque</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Hasta 1 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1.0 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1.5 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Inductancia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Baja (menos de 1.0 mH)</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0.3 mH</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~0.5 mH</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Peso</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Ligero (menos de 50 g)</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30 g</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38 g</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Precio</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Menor a S/ 15.00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S/ 8.00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S/ 12.50</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bl>
          </a:graphicData>
        </a:graphic>
      </p:graphicFrame>
      <p:sp>
        <p:nvSpPr>
          <p:cNvPr id="7" name="Text 3"/>
          <p:cNvSpPr/>
          <p:nvPr/>
        </p:nvSpPr>
        <p:spPr>
          <a:xfrm>
            <a:off x="609600" y="4491521"/>
            <a:ext cx="680212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B7C"/>
                </a:solidFill>
                <a:latin typeface="Inter" pitchFamily="34" charset="0"/>
                <a:ea typeface="Inter" pitchFamily="34" charset="-122"/>
                <a:cs typeface="Inter" pitchFamily="34" charset="-120"/>
              </a:rPr>
              <a:t>Tabla 3.</a:t>
            </a:r>
            <a:r>
              <a:rPr lang="en-US" sz="1200" dirty="0">
                <a:solidFill>
                  <a:srgbClr val="5B6B7C"/>
                </a:solidFill>
                <a:latin typeface="Inter" pitchFamily="34" charset="0"/>
                <a:ea typeface="Inter" pitchFamily="34" charset="-122"/>
                <a:cs typeface="Inter" pitchFamily="34" charset="-120"/>
              </a:rPr>
              <a:t> Selección del motor DC (actuador). Fuente: Elaboración propia.</a:t>
            </a:r>
            <a:endParaRPr lang="en-US" sz="1200" dirty="0"/>
          </a:p>
        </p:txBody>
      </p:sp>
      <p:sp>
        <p:nvSpPr>
          <p:cNvPr id="8" name="Shape 4"/>
          <p:cNvSpPr/>
          <p:nvPr/>
        </p:nvSpPr>
        <p:spPr>
          <a:xfrm>
            <a:off x="612775" y="4781711"/>
            <a:ext cx="6597650" cy="1504950"/>
          </a:xfrm>
          <a:prstGeom prst="roundRect">
            <a:avLst>
              <a:gd name="adj" fmla="val 6540"/>
            </a:avLst>
          </a:prstGeom>
          <a:solidFill>
            <a:srgbClr val="FDFBF7"/>
          </a:solidFill>
          <a:ln w="6350">
            <a:solidFill>
              <a:srgbClr val="D9D3C6"/>
            </a:solidFill>
            <a:prstDash val="solid"/>
          </a:ln>
        </p:spPr>
      </p:sp>
      <p:sp>
        <p:nvSpPr>
          <p:cNvPr id="9" name="Text 5"/>
          <p:cNvSpPr/>
          <p:nvPr/>
        </p:nvSpPr>
        <p:spPr>
          <a:xfrm>
            <a:off x="767080" y="4897921"/>
            <a:ext cx="647771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Torque en N·m (requisito: mayor a 0.05)</a:t>
            </a:r>
            <a:endParaRPr lang="en-US" sz="1200" dirty="0"/>
          </a:p>
        </p:txBody>
      </p:sp>
      <p:sp>
        <p:nvSpPr>
          <p:cNvPr id="10" name="Text 6"/>
          <p:cNvSpPr/>
          <p:nvPr/>
        </p:nvSpPr>
        <p:spPr>
          <a:xfrm>
            <a:off x="767080" y="5212879"/>
            <a:ext cx="1511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5C"/>
                </a:solidFill>
                <a:latin typeface="Inter" pitchFamily="34" charset="0"/>
                <a:ea typeface="Inter" pitchFamily="34" charset="-122"/>
                <a:cs typeface="Inter" pitchFamily="34" charset="-120"/>
              </a:rPr>
              <a:t>Requisito</a:t>
            </a:r>
            <a:endParaRPr lang="en-US" sz="1200" dirty="0"/>
          </a:p>
        </p:txBody>
      </p:sp>
      <p:sp>
        <p:nvSpPr>
          <p:cNvPr id="11" name="Text 7"/>
          <p:cNvSpPr/>
          <p:nvPr/>
        </p:nvSpPr>
        <p:spPr>
          <a:xfrm>
            <a:off x="2329180" y="5174779"/>
            <a:ext cx="1016000" cy="289560"/>
          </a:xfrm>
          <a:prstGeom prst="roundRect">
            <a:avLst>
              <a:gd name="adj" fmla="val 17544"/>
            </a:avLst>
          </a:prstGeom>
          <a:solidFill>
            <a:srgbClr val="8A96A3"/>
          </a:solidFill>
          <a:ln/>
        </p:spPr>
        <p:txBody>
          <a:bodyPr wrap="square" lIns="74021" tIns="23221" rIns="23221"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0.05</a:t>
            </a:r>
            <a:endParaRPr lang="en-US" sz="1200" dirty="0"/>
          </a:p>
        </p:txBody>
      </p:sp>
      <p:sp>
        <p:nvSpPr>
          <p:cNvPr id="12" name="Text 8"/>
          <p:cNvSpPr/>
          <p:nvPr/>
        </p:nvSpPr>
        <p:spPr>
          <a:xfrm>
            <a:off x="767080" y="5565936"/>
            <a:ext cx="1511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5C"/>
                </a:solidFill>
                <a:latin typeface="Inter" pitchFamily="34" charset="0"/>
                <a:ea typeface="Inter" pitchFamily="34" charset="-122"/>
                <a:cs typeface="Inter" pitchFamily="34" charset="-120"/>
              </a:rPr>
              <a:t>TT amarillo</a:t>
            </a:r>
            <a:endParaRPr lang="en-US" sz="1200" dirty="0"/>
          </a:p>
        </p:txBody>
      </p:sp>
      <p:sp>
        <p:nvSpPr>
          <p:cNvPr id="13" name="Text 9"/>
          <p:cNvSpPr/>
          <p:nvPr/>
        </p:nvSpPr>
        <p:spPr>
          <a:xfrm>
            <a:off x="2329180" y="5527836"/>
            <a:ext cx="1625600" cy="289560"/>
          </a:xfrm>
          <a:prstGeom prst="roundRect">
            <a:avLst>
              <a:gd name="adj" fmla="val 17544"/>
            </a:avLst>
          </a:prstGeom>
          <a:solidFill>
            <a:srgbClr val="0B7A7A"/>
          </a:solidFill>
          <a:ln/>
        </p:spPr>
        <p:txBody>
          <a:bodyPr wrap="square" lIns="74021" tIns="23221" rIns="23221"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0.08</a:t>
            </a:r>
            <a:endParaRPr lang="en-US" sz="1200" dirty="0"/>
          </a:p>
        </p:txBody>
      </p:sp>
      <p:sp>
        <p:nvSpPr>
          <p:cNvPr id="14" name="Text 10"/>
          <p:cNvSpPr/>
          <p:nvPr/>
        </p:nvSpPr>
        <p:spPr>
          <a:xfrm>
            <a:off x="767080" y="5918994"/>
            <a:ext cx="1511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5C"/>
                </a:solidFill>
                <a:latin typeface="Inter" pitchFamily="34" charset="0"/>
                <a:ea typeface="Inter" pitchFamily="34" charset="-122"/>
                <a:cs typeface="Inter" pitchFamily="34" charset="-120"/>
              </a:rPr>
              <a:t>TT azul</a:t>
            </a:r>
            <a:endParaRPr lang="en-US" sz="1200" dirty="0"/>
          </a:p>
        </p:txBody>
      </p:sp>
      <p:sp>
        <p:nvSpPr>
          <p:cNvPr id="15" name="Text 11"/>
          <p:cNvSpPr/>
          <p:nvPr/>
        </p:nvSpPr>
        <p:spPr>
          <a:xfrm>
            <a:off x="2329180" y="5880894"/>
            <a:ext cx="4445000" cy="289560"/>
          </a:xfrm>
          <a:prstGeom prst="roundRect">
            <a:avLst>
              <a:gd name="adj" fmla="val 17544"/>
            </a:avLst>
          </a:prstGeom>
          <a:solidFill>
            <a:srgbClr val="B8412B"/>
          </a:solidFill>
          <a:ln/>
        </p:spPr>
        <p:txBody>
          <a:bodyPr wrap="square" lIns="74021" tIns="23221"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0.25</a:t>
            </a:r>
            <a:endParaRPr lang="en-US" sz="1200" dirty="0"/>
          </a:p>
        </p:txBody>
      </p:sp>
      <p:sp>
        <p:nvSpPr>
          <p:cNvPr id="16" name="Shape 12"/>
          <p:cNvSpPr/>
          <p:nvPr/>
        </p:nvSpPr>
        <p:spPr>
          <a:xfrm>
            <a:off x="7518400" y="1227621"/>
            <a:ext cx="4064000" cy="2740660"/>
          </a:xfrm>
          <a:prstGeom prst="roundRect">
            <a:avLst>
              <a:gd name="adj" fmla="val 3707"/>
            </a:avLst>
          </a:prstGeom>
          <a:solidFill>
            <a:srgbClr val="0B2239"/>
          </a:solidFill>
          <a:ln/>
        </p:spPr>
      </p:sp>
      <p:pic>
        <p:nvPicPr>
          <p:cNvPr id="17" name="Image 1" descr="CheckCircle">    </p:cNvPr>
          <p:cNvPicPr>
            <a:picLocks noChangeAspect="1"/>
          </p:cNvPicPr>
          <p:nvPr/>
        </p:nvPicPr>
        <p:blipFill>
          <a:blip r:embed="rId2"/>
          <a:srcRect l="0" r="0" t="0" b="0"/>
          <a:stretch/>
        </p:blipFill>
        <p:spPr>
          <a:xfrm>
            <a:off x="7721600" y="1430821"/>
            <a:ext cx="355600" cy="355600"/>
          </a:xfrm>
          <a:prstGeom prst="rect">
            <a:avLst/>
          </a:prstGeom>
        </p:spPr>
      </p:pic>
      <p:sp>
        <p:nvSpPr>
          <p:cNvPr id="18" name="Text 13"/>
          <p:cNvSpPr/>
          <p:nvPr/>
        </p:nvSpPr>
        <p:spPr>
          <a:xfrm>
            <a:off x="7721600" y="1888021"/>
            <a:ext cx="376732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C8B8"/>
                </a:solidFill>
                <a:latin typeface="Inter" pitchFamily="34" charset="0"/>
                <a:ea typeface="Inter" pitchFamily="34" charset="-122"/>
                <a:cs typeface="Inter" pitchFamily="34" charset="-120"/>
              </a:rPr>
              <a:t>SELECCIONADO</a:t>
            </a:r>
            <a:endParaRPr lang="en-US" sz="1200" dirty="0"/>
          </a:p>
        </p:txBody>
      </p:sp>
      <p:sp>
        <p:nvSpPr>
          <p:cNvPr id="19" name="Text 14"/>
          <p:cNvSpPr/>
          <p:nvPr/>
        </p:nvSpPr>
        <p:spPr>
          <a:xfrm>
            <a:off x="7721600" y="2202979"/>
            <a:ext cx="376732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7F8"/>
                </a:solidFill>
                <a:latin typeface="Montserrat" pitchFamily="34" charset="0"/>
                <a:ea typeface="Montserrat" pitchFamily="34" charset="-122"/>
                <a:cs typeface="Montserrat" pitchFamily="34" charset="-120"/>
              </a:rPr>
              <a:t>Motor TT amarillo</a:t>
            </a:r>
            <a:endParaRPr lang="en-US" sz="2000" dirty="0"/>
          </a:p>
        </p:txBody>
      </p:sp>
      <p:sp>
        <p:nvSpPr>
          <p:cNvPr id="20" name="Text 15"/>
          <p:cNvSpPr/>
          <p:nvPr/>
        </p:nvSpPr>
        <p:spPr>
          <a:xfrm>
            <a:off x="7721600" y="2609379"/>
            <a:ext cx="3767328" cy="1181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3"/>
                </a:solidFill>
                <a:latin typeface="Inter" pitchFamily="34" charset="0"/>
                <a:ea typeface="Inter" pitchFamily="34" charset="-122"/>
                <a:cs typeface="Inter" pitchFamily="34" charset="-120"/>
              </a:rPr>
              <a:t>Su torque de 0.08 N·m supera el mínimo de 0.05 N·m, con corriente de arranque de 1.0 A. Además tiene menor inductancia, menor peso (30 g) y menor costo unitario (S/ 8.00), lo que reduce el peso y el presupuesto del prototipo.</a:t>
            </a:r>
            <a:endParaRPr lang="en-US" sz="1300" dirty="0"/>
          </a:p>
        </p:txBody>
      </p:sp>
      <p:sp>
        <p:nvSpPr>
          <p:cNvPr id="21" name="Text 16"/>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Tabla 3 del informe del TP.</a:t>
            </a:r>
            <a:endParaRPr lang="en-US" sz="1200" dirty="0"/>
          </a:p>
        </p:txBody>
      </p:sp>
      <p:sp>
        <p:nvSpPr>
          <p:cNvPr id="22" name="Text 17"/>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17 / 32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V · SELECCIÓN DE MATERIALES · TABLA 4</a:t>
            </a:r>
            <a:endParaRPr lang="en-US" sz="1200" dirty="0"/>
          </a:p>
        </p:txBody>
      </p:sp>
      <p:sp>
        <p:nvSpPr>
          <p:cNvPr id="5" name="Text 2"/>
          <p:cNvSpPr/>
          <p:nvPr>
            <p:ph type="title"/>
          </p:nvPr>
        </p:nvSpPr>
        <p:spPr>
          <a:xfrm>
            <a:off x="609600" y="708658"/>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Driver de motores: TB6612FNG</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9760" y="1262387"/>
          <a:ext cx="6593840" cy="3708400"/>
        </p:xfrm>
        <a:graphic>
          <a:graphicData uri="http://schemas.openxmlformats.org/drawingml/2006/table">
            <a:tbl>
              <a:tblPr/>
              <a:tblGrid>
                <a:gridCol w="1648460"/>
                <a:gridCol w="989076"/>
                <a:gridCol w="1186891"/>
                <a:gridCol w="1252830"/>
                <a:gridCol w="1516583"/>
              </a:tblGrid>
              <a:tr h="330200">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Parámetro</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Requisito</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L293D</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L298N</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TB6612FNG</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Corriente continua por canal</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Mayor a 0.5 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0.6 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2.0 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1.2 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Corriente pico (arranque)</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Mayor a 0.5 A</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1.2 A</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3.0 A</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3.2 A</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Transistores</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MOSFET</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BJT</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BJT</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MOSFET</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Caída de tensión interna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Menor</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Alta (~1.5 V)</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Alta (~1.5 a 2 V)</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Muy baja</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Eficiencia térmica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Alta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Baja (se calienta)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Baja (gran disipador)</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Alta (sin disipador)</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Dimensiones</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Compacto</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Regular (chip DIP)</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Muy grande</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Ultra compacto</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Precio</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S/ 3.00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S/ 15.00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S/ 15.00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bl>
          </a:graphicData>
        </a:graphic>
      </p:graphicFrame>
      <p:sp>
        <p:nvSpPr>
          <p:cNvPr id="7" name="Text 3"/>
          <p:cNvSpPr/>
          <p:nvPr/>
        </p:nvSpPr>
        <p:spPr>
          <a:xfrm>
            <a:off x="609600" y="5059685"/>
            <a:ext cx="680212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B7C"/>
                </a:solidFill>
                <a:latin typeface="Inter" pitchFamily="34" charset="0"/>
                <a:ea typeface="Inter" pitchFamily="34" charset="-122"/>
                <a:cs typeface="Inter" pitchFamily="34" charset="-120"/>
              </a:rPr>
              <a:t>Tabla 4.</a:t>
            </a:r>
            <a:r>
              <a:rPr lang="en-US" sz="1200" dirty="0">
                <a:solidFill>
                  <a:srgbClr val="5B6B7C"/>
                </a:solidFill>
                <a:latin typeface="Inter" pitchFamily="34" charset="0"/>
                <a:ea typeface="Inter" pitchFamily="34" charset="-122"/>
                <a:cs typeface="Inter" pitchFamily="34" charset="-120"/>
              </a:rPr>
              <a:t> Selección del driver de motores. Fuente: Elaboración propia.</a:t>
            </a:r>
            <a:endParaRPr lang="en-US" sz="1200" dirty="0"/>
          </a:p>
        </p:txBody>
      </p:sp>
      <p:sp>
        <p:nvSpPr>
          <p:cNvPr id="8" name="Shape 4"/>
          <p:cNvSpPr/>
          <p:nvPr/>
        </p:nvSpPr>
        <p:spPr>
          <a:xfrm>
            <a:off x="7518400" y="1252227"/>
            <a:ext cx="4064000" cy="2446020"/>
          </a:xfrm>
          <a:prstGeom prst="roundRect">
            <a:avLst>
              <a:gd name="adj" fmla="val 4154"/>
            </a:avLst>
          </a:prstGeom>
          <a:solidFill>
            <a:srgbClr val="0B2239"/>
          </a:solidFill>
          <a:ln/>
        </p:spPr>
      </p:sp>
      <p:pic>
        <p:nvPicPr>
          <p:cNvPr id="9" name="Image 1" descr="CheckCircle">    </p:cNvPr>
          <p:cNvPicPr>
            <a:picLocks noChangeAspect="1"/>
          </p:cNvPicPr>
          <p:nvPr/>
        </p:nvPicPr>
        <p:blipFill>
          <a:blip r:embed="rId2"/>
          <a:srcRect l="0" r="0" t="0" b="0"/>
          <a:stretch/>
        </p:blipFill>
        <p:spPr>
          <a:xfrm>
            <a:off x="7708900" y="1442727"/>
            <a:ext cx="355600" cy="355600"/>
          </a:xfrm>
          <a:prstGeom prst="rect">
            <a:avLst/>
          </a:prstGeom>
        </p:spPr>
      </p:pic>
      <p:sp>
        <p:nvSpPr>
          <p:cNvPr id="10" name="Text 5"/>
          <p:cNvSpPr/>
          <p:nvPr/>
        </p:nvSpPr>
        <p:spPr>
          <a:xfrm>
            <a:off x="7708900" y="1887227"/>
            <a:ext cx="379349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C8B8"/>
                </a:solidFill>
                <a:latin typeface="Inter" pitchFamily="34" charset="0"/>
                <a:ea typeface="Inter" pitchFamily="34" charset="-122"/>
                <a:cs typeface="Inter" pitchFamily="34" charset="-120"/>
              </a:rPr>
              <a:t>SELECCIONADO</a:t>
            </a:r>
            <a:endParaRPr lang="en-US" sz="1200" dirty="0"/>
          </a:p>
        </p:txBody>
      </p:sp>
      <p:sp>
        <p:nvSpPr>
          <p:cNvPr id="11" name="Text 6"/>
          <p:cNvSpPr/>
          <p:nvPr/>
        </p:nvSpPr>
        <p:spPr>
          <a:xfrm>
            <a:off x="7708900" y="2189485"/>
            <a:ext cx="379349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7F8"/>
                </a:solidFill>
                <a:latin typeface="Montserrat" pitchFamily="34" charset="0"/>
                <a:ea typeface="Montserrat" pitchFamily="34" charset="-122"/>
                <a:cs typeface="Montserrat" pitchFamily="34" charset="-120"/>
              </a:rPr>
              <a:t>TB6612FNG</a:t>
            </a:r>
            <a:endParaRPr lang="en-US" sz="2000" dirty="0"/>
          </a:p>
        </p:txBody>
      </p:sp>
      <p:sp>
        <p:nvSpPr>
          <p:cNvPr id="12" name="Text 7"/>
          <p:cNvSpPr/>
          <p:nvPr/>
        </p:nvSpPr>
        <p:spPr>
          <a:xfrm>
            <a:off x="7708900" y="2583185"/>
            <a:ext cx="3793490"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3"/>
                </a:solidFill>
                <a:latin typeface="Inter" pitchFamily="34" charset="0"/>
                <a:ea typeface="Inter" pitchFamily="34" charset="-122"/>
                <a:cs typeface="Inter" pitchFamily="34" charset="-120"/>
              </a:rPr>
              <a:t>Su tecnología MOSFET reduce las pérdidas y el calentamiento frente al L293D y al L298N, y su formato ultra compacto no necesita disipador.</a:t>
            </a:r>
            <a:endParaRPr lang="en-US" sz="1300" dirty="0"/>
          </a:p>
        </p:txBody>
      </p:sp>
      <p:sp>
        <p:nvSpPr>
          <p:cNvPr id="13" name="Shape 8"/>
          <p:cNvSpPr/>
          <p:nvPr/>
        </p:nvSpPr>
        <p:spPr>
          <a:xfrm>
            <a:off x="7521575" y="3828417"/>
            <a:ext cx="4057650" cy="1017270"/>
          </a:xfrm>
          <a:prstGeom prst="roundRect">
            <a:avLst>
              <a:gd name="adj" fmla="val 9675"/>
            </a:avLst>
          </a:prstGeom>
          <a:solidFill>
            <a:srgbClr val="FDFBF7"/>
          </a:solidFill>
          <a:ln w="6350">
            <a:solidFill>
              <a:srgbClr val="D9D3C6"/>
            </a:solidFill>
            <a:prstDash val="solid"/>
          </a:ln>
        </p:spPr>
      </p:sp>
      <p:sp>
        <p:nvSpPr>
          <p:cNvPr id="14" name="Text 9"/>
          <p:cNvSpPr/>
          <p:nvPr/>
        </p:nvSpPr>
        <p:spPr>
          <a:xfrm>
            <a:off x="7713980" y="3982727"/>
            <a:ext cx="378302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Montserrat" pitchFamily="34" charset="0"/>
                <a:ea typeface="Montserrat" pitchFamily="34" charset="-122"/>
                <a:cs typeface="Montserrat" pitchFamily="34" charset="-120"/>
              </a:rPr>
              <a:t>Compatibilidad con el motor</a:t>
            </a:r>
            <a:endParaRPr lang="en-US" sz="1400" dirty="0"/>
          </a:p>
        </p:txBody>
      </p:sp>
      <p:sp>
        <p:nvSpPr>
          <p:cNvPr id="15" name="Text 10"/>
          <p:cNvSpPr/>
          <p:nvPr/>
        </p:nvSpPr>
        <p:spPr>
          <a:xfrm>
            <a:off x="7713980" y="4246885"/>
            <a:ext cx="3783025"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B4A5C"/>
                </a:solidFill>
                <a:latin typeface="Inter" pitchFamily="34" charset="0"/>
                <a:ea typeface="Inter" pitchFamily="34" charset="-122"/>
                <a:cs typeface="Inter" pitchFamily="34" charset="-120"/>
              </a:rPr>
              <a:t>El TT amarillo arranca con 1.0 A; el TB6612FNG admite 1.2 A continuos y 3.2 A pico por canal.</a:t>
            </a:r>
            <a:endParaRPr lang="en-US" sz="1250" dirty="0"/>
          </a:p>
        </p:txBody>
      </p:sp>
      <p:sp>
        <p:nvSpPr>
          <p:cNvPr id="16" name="Text 11"/>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Tabla 4 del informe del TP.</a:t>
            </a:r>
            <a:endParaRPr lang="en-US" sz="1200" dirty="0"/>
          </a:p>
        </p:txBody>
      </p:sp>
      <p:sp>
        <p:nvSpPr>
          <p:cNvPr id="17" name="Text 12"/>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18 / 32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3EC"/>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3FC8B8"/>
          </a:solidFill>
          <a:ln/>
        </p:spPr>
      </p:sp>
      <p:pic>
        <p:nvPicPr>
          <p:cNvPr id="3" name="Image 0" descr="Logo UPC">    </p:cNvPr>
          <p:cNvPicPr>
            <a:picLocks noChangeAspect="1"/>
          </p:cNvPicPr>
          <p:nvPr/>
        </p:nvPicPr>
        <p:blipFill>
          <a:blip r:embed="rId1"/>
          <a:srcRect l="0" r="0" t="0" b="0"/>
          <a:stretch/>
        </p:blipFill>
        <p:spPr>
          <a:xfrm>
            <a:off x="11125200" y="254000"/>
            <a:ext cx="457200" cy="457200"/>
          </a:xfrm>
          <a:prstGeom prst="rect">
            <a:avLst/>
          </a:prstGeom>
        </p:spPr>
      </p:pic>
      <p:sp>
        <p:nvSpPr>
          <p:cNvPr id="4" name="Text 1"/>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A"/>
                </a:solidFill>
                <a:latin typeface="Inter" pitchFamily="34" charset="0"/>
                <a:ea typeface="Inter" pitchFamily="34" charset="-122"/>
                <a:cs typeface="Inter" pitchFamily="34" charset="-120"/>
              </a:rPr>
              <a:t>V · SELECCIÓN DE MATERIALES · TABLA 5</a:t>
            </a:r>
            <a:endParaRPr lang="en-US" sz="1200" dirty="0"/>
          </a:p>
        </p:txBody>
      </p:sp>
      <p:sp>
        <p:nvSpPr>
          <p:cNvPr id="5" name="Text 2"/>
          <p:cNvSpPr/>
          <p:nvPr>
            <p:ph type="title"/>
          </p:nvPr>
        </p:nvSpPr>
        <p:spPr>
          <a:xfrm>
            <a:off x="609600" y="708658"/>
            <a:ext cx="10203180"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4213D"/>
                </a:solidFill>
                <a:latin typeface="Montserrat" pitchFamily="34" charset="0"/>
                <a:ea typeface="Montserrat" pitchFamily="34" charset="-122"/>
                <a:cs typeface="Montserrat" pitchFamily="34" charset="-120"/>
              </a:rPr>
              <a:t>Sensor de nodos: KY-024 (SS49E)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19760" y="1262387"/>
          <a:ext cx="6593840" cy="2407920"/>
        </p:xfrm>
        <a:graphic>
          <a:graphicData uri="http://schemas.openxmlformats.org/drawingml/2006/table">
            <a:tbl>
              <a:tblPr/>
              <a:tblGrid>
                <a:gridCol w="1714398"/>
                <a:gridCol w="1055014"/>
                <a:gridCol w="1846275"/>
                <a:gridCol w="1978152"/>
              </a:tblGrid>
              <a:tr h="330200">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Parámetro</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Requisito</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NJK-5002C</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c>
                  <a:txBody>
                    <a:bodyPr/>
                    <a:lstStyle/>
                    <a:p>
                      <a:pPr indent="0" marL="0">
                        <a:lnSpc>
                          <a:spcPts val="1680"/>
                        </a:lnSpc>
                        <a:buNone/>
                      </a:pPr>
                      <a:r>
                        <a:rPr lang="en-US" sz="1200" b="1" dirty="0">
                          <a:solidFill>
                            <a:srgbClr val="F3F7F8"/>
                          </a:solidFill>
                          <a:latin typeface="Inter" pitchFamily="34" charset="0"/>
                          <a:ea typeface="Inter" pitchFamily="34" charset="-122"/>
                          <a:cs typeface="Inter" pitchFamily="34" charset="-120"/>
                        </a:rPr>
                        <a:t>KY-024 (elegido)</a:t>
                      </a:r>
                      <a:endParaRPr lang="en-US" sz="1200" dirty="0">
                        <a:latin typeface="Inter" charset="0"/>
                        <a:ea typeface="Inter" charset="0"/>
                        <a:cs typeface="Inter" charset="0"/>
                      </a:endParaRPr>
                    </a:p>
                  </a:txBody>
                  <a:tcPr marL="53340" marR="53340" marT="53340" marB="53340" anchor="t">
                    <a:lnL w="12700" cap="flat" cmpd="sng" algn="ctr">
                      <a:solidFill>
                        <a:srgbClr val="0D1F31"/>
                      </a:solidFill>
                      <a:prstDash val="solid"/>
                      <a:round/>
                      <a:headEnd type="none" w="med" len="med"/>
                      <a:tailEnd type="none" w="med" len="med"/>
                    </a:lnL>
                    <a:lnR w="12700" cap="flat" cmpd="sng" algn="ctr">
                      <a:solidFill>
                        <a:srgbClr val="0D1F31"/>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0D1F31"/>
                      </a:solidFill>
                      <a:prstDash val="solid"/>
                      <a:round/>
                      <a:headEnd type="none" w="med" len="med"/>
                      <a:tailEnd type="none" w="med" len="med"/>
                    </a:lnB>
                    <a:solidFill>
                      <a:srgbClr val="0B2239"/>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Tipo de salida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Analógico</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Digital</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Analógica / digital</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0D1F31"/>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Rango de medición</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Más de 20 mm</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10 mm fijo</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Ajustable (30 a 50 mm)</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54356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Tolerancia a la deriva Mecanum</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Alta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Baja (riesgo de pérdida de nodo)</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Alta</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Voltaje de operación</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5 V</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5 V a 30 V</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5 V</a:t>
                      </a:r>
                      <a:endParaRPr lang="en-US" sz="1200" dirty="0">
                        <a:latin typeface="Inter" charset="0"/>
                        <a:ea typeface="Inter" charset="0"/>
                        <a:cs typeface="Inter" charset="0"/>
                      </a:endParaRPr>
                    </a:p>
                  </a:txBody>
                  <a:tcPr marL="53340" marR="53340" marT="53340" marB="53340" anchor="t">
                    <a:lnL w="12700" cap="flat" cmpd="sng" algn="ctr">
                      <a:solidFill>
                        <a:srgbClr val="BFBBB2"/>
                      </a:solidFill>
                      <a:prstDash val="solid"/>
                      <a:round/>
                      <a:headEnd type="none" w="med" len="med"/>
                      <a:tailEnd type="none" w="med" len="med"/>
                    </a:lnL>
                    <a:lnR w="12700" cap="flat" cmpd="sng" algn="ctr">
                      <a:solidFill>
                        <a:srgbClr val="BFBBB2"/>
                      </a:solidFill>
                      <a:prstDash val="solid"/>
                      <a:round/>
                      <a:headEnd type="none" w="med" len="med"/>
                      <a:tailEnd type="none" w="med" len="med"/>
                    </a:lnR>
                    <a:lnT w="12700" cap="flat" cmpd="sng" algn="ctr">
                      <a:solidFill>
                        <a:srgbClr val="C5C2BC"/>
                      </a:solidFill>
                      <a:prstDash val="solid"/>
                      <a:round/>
                      <a:headEnd type="none" w="med" len="med"/>
                      <a:tailEnd type="none" w="med" len="med"/>
                    </a:lnT>
                    <a:lnB w="12700" cap="flat" cmpd="sng" algn="ctr">
                      <a:solidFill>
                        <a:srgbClr val="BFBBB2"/>
                      </a:solidFill>
                      <a:prstDash val="solid"/>
                      <a:round/>
                      <a:headEnd type="none" w="med" len="med"/>
                      <a:tailEnd type="none" w="med" len="med"/>
                    </a:lnB>
                    <a:solidFill>
                      <a:srgbClr val="EFEADF"/>
                    </a:solidFill>
                  </a:tcPr>
                </a:tc>
              </a:tr>
              <a:tr h="330200">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Precio estimado</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14213D"/>
                          </a:solidFill>
                          <a:latin typeface="Inter" pitchFamily="34" charset="0"/>
                          <a:ea typeface="Inter" pitchFamily="34" charset="-122"/>
                          <a:cs typeface="Inter" pitchFamily="34" charset="-120"/>
                        </a:rPr>
                        <a:t>S/ 15.00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c>
                  <a:txBody>
                    <a:bodyPr/>
                    <a:lstStyle/>
                    <a:p>
                      <a:pPr indent="0" marL="0">
                        <a:lnSpc>
                          <a:spcPts val="1680"/>
                        </a:lnSpc>
                        <a:buNone/>
                      </a:pPr>
                      <a:r>
                        <a:rPr lang="en-US" sz="1200" dirty="0">
                          <a:solidFill>
                            <a:srgbClr val="0B7A7A"/>
                          </a:solidFill>
                          <a:latin typeface="Inter" pitchFamily="34" charset="0"/>
                          <a:ea typeface="Inter" pitchFamily="34" charset="-122"/>
                          <a:cs typeface="Inter" pitchFamily="34" charset="-120"/>
                        </a:rPr>
                        <a:t>S/ 8.00</a:t>
                      </a:r>
                      <a:endParaRPr lang="en-US" sz="1200" dirty="0">
                        <a:latin typeface="Inter" charset="0"/>
                        <a:ea typeface="Inter" charset="0"/>
                        <a:cs typeface="Inter" charset="0"/>
                      </a:endParaRPr>
                    </a:p>
                  </a:txBody>
                  <a:tcPr marL="53340" marR="53340" marT="53340" marB="53340" anchor="t">
                    <a:lnL w="12700" cap="flat" cmpd="sng" algn="ctr">
                      <a:solidFill>
                        <a:srgbClr val="C5C2BC"/>
                      </a:solidFill>
                      <a:prstDash val="solid"/>
                      <a:round/>
                      <a:headEnd type="none" w="med" len="med"/>
                      <a:tailEnd type="none" w="med" len="med"/>
                    </a:lnL>
                    <a:lnR w="12700" cap="flat" cmpd="sng" algn="ctr">
                      <a:solidFill>
                        <a:srgbClr val="C5C2BC"/>
                      </a:solidFill>
                      <a:prstDash val="solid"/>
                      <a:round/>
                      <a:headEnd type="none" w="med" len="med"/>
                      <a:tailEnd type="none" w="med" len="med"/>
                    </a:lnR>
                    <a:lnT w="12700" cap="flat" cmpd="sng" algn="ctr">
                      <a:solidFill>
                        <a:srgbClr val="BFBBB2"/>
                      </a:solidFill>
                      <a:prstDash val="solid"/>
                      <a:round/>
                      <a:headEnd type="none" w="med" len="med"/>
                      <a:tailEnd type="none" w="med" len="med"/>
                    </a:lnT>
                    <a:lnB w="12700" cap="flat" cmpd="sng" algn="ctr">
                      <a:solidFill>
                        <a:srgbClr val="C5C2BC"/>
                      </a:solidFill>
                      <a:prstDash val="solid"/>
                      <a:round/>
                      <a:headEnd type="none" w="med" len="med"/>
                      <a:tailEnd type="none" w="med" len="med"/>
                    </a:lnB>
                  </a:tcPr>
                </a:tc>
              </a:tr>
            </a:tbl>
          </a:graphicData>
        </a:graphic>
      </p:graphicFrame>
      <p:sp>
        <p:nvSpPr>
          <p:cNvPr id="7" name="Text 3"/>
          <p:cNvSpPr/>
          <p:nvPr/>
        </p:nvSpPr>
        <p:spPr>
          <a:xfrm>
            <a:off x="609600" y="3759200"/>
            <a:ext cx="680212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B7C"/>
                </a:solidFill>
                <a:latin typeface="Inter" pitchFamily="34" charset="0"/>
                <a:ea typeface="Inter" pitchFamily="34" charset="-122"/>
                <a:cs typeface="Inter" pitchFamily="34" charset="-120"/>
              </a:rPr>
              <a:t>Tabla 5.</a:t>
            </a:r>
            <a:r>
              <a:rPr lang="en-US" sz="1200" dirty="0">
                <a:solidFill>
                  <a:srgbClr val="5B6B7C"/>
                </a:solidFill>
                <a:latin typeface="Inter" pitchFamily="34" charset="0"/>
                <a:ea typeface="Inter" pitchFamily="34" charset="-122"/>
                <a:cs typeface="Inter" pitchFamily="34" charset="-120"/>
              </a:rPr>
              <a:t> Selección del sensor magnético de nodos. Fuente: Elaboración propia.</a:t>
            </a:r>
            <a:endParaRPr lang="en-US" sz="1200" dirty="0"/>
          </a:p>
        </p:txBody>
      </p:sp>
      <p:sp>
        <p:nvSpPr>
          <p:cNvPr id="8" name="Shape 4"/>
          <p:cNvSpPr/>
          <p:nvPr/>
        </p:nvSpPr>
        <p:spPr>
          <a:xfrm>
            <a:off x="612775" y="4049402"/>
            <a:ext cx="6597650" cy="1563370"/>
          </a:xfrm>
          <a:prstGeom prst="roundRect">
            <a:avLst>
              <a:gd name="adj" fmla="val 6296"/>
            </a:avLst>
          </a:prstGeom>
          <a:solidFill>
            <a:srgbClr val="FDFBF7"/>
          </a:solidFill>
          <a:ln w="6350">
            <a:solidFill>
              <a:srgbClr val="D9D3C6"/>
            </a:solidFill>
            <a:prstDash val="solid"/>
          </a:ln>
        </p:spPr>
      </p:sp>
      <p:sp>
        <p:nvSpPr>
          <p:cNvPr id="9" name="Text 5"/>
          <p:cNvSpPr/>
          <p:nvPr/>
        </p:nvSpPr>
        <p:spPr>
          <a:xfrm>
            <a:off x="767080" y="4165600"/>
            <a:ext cx="647771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Rango de medición en mm (requisito: más de 20)</a:t>
            </a:r>
            <a:endParaRPr lang="en-US" sz="1200" dirty="0"/>
          </a:p>
        </p:txBody>
      </p:sp>
      <p:sp>
        <p:nvSpPr>
          <p:cNvPr id="10" name="Shape 6"/>
          <p:cNvSpPr/>
          <p:nvPr/>
        </p:nvSpPr>
        <p:spPr>
          <a:xfrm>
            <a:off x="767080" y="4417058"/>
            <a:ext cx="4445000" cy="228600"/>
          </a:xfrm>
          <a:prstGeom prst="roundRect">
            <a:avLst>
              <a:gd name="adj" fmla="val 22222"/>
            </a:avLst>
          </a:prstGeom>
          <a:solidFill>
            <a:srgbClr val="EFEADF"/>
          </a:solidFill>
          <a:ln/>
        </p:spPr>
      </p:sp>
      <p:sp>
        <p:nvSpPr>
          <p:cNvPr id="11" name="Shape 7"/>
          <p:cNvSpPr/>
          <p:nvPr/>
        </p:nvSpPr>
        <p:spPr>
          <a:xfrm>
            <a:off x="767080" y="4417058"/>
            <a:ext cx="762000" cy="228600"/>
          </a:xfrm>
          <a:prstGeom prst="roundRect">
            <a:avLst>
              <a:gd name="adj" fmla="val 22222"/>
            </a:avLst>
          </a:prstGeom>
          <a:solidFill>
            <a:srgbClr val="B8412B"/>
          </a:solidFill>
          <a:ln/>
        </p:spPr>
      </p:sp>
      <p:sp>
        <p:nvSpPr>
          <p:cNvPr id="12" name="Text 8"/>
          <p:cNvSpPr/>
          <p:nvPr/>
        </p:nvSpPr>
        <p:spPr>
          <a:xfrm>
            <a:off x="1630680" y="4429758"/>
            <a:ext cx="34010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A5C"/>
                </a:solidFill>
                <a:latin typeface="Inter" pitchFamily="34" charset="0"/>
                <a:ea typeface="Inter" pitchFamily="34" charset="-122"/>
                <a:cs typeface="Inter" pitchFamily="34" charset="-120"/>
              </a:rPr>
              <a:t>NJK-5002C: 10 mm fijo</a:t>
            </a:r>
            <a:endParaRPr lang="en-US" sz="1200" dirty="0"/>
          </a:p>
        </p:txBody>
      </p:sp>
      <p:sp>
        <p:nvSpPr>
          <p:cNvPr id="13" name="Shape 9"/>
          <p:cNvSpPr/>
          <p:nvPr/>
        </p:nvSpPr>
        <p:spPr>
          <a:xfrm>
            <a:off x="767080" y="4785358"/>
            <a:ext cx="4445000" cy="228600"/>
          </a:xfrm>
          <a:prstGeom prst="roundRect">
            <a:avLst>
              <a:gd name="adj" fmla="val 22222"/>
            </a:avLst>
          </a:prstGeom>
          <a:solidFill>
            <a:srgbClr val="EFEADF"/>
          </a:solidFill>
          <a:ln/>
        </p:spPr>
      </p:sp>
      <p:sp>
        <p:nvSpPr>
          <p:cNvPr id="14" name="Shape 10"/>
          <p:cNvSpPr/>
          <p:nvPr/>
        </p:nvSpPr>
        <p:spPr>
          <a:xfrm>
            <a:off x="3053080" y="4785358"/>
            <a:ext cx="1524000" cy="228600"/>
          </a:xfrm>
          <a:prstGeom prst="roundRect">
            <a:avLst>
              <a:gd name="adj" fmla="val 22222"/>
            </a:avLst>
          </a:prstGeom>
          <a:solidFill>
            <a:srgbClr val="0B7A7A"/>
          </a:solidFill>
          <a:ln/>
        </p:spPr>
      </p:sp>
      <p:sp>
        <p:nvSpPr>
          <p:cNvPr id="15" name="Text 11"/>
          <p:cNvSpPr/>
          <p:nvPr/>
        </p:nvSpPr>
        <p:spPr>
          <a:xfrm>
            <a:off x="700405" y="4798058"/>
            <a:ext cx="2289175"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3B4A5C"/>
                </a:solidFill>
                <a:latin typeface="Inter" pitchFamily="34" charset="0"/>
                <a:ea typeface="Inter" pitchFamily="34" charset="-122"/>
                <a:cs typeface="Inter" pitchFamily="34" charset="-120"/>
              </a:rPr>
              <a:t>KY-024: de 30 a 50 mm</a:t>
            </a:r>
            <a:endParaRPr lang="en-US" sz="1200" dirty="0"/>
          </a:p>
        </p:txBody>
      </p:sp>
      <p:sp>
        <p:nvSpPr>
          <p:cNvPr id="16" name="Shape 12"/>
          <p:cNvSpPr/>
          <p:nvPr/>
        </p:nvSpPr>
        <p:spPr>
          <a:xfrm>
            <a:off x="2291080" y="4417058"/>
            <a:ext cx="19050" cy="711200"/>
          </a:xfrm>
          <a:prstGeom prst="rect">
            <a:avLst/>
          </a:prstGeom>
          <a:solidFill>
            <a:srgbClr val="14213D"/>
          </a:solidFill>
          <a:ln/>
        </p:spPr>
      </p:sp>
      <p:sp>
        <p:nvSpPr>
          <p:cNvPr id="17" name="Text 13"/>
          <p:cNvSpPr/>
          <p:nvPr/>
        </p:nvSpPr>
        <p:spPr>
          <a:xfrm>
            <a:off x="1375410" y="5128258"/>
            <a:ext cx="183134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213D"/>
                </a:solidFill>
                <a:latin typeface="Inter" pitchFamily="34" charset="0"/>
                <a:ea typeface="Inter" pitchFamily="34" charset="-122"/>
                <a:cs typeface="Inter" pitchFamily="34" charset="-120"/>
              </a:rPr>
              <a:t>Requisito: 20 mm</a:t>
            </a:r>
            <a:endParaRPr lang="en-US" sz="1200" dirty="0"/>
          </a:p>
        </p:txBody>
      </p:sp>
      <p:sp>
        <p:nvSpPr>
          <p:cNvPr id="18" name="Shape 14"/>
          <p:cNvSpPr/>
          <p:nvPr/>
        </p:nvSpPr>
        <p:spPr>
          <a:xfrm>
            <a:off x="7518400" y="1252227"/>
            <a:ext cx="4064000" cy="2702560"/>
          </a:xfrm>
          <a:prstGeom prst="roundRect">
            <a:avLst>
              <a:gd name="adj" fmla="val 3759"/>
            </a:avLst>
          </a:prstGeom>
          <a:solidFill>
            <a:srgbClr val="0B2239"/>
          </a:solidFill>
          <a:ln/>
        </p:spPr>
      </p:sp>
      <p:pic>
        <p:nvPicPr>
          <p:cNvPr id="19" name="Image 1" descr="CheckCircle">    </p:cNvPr>
          <p:cNvPicPr>
            <a:picLocks noChangeAspect="1"/>
          </p:cNvPicPr>
          <p:nvPr/>
        </p:nvPicPr>
        <p:blipFill>
          <a:blip r:embed="rId2"/>
          <a:srcRect l="0" r="0" t="0" b="0"/>
          <a:stretch/>
        </p:blipFill>
        <p:spPr>
          <a:xfrm>
            <a:off x="7721600" y="1455427"/>
            <a:ext cx="355600" cy="355600"/>
          </a:xfrm>
          <a:prstGeom prst="rect">
            <a:avLst/>
          </a:prstGeom>
        </p:spPr>
      </p:pic>
      <p:sp>
        <p:nvSpPr>
          <p:cNvPr id="20" name="Text 15"/>
          <p:cNvSpPr/>
          <p:nvPr/>
        </p:nvSpPr>
        <p:spPr>
          <a:xfrm>
            <a:off x="7721600" y="1899927"/>
            <a:ext cx="3767328"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C8B8"/>
                </a:solidFill>
                <a:latin typeface="Inter" pitchFamily="34" charset="0"/>
                <a:ea typeface="Inter" pitchFamily="34" charset="-122"/>
                <a:cs typeface="Inter" pitchFamily="34" charset="-120"/>
              </a:rPr>
              <a:t>SELECCIONADO</a:t>
            </a:r>
            <a:endParaRPr lang="en-US" sz="1200" dirty="0"/>
          </a:p>
        </p:txBody>
      </p:sp>
      <p:sp>
        <p:nvSpPr>
          <p:cNvPr id="21" name="Text 16"/>
          <p:cNvSpPr/>
          <p:nvPr/>
        </p:nvSpPr>
        <p:spPr>
          <a:xfrm>
            <a:off x="7721600" y="2202185"/>
            <a:ext cx="376732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7F8"/>
                </a:solidFill>
                <a:latin typeface="Montserrat" pitchFamily="34" charset="0"/>
                <a:ea typeface="Montserrat" pitchFamily="34" charset="-122"/>
                <a:cs typeface="Montserrat" pitchFamily="34" charset="-120"/>
              </a:rPr>
              <a:t>Módulo KY-024 (SS49E)</a:t>
            </a:r>
            <a:endParaRPr lang="en-US" sz="2000" dirty="0"/>
          </a:p>
        </p:txBody>
      </p:sp>
      <p:sp>
        <p:nvSpPr>
          <p:cNvPr id="22" name="Text 17"/>
          <p:cNvSpPr/>
          <p:nvPr/>
        </p:nvSpPr>
        <p:spPr>
          <a:xfrm>
            <a:off x="7721600" y="2595885"/>
            <a:ext cx="3767328" cy="11811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CE3"/>
                </a:solidFill>
                <a:latin typeface="Inter" pitchFamily="34" charset="0"/>
                <a:ea typeface="Inter" pitchFamily="34" charset="-122"/>
                <a:cs typeface="Inter" pitchFamily="34" charset="-120"/>
              </a:rPr>
              <a:t>Su salida analógica es compatible con el ADC del PIC18F47Q10 a 5 V y su rango ajustable de 30 a 50 mm tolera la deriva lateral de las ruedas Mecanum, a menor costo (S/ 8.00) que el NJK-5002C.</a:t>
            </a:r>
            <a:endParaRPr lang="en-US" sz="1300" dirty="0"/>
          </a:p>
        </p:txBody>
      </p:sp>
      <p:sp>
        <p:nvSpPr>
          <p:cNvPr id="23" name="Text 18"/>
          <p:cNvSpPr/>
          <p:nvPr/>
        </p:nvSpPr>
        <p:spPr>
          <a:xfrm>
            <a:off x="609600" y="6365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C"/>
                </a:solidFill>
                <a:latin typeface="Inter" pitchFamily="34" charset="0"/>
                <a:ea typeface="Inter" pitchFamily="34" charset="-122"/>
                <a:cs typeface="Inter" pitchFamily="34" charset="-120"/>
              </a:rPr>
              <a:t>Fuente: Tabla 5 del informe del TP.</a:t>
            </a:r>
            <a:endParaRPr lang="en-US" sz="1200" dirty="0"/>
          </a:p>
        </p:txBody>
      </p:sp>
      <p:sp>
        <p:nvSpPr>
          <p:cNvPr id="24" name="Text 19"/>
          <p:cNvSpPr/>
          <p:nvPr/>
        </p:nvSpPr>
        <p:spPr>
          <a:xfrm>
            <a:off x="10261600" y="6365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C"/>
                </a:solidFill>
                <a:latin typeface="Inter" pitchFamily="34" charset="0"/>
                <a:ea typeface="Inter" pitchFamily="34" charset="-122"/>
                <a:cs typeface="Inter" pitchFamily="34" charset="-120"/>
              </a:rPr>
              <a:t>19 / 32</a:t>
            </a:r>
            <a:endParaRPr lang="en-US" sz="1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Sensor de distancia: VL53L0X</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V · SELECCIÓN DE MATERIALES · TABLA 6</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Tabla 6 del informe del TP.</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20 / 32</a:t>
            </a:r>
          </a:p>
        </p:txBody>
      </p:sp>
      <p:graphicFrame>
        <p:nvGraphicFramePr>
          <p:cNvPr id="8" name="Tabla"/>
          <p:cNvGraphicFramePr>
            <a:graphicFrameLocks noGrp="1"/>
          </p:cNvGraphicFramePr>
          <p:nvPr/>
        </p:nvGraphicFramePr>
        <p:xfrm>
          <a:off x="612648" y="1261872"/>
          <a:ext cx="6583680" cy="2743200"/>
        </p:xfrm>
        <a:graphic>
          <a:graphicData uri="http://schemas.openxmlformats.org/drawingml/2006/table">
            <a:tbl>
              <a:tblPr>
                <a:tableStyleId>{5C22544A-7EE6-4342-B048-85BDC9FD1C3A}</a:tableStyleId>
              </a:tblPr>
              <a:tblGrid>
                <a:gridCol w="1234440"/>
                <a:gridCol w="1325880"/>
                <a:gridCol w="1828800"/>
                <a:gridCol w="1097280"/>
                <a:gridCol w="1097280"/>
              </a:tblGrid>
              <a:tr h="365760">
                <a:tc>
                  <a:txBody>
                    <a:bodyPr wrap="square"/>
                    <a:lstStyle/>
                    <a:p>
                      <a:pPr>
                        <a:lnSpc>
                          <a:spcPct val="110000"/>
                        </a:lnSpc>
                      </a:pPr>
                      <a:r>
                        <a:rPr sz="1200" b="1">
                          <a:solidFill>
                            <a:srgbClr val="F3F7F8"/>
                          </a:solidFill>
                          <a:latin typeface="Inter"/>
                        </a:rPr>
                        <a:t>Parámetro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Requisito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VL53L0X (elegido)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VL53L1X</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VL6180X</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r>
              <a:tr h="548640">
                <a:tc>
                  <a:txBody>
                    <a:bodyPr wrap="square"/>
                    <a:lstStyle/>
                    <a:p>
                      <a:pPr>
                        <a:lnSpc>
                          <a:spcPct val="110000"/>
                        </a:lnSpc>
                      </a:pPr>
                      <a:r>
                        <a:rPr sz="1200" b="0">
                          <a:solidFill>
                            <a:srgbClr val="14213D"/>
                          </a:solidFill>
                          <a:latin typeface="Inter"/>
                        </a:rPr>
                        <a:t>Tipo de salida</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Digital (I²C)</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Digital (I²C)</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Digital (I²C)</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Digital (I²C)</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r h="365760">
                <a:tc>
                  <a:txBody>
                    <a:bodyPr wrap="square"/>
                    <a:lstStyle/>
                    <a:p>
                      <a:pPr>
                        <a:lnSpc>
                          <a:spcPct val="110000"/>
                        </a:lnSpc>
                      </a:pPr>
                      <a:r>
                        <a:rPr sz="1200" b="0">
                          <a:solidFill>
                            <a:srgbClr val="14213D"/>
                          </a:solidFill>
                          <a:latin typeface="Inter"/>
                        </a:rPr>
                        <a:t>Rango máximo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Mínimo 2000 mm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0B7A7A"/>
                          </a:solidFill>
                          <a:latin typeface="Inter"/>
                        </a:rPr>
                        <a:t>2000 mm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4000 mm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400 mm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r>
              <a:tr h="365760">
                <a:tc>
                  <a:txBody>
                    <a:bodyPr wrap="square"/>
                    <a:lstStyle/>
                    <a:p>
                      <a:pPr>
                        <a:lnSpc>
                          <a:spcPct val="110000"/>
                        </a:lnSpc>
                      </a:pPr>
                      <a:r>
                        <a:rPr sz="1200" b="0">
                          <a:solidFill>
                            <a:srgbClr val="14213D"/>
                          </a:solidFill>
                          <a:latin typeface="Inter"/>
                        </a:rPr>
                        <a:t>Precisión</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Alta (&lt; 5 mm)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1 mm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1 mm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r h="731520">
                <a:tc>
                  <a:txBody>
                    <a:bodyPr wrap="square"/>
                    <a:lstStyle/>
                    <a:p>
                      <a:pPr>
                        <a:lnSpc>
                          <a:spcPct val="110000"/>
                        </a:lnSpc>
                      </a:pPr>
                      <a:r>
                        <a:rPr sz="1200" b="0">
                          <a:solidFill>
                            <a:srgbClr val="14213D"/>
                          </a:solidFill>
                          <a:latin typeface="Inter"/>
                        </a:rPr>
                        <a:t>Voltaje</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Compatible con lógica de 3.3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0B7A7A"/>
                          </a:solidFill>
                          <a:latin typeface="Inter"/>
                        </a:rPr>
                        <a:t>2.6 a 3.5 V (módulo con convertidor de nivel)</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2.6 a 3.5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2.6 a 3.0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r>
              <a:tr h="365760">
                <a:tc>
                  <a:txBody>
                    <a:bodyPr wrap="square"/>
                    <a:lstStyle/>
                    <a:p>
                      <a:pPr>
                        <a:lnSpc>
                          <a:spcPct val="110000"/>
                        </a:lnSpc>
                      </a:pPr>
                      <a:r>
                        <a:rPr sz="1200" b="0">
                          <a:solidFill>
                            <a:srgbClr val="14213D"/>
                          </a:solidFill>
                          <a:latin typeface="Inter"/>
                        </a:rPr>
                        <a:t>Precio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S/ 16.00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S/ 37.00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S/ 25.00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bl>
          </a:graphicData>
        </a:graphic>
      </p:graphicFrame>
      <p:sp>
        <p:nvSpPr>
          <p:cNvPr id="9" name="Pie de tabla"/>
          <p:cNvSpPr txBox="1"/>
          <p:nvPr/>
        </p:nvSpPr>
        <p:spPr>
          <a:xfrm>
            <a:off x="612648" y="4114800"/>
            <a:ext cx="6583680" cy="228600"/>
          </a:xfrm>
          <a:prstGeom prst="rect">
            <a:avLst/>
          </a:prstGeom>
          <a:noFill/>
        </p:spPr>
        <p:txBody>
          <a:bodyPr wrap="square" lIns="0" rIns="0" tIns="0" bIns="0" anchor="t">
            <a:spAutoFit/>
          </a:bodyPr>
          <a:lstStyle/>
          <a:p>
            <a:pPr algn="l">
              <a:lnSpc>
                <a:spcPct val="100000"/>
              </a:lnSpc>
            </a:pPr>
            <a:r>
              <a:rPr sz="1200" b="0">
                <a:solidFill>
                  <a:srgbClr val="5B6B7C"/>
                </a:solidFill>
                <a:latin typeface="Inter"/>
              </a:rPr>
              <a:t>Tabla 6. Selección del sensor de distancia ToF. Fuente: Elaboración propia.</a:t>
            </a:r>
          </a:p>
        </p:txBody>
      </p:sp>
      <p:sp>
        <p:nvSpPr>
          <p:cNvPr id="10" name="Tarjeta seleccionado"/>
          <p:cNvSpPr/>
          <p:nvPr/>
        </p:nvSpPr>
        <p:spPr>
          <a:xfrm>
            <a:off x="7516368" y="1252728"/>
            <a:ext cx="4059936" cy="2706624"/>
          </a:xfrm>
          <a:prstGeom prst="roundRect">
            <a:avLst>
              <a:gd name="adj" fmla="val 3800"/>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cono check" descr="image.png"/>
          <p:cNvPicPr>
            <a:picLocks noChangeAspect="1"/>
          </p:cNvPicPr>
          <p:nvPr/>
        </p:nvPicPr>
        <p:blipFill>
          <a:blip r:embed="rId4"/>
          <a:stretch>
            <a:fillRect/>
          </a:stretch>
        </p:blipFill>
        <p:spPr>
          <a:xfrm>
            <a:off x="7717536" y="1453896"/>
            <a:ext cx="356616" cy="356616"/>
          </a:xfrm>
          <a:prstGeom prst="rect">
            <a:avLst/>
          </a:prstGeom>
        </p:spPr>
      </p:pic>
      <p:sp>
        <p:nvSpPr>
          <p:cNvPr id="12" name="TextBox 11"/>
          <p:cNvSpPr txBox="1"/>
          <p:nvPr/>
        </p:nvSpPr>
        <p:spPr>
          <a:xfrm>
            <a:off x="7717536" y="1901952"/>
            <a:ext cx="3767328" cy="237744"/>
          </a:xfrm>
          <a:prstGeom prst="rect">
            <a:avLst/>
          </a:prstGeom>
          <a:noFill/>
        </p:spPr>
        <p:txBody>
          <a:bodyPr wrap="square" lIns="0" rIns="0" tIns="0" bIns="0" anchor="t">
            <a:spAutoFit/>
          </a:bodyPr>
          <a:lstStyle/>
          <a:p>
            <a:pPr algn="l">
              <a:lnSpc>
                <a:spcPct val="100000"/>
              </a:lnSpc>
            </a:pPr>
            <a:r>
              <a:rPr sz="1200" b="1" spc="150">
                <a:solidFill>
                  <a:srgbClr val="3FC8B8"/>
                </a:solidFill>
                <a:latin typeface="Inter"/>
              </a:rPr>
              <a:t>SELECCIONADO</a:t>
            </a:r>
          </a:p>
        </p:txBody>
      </p:sp>
      <p:sp>
        <p:nvSpPr>
          <p:cNvPr id="13" name="TextBox 12"/>
          <p:cNvSpPr txBox="1"/>
          <p:nvPr/>
        </p:nvSpPr>
        <p:spPr>
          <a:xfrm>
            <a:off x="7717536" y="2203704"/>
            <a:ext cx="3767328" cy="365760"/>
          </a:xfrm>
          <a:prstGeom prst="rect">
            <a:avLst/>
          </a:prstGeom>
          <a:noFill/>
        </p:spPr>
        <p:txBody>
          <a:bodyPr wrap="square" lIns="0" rIns="0" tIns="0" bIns="0" anchor="t">
            <a:spAutoFit/>
          </a:bodyPr>
          <a:lstStyle/>
          <a:p>
            <a:pPr algn="l">
              <a:lnSpc>
                <a:spcPct val="100000"/>
              </a:lnSpc>
            </a:pPr>
            <a:r>
              <a:rPr sz="2000" b="1">
                <a:solidFill>
                  <a:srgbClr val="F7F3EC"/>
                </a:solidFill>
                <a:latin typeface="Montserrat"/>
              </a:rPr>
              <a:t>VL53L0X</a:t>
            </a:r>
          </a:p>
        </p:txBody>
      </p:sp>
      <p:sp>
        <p:nvSpPr>
          <p:cNvPr id="14" name="TextBox 13"/>
          <p:cNvSpPr txBox="1"/>
          <p:nvPr/>
        </p:nvSpPr>
        <p:spPr>
          <a:xfrm>
            <a:off x="7717536" y="2651760"/>
            <a:ext cx="3767328" cy="1234440"/>
          </a:xfrm>
          <a:prstGeom prst="rect">
            <a:avLst/>
          </a:prstGeom>
          <a:noFill/>
        </p:spPr>
        <p:txBody>
          <a:bodyPr wrap="square" lIns="0" rIns="0" tIns="0" bIns="0" anchor="t">
            <a:spAutoFit/>
          </a:bodyPr>
          <a:lstStyle/>
          <a:p>
            <a:pPr algn="l">
              <a:lnSpc>
                <a:spcPct val="120000"/>
              </a:lnSpc>
            </a:pPr>
            <a:r>
              <a:rPr sz="1300" b="0">
                <a:solidFill>
                  <a:srgbClr val="C9D6E3"/>
                </a:solidFill>
                <a:latin typeface="Inter"/>
              </a:rPr>
              <a:t>Cumple el rango de 2000 mm y la precisión de 1 mm, con salida I²C directa al PIC18F47Q10 y el menor precio (S/ 16.00) frente al VL53L1X (S/ 37.00).</a:t>
            </a:r>
          </a:p>
        </p:txBody>
      </p:sp>
      <p:sp>
        <p:nvSpPr>
          <p:cNvPr id="15" name="Tarjeta complementaria"/>
          <p:cNvSpPr/>
          <p:nvPr/>
        </p:nvSpPr>
        <p:spPr>
          <a:xfrm>
            <a:off x="7516368" y="4160520"/>
            <a:ext cx="4059936" cy="16002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7536" y="4334256"/>
            <a:ext cx="3657600" cy="274320"/>
          </a:xfrm>
          <a:prstGeom prst="rect">
            <a:avLst/>
          </a:prstGeom>
          <a:noFill/>
        </p:spPr>
        <p:txBody>
          <a:bodyPr wrap="square" lIns="0" rIns="0" tIns="0" bIns="0" anchor="t">
            <a:spAutoFit/>
          </a:bodyPr>
          <a:lstStyle/>
          <a:p>
            <a:pPr algn="l">
              <a:lnSpc>
                <a:spcPct val="100000"/>
              </a:lnSpc>
            </a:pPr>
            <a:r>
              <a:rPr sz="1400" b="1">
                <a:solidFill>
                  <a:srgbClr val="14213D"/>
                </a:solidFill>
                <a:latin typeface="Montserrat"/>
              </a:rPr>
              <a:t>Descarte del VL6180X</a:t>
            </a:r>
          </a:p>
        </p:txBody>
      </p:sp>
      <p:sp>
        <p:nvSpPr>
          <p:cNvPr id="17" name="TextBox 16"/>
          <p:cNvSpPr txBox="1"/>
          <p:nvPr/>
        </p:nvSpPr>
        <p:spPr>
          <a:xfrm>
            <a:off x="7717536" y="4681728"/>
            <a:ext cx="3657600" cy="1005840"/>
          </a:xfrm>
          <a:prstGeom prst="rect">
            <a:avLst/>
          </a:prstGeom>
          <a:noFill/>
        </p:spPr>
        <p:txBody>
          <a:bodyPr wrap="square" lIns="0" rIns="0" tIns="0" bIns="0" anchor="t">
            <a:spAutoFit/>
          </a:bodyPr>
          <a:lstStyle/>
          <a:p>
            <a:pPr algn="l">
              <a:lnSpc>
                <a:spcPct val="120000"/>
              </a:lnSpc>
            </a:pPr>
            <a:r>
              <a:rPr sz="1200" b="0">
                <a:solidFill>
                  <a:srgbClr val="3B4A5C"/>
                </a:solidFill>
                <a:latin typeface="Inter"/>
              </a:rPr>
              <a:t>Su alcance de 400 mm no llega al mínimo de 2000 mm, por eso queda fuera aunque cuesta S/ 25.00.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Sensor infrarrojo pasivo: HC-SR505</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V · SELECCIÓN DE MATERIALES · TABLA 7</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Tabla 7 del informe del TP.</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21 / 32</a:t>
            </a:r>
          </a:p>
        </p:txBody>
      </p:sp>
      <p:graphicFrame>
        <p:nvGraphicFramePr>
          <p:cNvPr id="8" name="Tabla"/>
          <p:cNvGraphicFramePr>
            <a:graphicFrameLocks noGrp="1"/>
          </p:cNvGraphicFramePr>
          <p:nvPr/>
        </p:nvGraphicFramePr>
        <p:xfrm>
          <a:off x="612648" y="1261872"/>
          <a:ext cx="6583680" cy="2743200"/>
        </p:xfrm>
        <a:graphic>
          <a:graphicData uri="http://schemas.openxmlformats.org/drawingml/2006/table">
            <a:tbl>
              <a:tblPr>
                <a:tableStyleId>{5C22544A-7EE6-4342-B048-85BDC9FD1C3A}</a:tableStyleId>
              </a:tblPr>
              <a:tblGrid>
                <a:gridCol w="1097280"/>
                <a:gridCol w="1097280"/>
                <a:gridCol w="1737360"/>
                <a:gridCol w="1463040"/>
                <a:gridCol w="1188720"/>
              </a:tblGrid>
              <a:tr h="365760">
                <a:tc>
                  <a:txBody>
                    <a:bodyPr wrap="square"/>
                    <a:lstStyle/>
                    <a:p>
                      <a:pPr>
                        <a:lnSpc>
                          <a:spcPct val="110000"/>
                        </a:lnSpc>
                      </a:pPr>
                      <a:r>
                        <a:rPr sz="1200" b="1">
                          <a:solidFill>
                            <a:srgbClr val="F3F7F8"/>
                          </a:solidFill>
                          <a:latin typeface="Inter"/>
                        </a:rPr>
                        <a:t>Parámetro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Requisito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HC-SR505 (elegido)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HC-SR501</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AM312</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r>
              <a:tr h="548640">
                <a:tc>
                  <a:txBody>
                    <a:bodyPr wrap="square"/>
                    <a:lstStyle/>
                    <a:p>
                      <a:pPr>
                        <a:lnSpc>
                          <a:spcPct val="110000"/>
                        </a:lnSpc>
                      </a:pPr>
                      <a:r>
                        <a:rPr sz="1200" b="0">
                          <a:solidFill>
                            <a:srgbClr val="14213D"/>
                          </a:solidFill>
                          <a:latin typeface="Inter"/>
                        </a:rPr>
                        <a:t>Tipo de salida</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Digital</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Digital</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Digital</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Digital</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r h="548640">
                <a:tc>
                  <a:txBody>
                    <a:bodyPr wrap="square"/>
                    <a:lstStyle/>
                    <a:p>
                      <a:pPr>
                        <a:lnSpc>
                          <a:spcPct val="110000"/>
                        </a:lnSpc>
                      </a:pPr>
                      <a:r>
                        <a:rPr sz="1200" b="0">
                          <a:solidFill>
                            <a:srgbClr val="14213D"/>
                          </a:solidFill>
                          <a:latin typeface="Inter"/>
                        </a:rPr>
                        <a:t>Rango máximo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Mayor a 2 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0B7A7A"/>
                          </a:solidFill>
                          <a:latin typeface="Inter"/>
                        </a:rPr>
                        <a:t>3 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Ajustable de 3 a 7 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5 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r>
              <a:tr h="548640">
                <a:tc>
                  <a:txBody>
                    <a:bodyPr wrap="square"/>
                    <a:lstStyle/>
                    <a:p>
                      <a:pPr>
                        <a:lnSpc>
                          <a:spcPct val="110000"/>
                        </a:lnSpc>
                      </a:pPr>
                      <a:r>
                        <a:rPr sz="1200" b="0">
                          <a:solidFill>
                            <a:srgbClr val="14213D"/>
                          </a:solidFill>
                          <a:latin typeface="Inter"/>
                        </a:rPr>
                        <a:t>Retardo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Bajo (&lt; 10 s)</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Fijo, 8 s ± 30 % (hasta 10.4 s)</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Ajustable, 3 s a 5 min</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Fijo, 2 s</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r h="365760">
                <a:tc>
                  <a:txBody>
                    <a:bodyPr wrap="square"/>
                    <a:lstStyle/>
                    <a:p>
                      <a:pPr>
                        <a:lnSpc>
                          <a:spcPct val="110000"/>
                        </a:lnSpc>
                      </a:pPr>
                      <a:r>
                        <a:rPr sz="1200" b="0">
                          <a:solidFill>
                            <a:srgbClr val="14213D"/>
                          </a:solidFill>
                          <a:latin typeface="Inter"/>
                        </a:rPr>
                        <a:t>Voltaje</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3.3 V / 5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0B7A7A"/>
                          </a:solidFill>
                          <a:latin typeface="Inter"/>
                        </a:rPr>
                        <a:t>4.5 a 20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4.5 a 20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2.7 a 12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r>
              <a:tr h="365760">
                <a:tc>
                  <a:txBody>
                    <a:bodyPr wrap="square"/>
                    <a:lstStyle/>
                    <a:p>
                      <a:pPr>
                        <a:lnSpc>
                          <a:spcPct val="110000"/>
                        </a:lnSpc>
                      </a:pPr>
                      <a:r>
                        <a:rPr sz="1200" b="0">
                          <a:solidFill>
                            <a:srgbClr val="14213D"/>
                          </a:solidFill>
                          <a:latin typeface="Inter"/>
                        </a:rPr>
                        <a:t>Precio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S/ 6.50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S/ 7.50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S/ 10.00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bl>
          </a:graphicData>
        </a:graphic>
      </p:graphicFrame>
      <p:sp>
        <p:nvSpPr>
          <p:cNvPr id="9" name="Pie de tabla"/>
          <p:cNvSpPr txBox="1"/>
          <p:nvPr/>
        </p:nvSpPr>
        <p:spPr>
          <a:xfrm>
            <a:off x="612648" y="4114800"/>
            <a:ext cx="6583680" cy="228600"/>
          </a:xfrm>
          <a:prstGeom prst="rect">
            <a:avLst/>
          </a:prstGeom>
          <a:noFill/>
        </p:spPr>
        <p:txBody>
          <a:bodyPr wrap="square" lIns="0" rIns="0" tIns="0" bIns="0" anchor="t">
            <a:spAutoFit/>
          </a:bodyPr>
          <a:lstStyle/>
          <a:p>
            <a:pPr algn="l">
              <a:lnSpc>
                <a:spcPct val="100000"/>
              </a:lnSpc>
            </a:pPr>
            <a:r>
              <a:rPr sz="1200" b="0">
                <a:solidFill>
                  <a:srgbClr val="5B6B7C"/>
                </a:solidFill>
                <a:latin typeface="Inter"/>
              </a:rPr>
              <a:t>Tabla 7. Selección del sensor infrarrojo pasivo (PIR). Fuente: Elaboración propia.</a:t>
            </a:r>
          </a:p>
        </p:txBody>
      </p:sp>
      <p:sp>
        <p:nvSpPr>
          <p:cNvPr id="10" name="Tarjeta seleccionado"/>
          <p:cNvSpPr/>
          <p:nvPr/>
        </p:nvSpPr>
        <p:spPr>
          <a:xfrm>
            <a:off x="7516368" y="1252728"/>
            <a:ext cx="4059936" cy="2706624"/>
          </a:xfrm>
          <a:prstGeom prst="roundRect">
            <a:avLst>
              <a:gd name="adj" fmla="val 3800"/>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cono check" descr="image.png"/>
          <p:cNvPicPr>
            <a:picLocks noChangeAspect="1"/>
          </p:cNvPicPr>
          <p:nvPr/>
        </p:nvPicPr>
        <p:blipFill>
          <a:blip r:embed="rId4"/>
          <a:stretch>
            <a:fillRect/>
          </a:stretch>
        </p:blipFill>
        <p:spPr>
          <a:xfrm>
            <a:off x="7717536" y="1453896"/>
            <a:ext cx="356616" cy="356616"/>
          </a:xfrm>
          <a:prstGeom prst="rect">
            <a:avLst/>
          </a:prstGeom>
        </p:spPr>
      </p:pic>
      <p:sp>
        <p:nvSpPr>
          <p:cNvPr id="12" name="TextBox 11"/>
          <p:cNvSpPr txBox="1"/>
          <p:nvPr/>
        </p:nvSpPr>
        <p:spPr>
          <a:xfrm>
            <a:off x="7717536" y="1901952"/>
            <a:ext cx="3767328" cy="237744"/>
          </a:xfrm>
          <a:prstGeom prst="rect">
            <a:avLst/>
          </a:prstGeom>
          <a:noFill/>
        </p:spPr>
        <p:txBody>
          <a:bodyPr wrap="square" lIns="0" rIns="0" tIns="0" bIns="0" anchor="t">
            <a:spAutoFit/>
          </a:bodyPr>
          <a:lstStyle/>
          <a:p>
            <a:pPr algn="l">
              <a:lnSpc>
                <a:spcPct val="100000"/>
              </a:lnSpc>
            </a:pPr>
            <a:r>
              <a:rPr sz="1200" b="1" spc="150">
                <a:solidFill>
                  <a:srgbClr val="3FC8B8"/>
                </a:solidFill>
                <a:latin typeface="Inter"/>
              </a:rPr>
              <a:t>SELECCIONADO</a:t>
            </a:r>
          </a:p>
        </p:txBody>
      </p:sp>
      <p:sp>
        <p:nvSpPr>
          <p:cNvPr id="13" name="TextBox 12"/>
          <p:cNvSpPr txBox="1"/>
          <p:nvPr/>
        </p:nvSpPr>
        <p:spPr>
          <a:xfrm>
            <a:off x="7717536" y="2203704"/>
            <a:ext cx="3767328" cy="365760"/>
          </a:xfrm>
          <a:prstGeom prst="rect">
            <a:avLst/>
          </a:prstGeom>
          <a:noFill/>
        </p:spPr>
        <p:txBody>
          <a:bodyPr wrap="square" lIns="0" rIns="0" tIns="0" bIns="0" anchor="t">
            <a:spAutoFit/>
          </a:bodyPr>
          <a:lstStyle/>
          <a:p>
            <a:pPr algn="l">
              <a:lnSpc>
                <a:spcPct val="100000"/>
              </a:lnSpc>
            </a:pPr>
            <a:r>
              <a:rPr sz="2000" b="1">
                <a:solidFill>
                  <a:srgbClr val="F7F3EC"/>
                </a:solidFill>
                <a:latin typeface="Montserrat"/>
              </a:rPr>
              <a:t>HC-SR505</a:t>
            </a:r>
          </a:p>
        </p:txBody>
      </p:sp>
      <p:sp>
        <p:nvSpPr>
          <p:cNvPr id="14" name="TextBox 13"/>
          <p:cNvSpPr txBox="1"/>
          <p:nvPr/>
        </p:nvSpPr>
        <p:spPr>
          <a:xfrm>
            <a:off x="7717536" y="2651760"/>
            <a:ext cx="3767328" cy="1234440"/>
          </a:xfrm>
          <a:prstGeom prst="rect">
            <a:avLst/>
          </a:prstGeom>
          <a:noFill/>
        </p:spPr>
        <p:txBody>
          <a:bodyPr wrap="square" lIns="0" rIns="0" tIns="0" bIns="0" anchor="t">
            <a:spAutoFit/>
          </a:bodyPr>
          <a:lstStyle/>
          <a:p>
            <a:pPr algn="l">
              <a:lnSpc>
                <a:spcPct val="120000"/>
              </a:lnSpc>
            </a:pPr>
            <a:r>
              <a:rPr sz="1300" b="0">
                <a:solidFill>
                  <a:srgbClr val="C9D6E3"/>
                </a:solidFill>
                <a:latin typeface="Inter"/>
              </a:rPr>
              <a:t>Su alcance de 3 m supera el mínimo de 2 m, su salida digital va a un GPIO y es el más económico de los tres (S/ 6.50).</a:t>
            </a:r>
          </a:p>
        </p:txBody>
      </p:sp>
      <p:sp>
        <p:nvSpPr>
          <p:cNvPr id="15" name="Tarjeta complementaria"/>
          <p:cNvSpPr/>
          <p:nvPr/>
        </p:nvSpPr>
        <p:spPr>
          <a:xfrm>
            <a:off x="7516368" y="4160520"/>
            <a:ext cx="4059936" cy="16002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7536" y="4334256"/>
            <a:ext cx="3657600" cy="274320"/>
          </a:xfrm>
          <a:prstGeom prst="rect">
            <a:avLst/>
          </a:prstGeom>
          <a:noFill/>
        </p:spPr>
        <p:txBody>
          <a:bodyPr wrap="square" lIns="0" rIns="0" tIns="0" bIns="0" anchor="t">
            <a:spAutoFit/>
          </a:bodyPr>
          <a:lstStyle/>
          <a:p>
            <a:pPr algn="l">
              <a:lnSpc>
                <a:spcPct val="100000"/>
              </a:lnSpc>
            </a:pPr>
            <a:r>
              <a:rPr sz="1400" b="1">
                <a:solidFill>
                  <a:srgbClr val="14213D"/>
                </a:solidFill>
                <a:latin typeface="Montserrat"/>
              </a:rPr>
              <a:t>Para qué sirve en la fusión</a:t>
            </a:r>
          </a:p>
        </p:txBody>
      </p:sp>
      <p:sp>
        <p:nvSpPr>
          <p:cNvPr id="17" name="TextBox 16"/>
          <p:cNvSpPr txBox="1"/>
          <p:nvPr/>
        </p:nvSpPr>
        <p:spPr>
          <a:xfrm>
            <a:off x="7717536" y="4681728"/>
            <a:ext cx="3657600" cy="1005840"/>
          </a:xfrm>
          <a:prstGeom prst="rect">
            <a:avLst/>
          </a:prstGeom>
          <a:noFill/>
        </p:spPr>
        <p:txBody>
          <a:bodyPr wrap="square" lIns="0" rIns="0" tIns="0" bIns="0" anchor="t">
            <a:spAutoFit/>
          </a:bodyPr>
          <a:lstStyle/>
          <a:p>
            <a:pPr algn="l">
              <a:lnSpc>
                <a:spcPct val="120000"/>
              </a:lnSpc>
            </a:pPr>
            <a:r>
              <a:rPr sz="1200" b="0">
                <a:solidFill>
                  <a:srgbClr val="3B4A5C"/>
                </a:solidFill>
                <a:latin typeface="Inter"/>
              </a:rPr>
              <a:t>Detecta la firma térmica: proximidad con señal PIR indica obstáculo dinámico biológico; sin señal PIR, obstáculo estático.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Sensor ultrasónico: HC-SR04</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V · SELECCIÓN DE MATERIALES · TABLA 8</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Tabla 8 del informe del TP.</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22 / 32</a:t>
            </a:r>
          </a:p>
        </p:txBody>
      </p:sp>
      <p:graphicFrame>
        <p:nvGraphicFramePr>
          <p:cNvPr id="8" name="Tabla"/>
          <p:cNvGraphicFramePr>
            <a:graphicFrameLocks noGrp="1"/>
          </p:cNvGraphicFramePr>
          <p:nvPr/>
        </p:nvGraphicFramePr>
        <p:xfrm>
          <a:off x="612648" y="1261872"/>
          <a:ext cx="6583680" cy="2743200"/>
        </p:xfrm>
        <a:graphic>
          <a:graphicData uri="http://schemas.openxmlformats.org/drawingml/2006/table">
            <a:tbl>
              <a:tblPr>
                <a:tableStyleId>{5C22544A-7EE6-4342-B048-85BDC9FD1C3A}</a:tableStyleId>
              </a:tblPr>
              <a:tblGrid>
                <a:gridCol w="1188720"/>
                <a:gridCol w="1097280"/>
                <a:gridCol w="1371600"/>
                <a:gridCol w="1463040"/>
                <a:gridCol w="1463040"/>
              </a:tblGrid>
              <a:tr h="548640">
                <a:tc>
                  <a:txBody>
                    <a:bodyPr wrap="square"/>
                    <a:lstStyle/>
                    <a:p>
                      <a:pPr>
                        <a:lnSpc>
                          <a:spcPct val="110000"/>
                        </a:lnSpc>
                      </a:pPr>
                      <a:r>
                        <a:rPr sz="1200" b="1">
                          <a:solidFill>
                            <a:srgbClr val="F3F7F8"/>
                          </a:solidFill>
                          <a:latin typeface="Inter"/>
                        </a:rPr>
                        <a:t>Parámetro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Requisito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HC-SR04 (elegido)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US-100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JSN-SR04T</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r>
              <a:tr h="548640">
                <a:tc>
                  <a:txBody>
                    <a:bodyPr wrap="square"/>
                    <a:lstStyle/>
                    <a:p>
                      <a:pPr>
                        <a:lnSpc>
                          <a:spcPct val="110000"/>
                        </a:lnSpc>
                      </a:pPr>
                      <a:r>
                        <a:rPr sz="1200" b="0">
                          <a:solidFill>
                            <a:srgbClr val="14213D"/>
                          </a:solidFill>
                          <a:latin typeface="Inter"/>
                        </a:rPr>
                        <a:t>Tipo de salida</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Digital</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Digital</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Digital</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Digital</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r h="365760">
                <a:tc>
                  <a:txBody>
                    <a:bodyPr wrap="square"/>
                    <a:lstStyle/>
                    <a:p>
                      <a:pPr>
                        <a:lnSpc>
                          <a:spcPct val="110000"/>
                        </a:lnSpc>
                      </a:pPr>
                      <a:r>
                        <a:rPr sz="1200" b="0">
                          <a:solidFill>
                            <a:srgbClr val="14213D"/>
                          </a:solidFill>
                          <a:latin typeface="Inter"/>
                        </a:rPr>
                        <a:t>Rango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Mínimo 10 cm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0B7A7A"/>
                          </a:solidFill>
                          <a:latin typeface="Inter"/>
                        </a:rPr>
                        <a:t>2 a 400 cm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2 a 450 cm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20 a 600 cm</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r>
              <a:tr h="548640">
                <a:tc>
                  <a:txBody>
                    <a:bodyPr wrap="square"/>
                    <a:lstStyle/>
                    <a:p>
                      <a:pPr>
                        <a:lnSpc>
                          <a:spcPct val="110000"/>
                        </a:lnSpc>
                      </a:pPr>
                      <a:r>
                        <a:rPr sz="1200" b="0">
                          <a:solidFill>
                            <a:srgbClr val="14213D"/>
                          </a:solidFill>
                          <a:latin typeface="Inter"/>
                        </a:rPr>
                        <a:t>Condición de uso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Interiores</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Interiores, estándar</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Interiores, compensa temperatura</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Exteriores, sonda impermeable</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r h="365760">
                <a:tc>
                  <a:txBody>
                    <a:bodyPr wrap="square"/>
                    <a:lstStyle/>
                    <a:p>
                      <a:pPr>
                        <a:lnSpc>
                          <a:spcPct val="110000"/>
                        </a:lnSpc>
                      </a:pPr>
                      <a:r>
                        <a:rPr sz="1200" b="0">
                          <a:solidFill>
                            <a:srgbClr val="14213D"/>
                          </a:solidFill>
                          <a:latin typeface="Inter"/>
                        </a:rPr>
                        <a:t>Voltaje</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3.3 V / 5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0B7A7A"/>
                          </a:solidFill>
                          <a:latin typeface="Inter"/>
                        </a:rPr>
                        <a:t>5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2.4 a 5.5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5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r>
              <a:tr h="365760">
                <a:tc>
                  <a:txBody>
                    <a:bodyPr wrap="square"/>
                    <a:lstStyle/>
                    <a:p>
                      <a:pPr>
                        <a:lnSpc>
                          <a:spcPct val="110000"/>
                        </a:lnSpc>
                      </a:pPr>
                      <a:r>
                        <a:rPr sz="1200" b="0">
                          <a:solidFill>
                            <a:srgbClr val="14213D"/>
                          </a:solidFill>
                          <a:latin typeface="Inter"/>
                        </a:rPr>
                        <a:t>Precio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S/ 8.00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S/ 18.00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S/ 45.00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bl>
          </a:graphicData>
        </a:graphic>
      </p:graphicFrame>
      <p:sp>
        <p:nvSpPr>
          <p:cNvPr id="9" name="Pie de tabla"/>
          <p:cNvSpPr txBox="1"/>
          <p:nvPr/>
        </p:nvSpPr>
        <p:spPr>
          <a:xfrm>
            <a:off x="612648" y="4114800"/>
            <a:ext cx="6583680" cy="228600"/>
          </a:xfrm>
          <a:prstGeom prst="rect">
            <a:avLst/>
          </a:prstGeom>
          <a:noFill/>
        </p:spPr>
        <p:txBody>
          <a:bodyPr wrap="square" lIns="0" rIns="0" tIns="0" bIns="0" anchor="t">
            <a:spAutoFit/>
          </a:bodyPr>
          <a:lstStyle/>
          <a:p>
            <a:pPr algn="l">
              <a:lnSpc>
                <a:spcPct val="100000"/>
              </a:lnSpc>
            </a:pPr>
            <a:r>
              <a:rPr sz="1200" b="0">
                <a:solidFill>
                  <a:srgbClr val="5B6B7C"/>
                </a:solidFill>
                <a:latin typeface="Inter"/>
              </a:rPr>
              <a:t>Tabla 8. Selección del sensor ultrasónico. Fuente: Elaboración propia.</a:t>
            </a:r>
          </a:p>
        </p:txBody>
      </p:sp>
      <p:sp>
        <p:nvSpPr>
          <p:cNvPr id="10" name="Tarjeta seleccionado"/>
          <p:cNvSpPr/>
          <p:nvPr/>
        </p:nvSpPr>
        <p:spPr>
          <a:xfrm>
            <a:off x="7516368" y="1252728"/>
            <a:ext cx="4059936" cy="2706624"/>
          </a:xfrm>
          <a:prstGeom prst="roundRect">
            <a:avLst>
              <a:gd name="adj" fmla="val 3800"/>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cono check" descr="image.png"/>
          <p:cNvPicPr>
            <a:picLocks noChangeAspect="1"/>
          </p:cNvPicPr>
          <p:nvPr/>
        </p:nvPicPr>
        <p:blipFill>
          <a:blip r:embed="rId4"/>
          <a:stretch>
            <a:fillRect/>
          </a:stretch>
        </p:blipFill>
        <p:spPr>
          <a:xfrm>
            <a:off x="7717536" y="1453896"/>
            <a:ext cx="356616" cy="356616"/>
          </a:xfrm>
          <a:prstGeom prst="rect">
            <a:avLst/>
          </a:prstGeom>
        </p:spPr>
      </p:pic>
      <p:sp>
        <p:nvSpPr>
          <p:cNvPr id="12" name="TextBox 11"/>
          <p:cNvSpPr txBox="1"/>
          <p:nvPr/>
        </p:nvSpPr>
        <p:spPr>
          <a:xfrm>
            <a:off x="7717536" y="1901952"/>
            <a:ext cx="3767328" cy="237744"/>
          </a:xfrm>
          <a:prstGeom prst="rect">
            <a:avLst/>
          </a:prstGeom>
          <a:noFill/>
        </p:spPr>
        <p:txBody>
          <a:bodyPr wrap="square" lIns="0" rIns="0" tIns="0" bIns="0" anchor="t">
            <a:spAutoFit/>
          </a:bodyPr>
          <a:lstStyle/>
          <a:p>
            <a:pPr algn="l">
              <a:lnSpc>
                <a:spcPct val="100000"/>
              </a:lnSpc>
            </a:pPr>
            <a:r>
              <a:rPr sz="1200" b="1" spc="150">
                <a:solidFill>
                  <a:srgbClr val="3FC8B8"/>
                </a:solidFill>
                <a:latin typeface="Inter"/>
              </a:rPr>
              <a:t>SELECCIONADO</a:t>
            </a:r>
          </a:p>
        </p:txBody>
      </p:sp>
      <p:sp>
        <p:nvSpPr>
          <p:cNvPr id="13" name="TextBox 12"/>
          <p:cNvSpPr txBox="1"/>
          <p:nvPr/>
        </p:nvSpPr>
        <p:spPr>
          <a:xfrm>
            <a:off x="7717536" y="2203704"/>
            <a:ext cx="3767328" cy="365760"/>
          </a:xfrm>
          <a:prstGeom prst="rect">
            <a:avLst/>
          </a:prstGeom>
          <a:noFill/>
        </p:spPr>
        <p:txBody>
          <a:bodyPr wrap="square" lIns="0" rIns="0" tIns="0" bIns="0" anchor="t">
            <a:spAutoFit/>
          </a:bodyPr>
          <a:lstStyle/>
          <a:p>
            <a:pPr algn="l">
              <a:lnSpc>
                <a:spcPct val="100000"/>
              </a:lnSpc>
            </a:pPr>
            <a:r>
              <a:rPr sz="2000" b="1">
                <a:solidFill>
                  <a:srgbClr val="F7F3EC"/>
                </a:solidFill>
                <a:latin typeface="Montserrat"/>
              </a:rPr>
              <a:t>HC-SR04</a:t>
            </a:r>
          </a:p>
        </p:txBody>
      </p:sp>
      <p:sp>
        <p:nvSpPr>
          <p:cNvPr id="14" name="TextBox 13"/>
          <p:cNvSpPr txBox="1"/>
          <p:nvPr/>
        </p:nvSpPr>
        <p:spPr>
          <a:xfrm>
            <a:off x="7717536" y="2651760"/>
            <a:ext cx="3767328" cy="1234440"/>
          </a:xfrm>
          <a:prstGeom prst="rect">
            <a:avLst/>
          </a:prstGeom>
          <a:noFill/>
        </p:spPr>
        <p:txBody>
          <a:bodyPr wrap="square" lIns="0" rIns="0" tIns="0" bIns="0" anchor="t">
            <a:spAutoFit/>
          </a:bodyPr>
          <a:lstStyle/>
          <a:p>
            <a:pPr algn="l">
              <a:lnSpc>
                <a:spcPct val="120000"/>
              </a:lnSpc>
            </a:pPr>
            <a:r>
              <a:rPr sz="1300" b="0">
                <a:solidFill>
                  <a:srgbClr val="C9D6E3"/>
                </a:solidFill>
                <a:latin typeface="Inter"/>
              </a:rPr>
              <a:t>Cubre el rango mínimo de 10 cm, está pensado para interiores y cuesta S/ 8.00, muy por debajo del US-100 y del JSN-SR04T.</a:t>
            </a:r>
          </a:p>
        </p:txBody>
      </p:sp>
      <p:sp>
        <p:nvSpPr>
          <p:cNvPr id="15" name="Tarjeta complementaria"/>
          <p:cNvSpPr/>
          <p:nvPr/>
        </p:nvSpPr>
        <p:spPr>
          <a:xfrm>
            <a:off x="7516368" y="4160520"/>
            <a:ext cx="4059936" cy="16002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7536" y="4334256"/>
            <a:ext cx="3657600" cy="274320"/>
          </a:xfrm>
          <a:prstGeom prst="rect">
            <a:avLst/>
          </a:prstGeom>
          <a:noFill/>
        </p:spPr>
        <p:txBody>
          <a:bodyPr wrap="square" lIns="0" rIns="0" tIns="0" bIns="0" anchor="t">
            <a:spAutoFit/>
          </a:bodyPr>
          <a:lstStyle/>
          <a:p>
            <a:pPr algn="l">
              <a:lnSpc>
                <a:spcPct val="100000"/>
              </a:lnSpc>
            </a:pPr>
            <a:r>
              <a:rPr sz="1400" b="1">
                <a:solidFill>
                  <a:srgbClr val="14213D"/>
                </a:solidFill>
                <a:latin typeface="Montserrat"/>
              </a:rPr>
              <a:t>Rol en el robot</a:t>
            </a:r>
          </a:p>
        </p:txBody>
      </p:sp>
      <p:sp>
        <p:nvSpPr>
          <p:cNvPr id="17" name="TextBox 16"/>
          <p:cNvSpPr txBox="1"/>
          <p:nvPr/>
        </p:nvSpPr>
        <p:spPr>
          <a:xfrm>
            <a:off x="7717536" y="4681728"/>
            <a:ext cx="3657600" cy="1005840"/>
          </a:xfrm>
          <a:prstGeom prst="rect">
            <a:avLst/>
          </a:prstGeom>
          <a:noFill/>
        </p:spPr>
        <p:txBody>
          <a:bodyPr wrap="square" lIns="0" rIns="0" tIns="0" bIns="0" anchor="t">
            <a:spAutoFit/>
          </a:bodyPr>
          <a:lstStyle/>
          <a:p>
            <a:pPr algn="l">
              <a:lnSpc>
                <a:spcPct val="120000"/>
              </a:lnSpc>
            </a:pPr>
            <a:r>
              <a:rPr sz="1200" b="0">
                <a:solidFill>
                  <a:srgbClr val="3B4A5C"/>
                </a:solidFill>
                <a:latin typeface="Inter"/>
              </a:rPr>
              <a:t>Verifica los lados adyacentes durante la traslación lateral a 90°. Se emplean 4 unidades (S/ 32.00).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Pantalla local: OLED SSD1306</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V · SELECCIÓN DE MATERIALES · TABLA 9</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Tabla 9 del informe del TP.</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23 / 32</a:t>
            </a:r>
          </a:p>
        </p:txBody>
      </p:sp>
      <p:graphicFrame>
        <p:nvGraphicFramePr>
          <p:cNvPr id="8" name="Tabla"/>
          <p:cNvGraphicFramePr>
            <a:graphicFrameLocks noGrp="1"/>
          </p:cNvGraphicFramePr>
          <p:nvPr/>
        </p:nvGraphicFramePr>
        <p:xfrm>
          <a:off x="612648" y="1261872"/>
          <a:ext cx="6583680" cy="2743200"/>
        </p:xfrm>
        <a:graphic>
          <a:graphicData uri="http://schemas.openxmlformats.org/drawingml/2006/table">
            <a:tbl>
              <a:tblPr>
                <a:tableStyleId>{5C22544A-7EE6-4342-B048-85BDC9FD1C3A}</a:tableStyleId>
              </a:tblPr>
              <a:tblGrid>
                <a:gridCol w="1280160"/>
                <a:gridCol w="1463040"/>
                <a:gridCol w="1828800"/>
                <a:gridCol w="2011680"/>
              </a:tblGrid>
              <a:tr h="548640">
                <a:tc>
                  <a:txBody>
                    <a:bodyPr wrap="square"/>
                    <a:lstStyle/>
                    <a:p>
                      <a:pPr>
                        <a:lnSpc>
                          <a:spcPct val="110000"/>
                        </a:lnSpc>
                      </a:pPr>
                      <a:r>
                        <a:rPr sz="1200" b="1">
                          <a:solidFill>
                            <a:srgbClr val="F3F7F8"/>
                          </a:solidFill>
                          <a:latin typeface="Inter"/>
                        </a:rPr>
                        <a:t>Parámetro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Requisito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LCD 16x2 con módulo I²C</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c>
                  <a:txBody>
                    <a:bodyPr wrap="square"/>
                    <a:lstStyle/>
                    <a:p>
                      <a:pPr>
                        <a:lnSpc>
                          <a:spcPct val="110000"/>
                        </a:lnSpc>
                      </a:pPr>
                      <a:r>
                        <a:rPr sz="1200" b="1">
                          <a:solidFill>
                            <a:srgbClr val="F3F7F8"/>
                          </a:solidFill>
                          <a:latin typeface="Inter"/>
                        </a:rPr>
                        <a:t>OLED 0.96" SSD1306 (elegido)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0B2239"/>
                    </a:solidFill>
                  </a:tcPr>
                </a:tc>
              </a:tr>
              <a:tr h="365760">
                <a:tc>
                  <a:txBody>
                    <a:bodyPr wrap="square"/>
                    <a:lstStyle/>
                    <a:p>
                      <a:pPr>
                        <a:lnSpc>
                          <a:spcPct val="110000"/>
                        </a:lnSpc>
                      </a:pPr>
                      <a:r>
                        <a:rPr sz="1200" b="0">
                          <a:solidFill>
                            <a:srgbClr val="14213D"/>
                          </a:solidFill>
                          <a:latin typeface="Inter"/>
                        </a:rPr>
                        <a:t>Comunicación</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Serial (I²C)</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Digital (I²C)</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Digital (I²C)</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r h="548640">
                <a:tc>
                  <a:txBody>
                    <a:bodyPr wrap="square"/>
                    <a:lstStyle/>
                    <a:p>
                      <a:pPr>
                        <a:lnSpc>
                          <a:spcPct val="110000"/>
                        </a:lnSpc>
                      </a:pPr>
                      <a:r>
                        <a:rPr sz="1200" b="0">
                          <a:solidFill>
                            <a:srgbClr val="14213D"/>
                          </a:solidFill>
                          <a:latin typeface="Inter"/>
                        </a:rPr>
                        <a:t>Visualización</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Alfanumérico o gráfico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Solo texto alfanumérico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0B7A7A"/>
                          </a:solidFill>
                          <a:latin typeface="Inter"/>
                        </a:rPr>
                        <a:t>Gráfico de alta resolución y texto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r>
              <a:tr h="365760">
                <a:tc>
                  <a:txBody>
                    <a:bodyPr wrap="square"/>
                    <a:lstStyle/>
                    <a:p>
                      <a:pPr>
                        <a:lnSpc>
                          <a:spcPct val="110000"/>
                        </a:lnSpc>
                      </a:pPr>
                      <a:r>
                        <a:rPr sz="1200" b="0">
                          <a:solidFill>
                            <a:srgbClr val="14213D"/>
                          </a:solidFill>
                          <a:latin typeface="Inter"/>
                        </a:rPr>
                        <a:t>Voltaje</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3.3 V / 5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5 V estrictamente</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3.3 a 5 V</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r h="548640">
                <a:tc>
                  <a:txBody>
                    <a:bodyPr wrap="square"/>
                    <a:lstStyle/>
                    <a:p>
                      <a:pPr>
                        <a:lnSpc>
                          <a:spcPct val="110000"/>
                        </a:lnSpc>
                      </a:pPr>
                      <a:r>
                        <a:rPr sz="1200" b="0">
                          <a:solidFill>
                            <a:srgbClr val="14213D"/>
                          </a:solidFill>
                          <a:latin typeface="Inter"/>
                        </a:rPr>
                        <a:t>Tamaño y peso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Compacto y ligero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14213D"/>
                          </a:solidFill>
                          <a:latin typeface="Inter"/>
                        </a:rPr>
                        <a:t>Grande (80 x 36 mm), más pesado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c>
                  <a:txBody>
                    <a:bodyPr wrap="square"/>
                    <a:lstStyle/>
                    <a:p>
                      <a:pPr>
                        <a:lnSpc>
                          <a:spcPct val="110000"/>
                        </a:lnSpc>
                      </a:pPr>
                      <a:r>
                        <a:rPr sz="1200" b="0">
                          <a:solidFill>
                            <a:srgbClr val="0B7A7A"/>
                          </a:solidFill>
                          <a:latin typeface="Inter"/>
                        </a:rPr>
                        <a:t>Ultra compacto (27 x 27 mm), ligero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EFEADF"/>
                    </a:solidFill>
                  </a:tcPr>
                </a:tc>
              </a:tr>
              <a:tr h="365760">
                <a:tc>
                  <a:txBody>
                    <a:bodyPr wrap="square"/>
                    <a:lstStyle/>
                    <a:p>
                      <a:pPr>
                        <a:lnSpc>
                          <a:spcPct val="110000"/>
                        </a:lnSpc>
                      </a:pPr>
                      <a:r>
                        <a:rPr sz="1200" b="0">
                          <a:solidFill>
                            <a:srgbClr val="14213D"/>
                          </a:solidFill>
                          <a:latin typeface="Inter"/>
                        </a:rPr>
                        <a:t>Precio</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Accesible</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14213D"/>
                          </a:solidFill>
                          <a:latin typeface="Inter"/>
                        </a:rPr>
                        <a:t>S/ 20.00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c>
                  <a:txBody>
                    <a:bodyPr wrap="square"/>
                    <a:lstStyle/>
                    <a:p>
                      <a:pPr>
                        <a:lnSpc>
                          <a:spcPct val="110000"/>
                        </a:lnSpc>
                      </a:pPr>
                      <a:r>
                        <a:rPr sz="1200" b="0">
                          <a:solidFill>
                            <a:srgbClr val="0B7A7A"/>
                          </a:solidFill>
                          <a:latin typeface="Inter"/>
                        </a:rPr>
                        <a:t>S/ 15.00</a:t>
                      </a:r>
                    </a:p>
                  </a:txBody>
                  <a:tcPr marL="54864" marR="54864" marT="45720" marB="45720" anchor="t">
                    <a:lnL w="12700" cap="flat" cmpd="sng" algn="ctr">
                      <a:solidFill>
                        <a:srgbClr val="C5C2BC"/>
                      </a:solidFill>
                      <a:prstDash val="solid"/>
                    </a:lnL>
                    <a:lnR w="12700" cap="flat" cmpd="sng" algn="ctr">
                      <a:solidFill>
                        <a:srgbClr val="C5C2BC"/>
                      </a:solidFill>
                      <a:prstDash val="solid"/>
                    </a:lnR>
                    <a:lnT w="12700" cap="flat" cmpd="sng" algn="ctr">
                      <a:solidFill>
                        <a:srgbClr val="C5C2BC"/>
                      </a:solidFill>
                      <a:prstDash val="solid"/>
                    </a:lnT>
                    <a:lnB w="12700" cap="flat" cmpd="sng" algn="ctr">
                      <a:solidFill>
                        <a:srgbClr val="C5C2BC"/>
                      </a:solidFill>
                      <a:prstDash val="solid"/>
                    </a:lnB>
                    <a:solidFill>
                      <a:srgbClr val="F7F3EC"/>
                    </a:solidFill>
                  </a:tcPr>
                </a:tc>
              </a:tr>
            </a:tbl>
          </a:graphicData>
        </a:graphic>
      </p:graphicFrame>
      <p:sp>
        <p:nvSpPr>
          <p:cNvPr id="9" name="Pie de tabla"/>
          <p:cNvSpPr txBox="1"/>
          <p:nvPr/>
        </p:nvSpPr>
        <p:spPr>
          <a:xfrm>
            <a:off x="612648" y="4114800"/>
            <a:ext cx="6583680" cy="228600"/>
          </a:xfrm>
          <a:prstGeom prst="rect">
            <a:avLst/>
          </a:prstGeom>
          <a:noFill/>
        </p:spPr>
        <p:txBody>
          <a:bodyPr wrap="square" lIns="0" rIns="0" tIns="0" bIns="0" anchor="t">
            <a:spAutoFit/>
          </a:bodyPr>
          <a:lstStyle/>
          <a:p>
            <a:pPr algn="l">
              <a:lnSpc>
                <a:spcPct val="100000"/>
              </a:lnSpc>
            </a:pPr>
            <a:r>
              <a:rPr sz="1200" b="0">
                <a:solidFill>
                  <a:srgbClr val="5B6B7C"/>
                </a:solidFill>
                <a:latin typeface="Inter"/>
              </a:rPr>
              <a:t>Tabla 9. Selección de la pantalla. Fuente: Elaboración propia.</a:t>
            </a:r>
          </a:p>
        </p:txBody>
      </p:sp>
      <p:sp>
        <p:nvSpPr>
          <p:cNvPr id="10" name="Tarjeta seleccionado"/>
          <p:cNvSpPr/>
          <p:nvPr/>
        </p:nvSpPr>
        <p:spPr>
          <a:xfrm>
            <a:off x="7516368" y="1252728"/>
            <a:ext cx="4059936" cy="2706624"/>
          </a:xfrm>
          <a:prstGeom prst="roundRect">
            <a:avLst>
              <a:gd name="adj" fmla="val 3800"/>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Icono check" descr="image.png"/>
          <p:cNvPicPr>
            <a:picLocks noChangeAspect="1"/>
          </p:cNvPicPr>
          <p:nvPr/>
        </p:nvPicPr>
        <p:blipFill>
          <a:blip r:embed="rId4"/>
          <a:stretch>
            <a:fillRect/>
          </a:stretch>
        </p:blipFill>
        <p:spPr>
          <a:xfrm>
            <a:off x="7717536" y="1453896"/>
            <a:ext cx="356616" cy="356616"/>
          </a:xfrm>
          <a:prstGeom prst="rect">
            <a:avLst/>
          </a:prstGeom>
        </p:spPr>
      </p:pic>
      <p:sp>
        <p:nvSpPr>
          <p:cNvPr id="12" name="TextBox 11"/>
          <p:cNvSpPr txBox="1"/>
          <p:nvPr/>
        </p:nvSpPr>
        <p:spPr>
          <a:xfrm>
            <a:off x="7717536" y="1901952"/>
            <a:ext cx="3767328" cy="237744"/>
          </a:xfrm>
          <a:prstGeom prst="rect">
            <a:avLst/>
          </a:prstGeom>
          <a:noFill/>
        </p:spPr>
        <p:txBody>
          <a:bodyPr wrap="square" lIns="0" rIns="0" tIns="0" bIns="0" anchor="t">
            <a:spAutoFit/>
          </a:bodyPr>
          <a:lstStyle/>
          <a:p>
            <a:pPr algn="l">
              <a:lnSpc>
                <a:spcPct val="100000"/>
              </a:lnSpc>
            </a:pPr>
            <a:r>
              <a:rPr sz="1200" b="1" spc="150">
                <a:solidFill>
                  <a:srgbClr val="3FC8B8"/>
                </a:solidFill>
                <a:latin typeface="Inter"/>
              </a:rPr>
              <a:t>SELECCIONADO</a:t>
            </a:r>
          </a:p>
        </p:txBody>
      </p:sp>
      <p:sp>
        <p:nvSpPr>
          <p:cNvPr id="13" name="TextBox 12"/>
          <p:cNvSpPr txBox="1"/>
          <p:nvPr/>
        </p:nvSpPr>
        <p:spPr>
          <a:xfrm>
            <a:off x="7717536" y="2203704"/>
            <a:ext cx="3767328" cy="365760"/>
          </a:xfrm>
          <a:prstGeom prst="rect">
            <a:avLst/>
          </a:prstGeom>
          <a:noFill/>
        </p:spPr>
        <p:txBody>
          <a:bodyPr wrap="square" lIns="0" rIns="0" tIns="0" bIns="0" anchor="t">
            <a:spAutoFit/>
          </a:bodyPr>
          <a:lstStyle/>
          <a:p>
            <a:pPr algn="l">
              <a:lnSpc>
                <a:spcPct val="100000"/>
              </a:lnSpc>
            </a:pPr>
            <a:r>
              <a:rPr sz="2000" b="1">
                <a:solidFill>
                  <a:srgbClr val="F7F3EC"/>
                </a:solidFill>
                <a:latin typeface="Montserrat"/>
              </a:rPr>
              <a:t>OLED SSD1306</a:t>
            </a:r>
          </a:p>
        </p:txBody>
      </p:sp>
      <p:sp>
        <p:nvSpPr>
          <p:cNvPr id="14" name="TextBox 13"/>
          <p:cNvSpPr txBox="1"/>
          <p:nvPr/>
        </p:nvSpPr>
        <p:spPr>
          <a:xfrm>
            <a:off x="7717536" y="2651760"/>
            <a:ext cx="3767328" cy="1234440"/>
          </a:xfrm>
          <a:prstGeom prst="rect">
            <a:avLst/>
          </a:prstGeom>
          <a:noFill/>
        </p:spPr>
        <p:txBody>
          <a:bodyPr wrap="square" lIns="0" rIns="0" tIns="0" bIns="0" anchor="t">
            <a:spAutoFit/>
          </a:bodyPr>
          <a:lstStyle/>
          <a:p>
            <a:pPr algn="l">
              <a:lnSpc>
                <a:spcPct val="120000"/>
              </a:lnSpc>
            </a:pPr>
            <a:r>
              <a:rPr sz="1300" b="0">
                <a:solidFill>
                  <a:srgbClr val="C9D6E3"/>
                </a:solidFill>
                <a:latin typeface="Inter"/>
              </a:rPr>
              <a:t>Funciona de 3.3 a 5 V, es mucho más pequeña y ligera que la LCD y cuesta menos (S/ 15.00 frente a S/ 20.00).</a:t>
            </a:r>
          </a:p>
        </p:txBody>
      </p:sp>
      <p:sp>
        <p:nvSpPr>
          <p:cNvPr id="15" name="Tarjeta complementaria"/>
          <p:cNvSpPr/>
          <p:nvPr/>
        </p:nvSpPr>
        <p:spPr>
          <a:xfrm>
            <a:off x="7516368" y="4160520"/>
            <a:ext cx="4059936" cy="16002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17536" y="4334256"/>
            <a:ext cx="3657600" cy="274320"/>
          </a:xfrm>
          <a:prstGeom prst="rect">
            <a:avLst/>
          </a:prstGeom>
          <a:noFill/>
        </p:spPr>
        <p:txBody>
          <a:bodyPr wrap="square" lIns="0" rIns="0" tIns="0" bIns="0" anchor="t">
            <a:spAutoFit/>
          </a:bodyPr>
          <a:lstStyle/>
          <a:p>
            <a:pPr algn="l">
              <a:lnSpc>
                <a:spcPct val="100000"/>
              </a:lnSpc>
            </a:pPr>
            <a:r>
              <a:rPr sz="1400" b="1">
                <a:solidFill>
                  <a:srgbClr val="14213D"/>
                </a:solidFill>
                <a:latin typeface="Montserrat"/>
              </a:rPr>
              <a:t>Función en el prototipo</a:t>
            </a:r>
          </a:p>
        </p:txBody>
      </p:sp>
      <p:sp>
        <p:nvSpPr>
          <p:cNvPr id="17" name="TextBox 16"/>
          <p:cNvSpPr txBox="1"/>
          <p:nvPr/>
        </p:nvSpPr>
        <p:spPr>
          <a:xfrm>
            <a:off x="7717536" y="4681728"/>
            <a:ext cx="3657600" cy="1005840"/>
          </a:xfrm>
          <a:prstGeom prst="rect">
            <a:avLst/>
          </a:prstGeom>
          <a:noFill/>
        </p:spPr>
        <p:txBody>
          <a:bodyPr wrap="square" lIns="0" rIns="0" tIns="0" bIns="0" anchor="t">
            <a:spAutoFit/>
          </a:bodyPr>
          <a:lstStyle/>
          <a:p>
            <a:pPr algn="l">
              <a:lnSpc>
                <a:spcPct val="120000"/>
              </a:lnSpc>
            </a:pPr>
            <a:r>
              <a:rPr sz="1200" b="0">
                <a:solidFill>
                  <a:srgbClr val="3B4A5C"/>
                </a:solidFill>
                <a:latin typeface="Inter"/>
              </a:rPr>
              <a:t>Muestra el destino de la misión activa (Tópico 1 o 2) recibido del ESP32, antes y durante el recorrido.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Diagrama de Gantt, semanas 7 a 16</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VI · CRONOGRAMA DE TRABAJO</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Elaboración propia. Cronograma del informe del TP, sección VI.</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24 / 32</a:t>
            </a:r>
          </a:p>
        </p:txBody>
      </p:sp>
      <p:sp>
        <p:nvSpPr>
          <p:cNvPr id="8" name="Rectangle 7"/>
          <p:cNvSpPr/>
          <p:nvPr/>
        </p:nvSpPr>
        <p:spPr>
          <a:xfrm>
            <a:off x="612648" y="1280160"/>
            <a:ext cx="4023360"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353312"/>
            <a:ext cx="3840480" cy="228600"/>
          </a:xfrm>
          <a:prstGeom prst="rect">
            <a:avLst/>
          </a:prstGeom>
          <a:noFill/>
        </p:spPr>
        <p:txBody>
          <a:bodyPr wrap="square" lIns="0" rIns="0" tIns="0" bIns="0" anchor="t">
            <a:spAutoFit/>
          </a:bodyPr>
          <a:lstStyle/>
          <a:p>
            <a:pPr algn="l">
              <a:lnSpc>
                <a:spcPct val="100000"/>
              </a:lnSpc>
            </a:pPr>
            <a:r>
              <a:rPr sz="1200" b="1">
                <a:solidFill>
                  <a:srgbClr val="F3F7F8"/>
                </a:solidFill>
                <a:latin typeface="Inter"/>
              </a:rPr>
              <a:t>Actividad</a:t>
            </a:r>
          </a:p>
        </p:txBody>
      </p:sp>
      <p:sp>
        <p:nvSpPr>
          <p:cNvPr id="10" name="Rectangle 9"/>
          <p:cNvSpPr/>
          <p:nvPr/>
        </p:nvSpPr>
        <p:spPr>
          <a:xfrm>
            <a:off x="4636008" y="1280160"/>
            <a:ext cx="694944"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6008" y="1353312"/>
            <a:ext cx="694944" cy="228600"/>
          </a:xfrm>
          <a:prstGeom prst="rect">
            <a:avLst/>
          </a:prstGeom>
          <a:noFill/>
        </p:spPr>
        <p:txBody>
          <a:bodyPr wrap="square" lIns="0" rIns="0" tIns="0" bIns="0" anchor="t">
            <a:spAutoFit/>
          </a:bodyPr>
          <a:lstStyle/>
          <a:p>
            <a:pPr algn="ctr">
              <a:lnSpc>
                <a:spcPct val="100000"/>
              </a:lnSpc>
            </a:pPr>
            <a:r>
              <a:rPr sz="1200" b="1">
                <a:solidFill>
                  <a:srgbClr val="F3F7F8"/>
                </a:solidFill>
                <a:latin typeface="Inter"/>
              </a:rPr>
              <a:t>S7</a:t>
            </a:r>
          </a:p>
        </p:txBody>
      </p:sp>
      <p:sp>
        <p:nvSpPr>
          <p:cNvPr id="12" name="Rectangle 11"/>
          <p:cNvSpPr/>
          <p:nvPr/>
        </p:nvSpPr>
        <p:spPr>
          <a:xfrm>
            <a:off x="5330952" y="1280160"/>
            <a:ext cx="694944"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30952" y="1353312"/>
            <a:ext cx="694944" cy="228600"/>
          </a:xfrm>
          <a:prstGeom prst="rect">
            <a:avLst/>
          </a:prstGeom>
          <a:noFill/>
        </p:spPr>
        <p:txBody>
          <a:bodyPr wrap="square" lIns="0" rIns="0" tIns="0" bIns="0" anchor="t">
            <a:spAutoFit/>
          </a:bodyPr>
          <a:lstStyle/>
          <a:p>
            <a:pPr algn="ctr">
              <a:lnSpc>
                <a:spcPct val="100000"/>
              </a:lnSpc>
            </a:pPr>
            <a:r>
              <a:rPr sz="1200" b="1">
                <a:solidFill>
                  <a:srgbClr val="F3F7F8"/>
                </a:solidFill>
                <a:latin typeface="Inter"/>
              </a:rPr>
              <a:t>S8</a:t>
            </a:r>
          </a:p>
        </p:txBody>
      </p:sp>
      <p:sp>
        <p:nvSpPr>
          <p:cNvPr id="14" name="Rectangle 13"/>
          <p:cNvSpPr/>
          <p:nvPr/>
        </p:nvSpPr>
        <p:spPr>
          <a:xfrm>
            <a:off x="6025896" y="1280160"/>
            <a:ext cx="694944"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25896" y="1353312"/>
            <a:ext cx="694944" cy="228600"/>
          </a:xfrm>
          <a:prstGeom prst="rect">
            <a:avLst/>
          </a:prstGeom>
          <a:noFill/>
        </p:spPr>
        <p:txBody>
          <a:bodyPr wrap="square" lIns="0" rIns="0" tIns="0" bIns="0" anchor="t">
            <a:spAutoFit/>
          </a:bodyPr>
          <a:lstStyle/>
          <a:p>
            <a:pPr algn="ctr">
              <a:lnSpc>
                <a:spcPct val="100000"/>
              </a:lnSpc>
            </a:pPr>
            <a:r>
              <a:rPr sz="1200" b="1">
                <a:solidFill>
                  <a:srgbClr val="F3F7F8"/>
                </a:solidFill>
                <a:latin typeface="Inter"/>
              </a:rPr>
              <a:t>S9</a:t>
            </a:r>
          </a:p>
        </p:txBody>
      </p:sp>
      <p:sp>
        <p:nvSpPr>
          <p:cNvPr id="16" name="Rectangle 15"/>
          <p:cNvSpPr/>
          <p:nvPr/>
        </p:nvSpPr>
        <p:spPr>
          <a:xfrm>
            <a:off x="6720840" y="1280160"/>
            <a:ext cx="694944"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1353312"/>
            <a:ext cx="694944" cy="228600"/>
          </a:xfrm>
          <a:prstGeom prst="rect">
            <a:avLst/>
          </a:prstGeom>
          <a:noFill/>
        </p:spPr>
        <p:txBody>
          <a:bodyPr wrap="square" lIns="0" rIns="0" tIns="0" bIns="0" anchor="t">
            <a:spAutoFit/>
          </a:bodyPr>
          <a:lstStyle/>
          <a:p>
            <a:pPr algn="ctr">
              <a:lnSpc>
                <a:spcPct val="100000"/>
              </a:lnSpc>
            </a:pPr>
            <a:r>
              <a:rPr sz="1200" b="1">
                <a:solidFill>
                  <a:srgbClr val="F3F7F8"/>
                </a:solidFill>
                <a:latin typeface="Inter"/>
              </a:rPr>
              <a:t>S10</a:t>
            </a:r>
          </a:p>
        </p:txBody>
      </p:sp>
      <p:sp>
        <p:nvSpPr>
          <p:cNvPr id="18" name="Rectangle 17"/>
          <p:cNvSpPr/>
          <p:nvPr/>
        </p:nvSpPr>
        <p:spPr>
          <a:xfrm>
            <a:off x="7415783" y="1280160"/>
            <a:ext cx="694944"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15783" y="1353312"/>
            <a:ext cx="694944" cy="228600"/>
          </a:xfrm>
          <a:prstGeom prst="rect">
            <a:avLst/>
          </a:prstGeom>
          <a:noFill/>
        </p:spPr>
        <p:txBody>
          <a:bodyPr wrap="square" lIns="0" rIns="0" tIns="0" bIns="0" anchor="t">
            <a:spAutoFit/>
          </a:bodyPr>
          <a:lstStyle/>
          <a:p>
            <a:pPr algn="ctr">
              <a:lnSpc>
                <a:spcPct val="100000"/>
              </a:lnSpc>
            </a:pPr>
            <a:r>
              <a:rPr sz="1200" b="1">
                <a:solidFill>
                  <a:srgbClr val="F3F7F8"/>
                </a:solidFill>
                <a:latin typeface="Inter"/>
              </a:rPr>
              <a:t>S11</a:t>
            </a:r>
          </a:p>
        </p:txBody>
      </p:sp>
      <p:sp>
        <p:nvSpPr>
          <p:cNvPr id="20" name="Rectangle 19"/>
          <p:cNvSpPr/>
          <p:nvPr/>
        </p:nvSpPr>
        <p:spPr>
          <a:xfrm>
            <a:off x="8110728" y="1280160"/>
            <a:ext cx="694944"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1353312"/>
            <a:ext cx="694944" cy="228600"/>
          </a:xfrm>
          <a:prstGeom prst="rect">
            <a:avLst/>
          </a:prstGeom>
          <a:noFill/>
        </p:spPr>
        <p:txBody>
          <a:bodyPr wrap="square" lIns="0" rIns="0" tIns="0" bIns="0" anchor="t">
            <a:spAutoFit/>
          </a:bodyPr>
          <a:lstStyle/>
          <a:p>
            <a:pPr algn="ctr">
              <a:lnSpc>
                <a:spcPct val="100000"/>
              </a:lnSpc>
            </a:pPr>
            <a:r>
              <a:rPr sz="1200" b="1">
                <a:solidFill>
                  <a:srgbClr val="F3F7F8"/>
                </a:solidFill>
                <a:latin typeface="Inter"/>
              </a:rPr>
              <a:t>S12</a:t>
            </a:r>
          </a:p>
        </p:txBody>
      </p:sp>
      <p:sp>
        <p:nvSpPr>
          <p:cNvPr id="22" name="Rectangle 21"/>
          <p:cNvSpPr/>
          <p:nvPr/>
        </p:nvSpPr>
        <p:spPr>
          <a:xfrm>
            <a:off x="8805672" y="1280160"/>
            <a:ext cx="694944"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05672" y="1353312"/>
            <a:ext cx="694944" cy="228600"/>
          </a:xfrm>
          <a:prstGeom prst="rect">
            <a:avLst/>
          </a:prstGeom>
          <a:noFill/>
        </p:spPr>
        <p:txBody>
          <a:bodyPr wrap="square" lIns="0" rIns="0" tIns="0" bIns="0" anchor="t">
            <a:spAutoFit/>
          </a:bodyPr>
          <a:lstStyle/>
          <a:p>
            <a:pPr algn="ctr">
              <a:lnSpc>
                <a:spcPct val="100000"/>
              </a:lnSpc>
            </a:pPr>
            <a:r>
              <a:rPr sz="1200" b="1">
                <a:solidFill>
                  <a:srgbClr val="F3F7F8"/>
                </a:solidFill>
                <a:latin typeface="Inter"/>
              </a:rPr>
              <a:t>S13</a:t>
            </a:r>
          </a:p>
        </p:txBody>
      </p:sp>
      <p:sp>
        <p:nvSpPr>
          <p:cNvPr id="24" name="Rectangle 23"/>
          <p:cNvSpPr/>
          <p:nvPr/>
        </p:nvSpPr>
        <p:spPr>
          <a:xfrm>
            <a:off x="9500616" y="1280160"/>
            <a:ext cx="694944"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500616" y="1353312"/>
            <a:ext cx="694944" cy="228600"/>
          </a:xfrm>
          <a:prstGeom prst="rect">
            <a:avLst/>
          </a:prstGeom>
          <a:noFill/>
        </p:spPr>
        <p:txBody>
          <a:bodyPr wrap="square" lIns="0" rIns="0" tIns="0" bIns="0" anchor="t">
            <a:spAutoFit/>
          </a:bodyPr>
          <a:lstStyle/>
          <a:p>
            <a:pPr algn="ctr">
              <a:lnSpc>
                <a:spcPct val="100000"/>
              </a:lnSpc>
            </a:pPr>
            <a:r>
              <a:rPr sz="1200" b="1">
                <a:solidFill>
                  <a:srgbClr val="F3F7F8"/>
                </a:solidFill>
                <a:latin typeface="Inter"/>
              </a:rPr>
              <a:t>S14</a:t>
            </a:r>
          </a:p>
        </p:txBody>
      </p:sp>
      <p:sp>
        <p:nvSpPr>
          <p:cNvPr id="26" name="Rectangle 25"/>
          <p:cNvSpPr/>
          <p:nvPr/>
        </p:nvSpPr>
        <p:spPr>
          <a:xfrm>
            <a:off x="10195560" y="1280160"/>
            <a:ext cx="694944"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195560" y="1353312"/>
            <a:ext cx="694944" cy="228600"/>
          </a:xfrm>
          <a:prstGeom prst="rect">
            <a:avLst/>
          </a:prstGeom>
          <a:noFill/>
        </p:spPr>
        <p:txBody>
          <a:bodyPr wrap="square" lIns="0" rIns="0" tIns="0" bIns="0" anchor="t">
            <a:spAutoFit/>
          </a:bodyPr>
          <a:lstStyle/>
          <a:p>
            <a:pPr algn="ctr">
              <a:lnSpc>
                <a:spcPct val="100000"/>
              </a:lnSpc>
            </a:pPr>
            <a:r>
              <a:rPr sz="1200" b="1">
                <a:solidFill>
                  <a:srgbClr val="F3F7F8"/>
                </a:solidFill>
                <a:latin typeface="Inter"/>
              </a:rPr>
              <a:t>S15</a:t>
            </a:r>
          </a:p>
        </p:txBody>
      </p:sp>
      <p:sp>
        <p:nvSpPr>
          <p:cNvPr id="28" name="Rectangle 27"/>
          <p:cNvSpPr/>
          <p:nvPr/>
        </p:nvSpPr>
        <p:spPr>
          <a:xfrm>
            <a:off x="10890504" y="1280160"/>
            <a:ext cx="694944" cy="347472"/>
          </a:xfrm>
          <a:prstGeom prst="rect">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890504" y="1353312"/>
            <a:ext cx="694944" cy="228600"/>
          </a:xfrm>
          <a:prstGeom prst="rect">
            <a:avLst/>
          </a:prstGeom>
          <a:noFill/>
        </p:spPr>
        <p:txBody>
          <a:bodyPr wrap="square" lIns="0" rIns="0" tIns="0" bIns="0" anchor="t">
            <a:spAutoFit/>
          </a:bodyPr>
          <a:lstStyle/>
          <a:p>
            <a:pPr algn="ctr">
              <a:lnSpc>
                <a:spcPct val="100000"/>
              </a:lnSpc>
            </a:pPr>
            <a:r>
              <a:rPr sz="1200" b="1">
                <a:solidFill>
                  <a:srgbClr val="F3F7F8"/>
                </a:solidFill>
                <a:latin typeface="Inter"/>
              </a:rPr>
              <a:t>S16</a:t>
            </a:r>
          </a:p>
        </p:txBody>
      </p:sp>
      <p:sp>
        <p:nvSpPr>
          <p:cNvPr id="30" name="Rectangle 29"/>
          <p:cNvSpPr/>
          <p:nvPr/>
        </p:nvSpPr>
        <p:spPr>
          <a:xfrm>
            <a:off x="612648" y="1627631"/>
            <a:ext cx="10972800" cy="374904"/>
          </a:xfrm>
          <a:prstGeom prst="rect">
            <a:avLst/>
          </a:prstGeom>
          <a:solidFill>
            <a:srgbClr val="EF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 y="1719072"/>
            <a:ext cx="3840480" cy="228600"/>
          </a:xfrm>
          <a:prstGeom prst="rect">
            <a:avLst/>
          </a:prstGeom>
          <a:noFill/>
        </p:spPr>
        <p:txBody>
          <a:bodyPr wrap="square" lIns="0" rIns="0" tIns="0" bIns="0" anchor="t">
            <a:spAutoFit/>
          </a:bodyPr>
          <a:lstStyle/>
          <a:p>
            <a:pPr algn="l">
              <a:lnSpc>
                <a:spcPct val="100000"/>
              </a:lnSpc>
            </a:pPr>
            <a:r>
              <a:rPr sz="1200" b="1">
                <a:solidFill>
                  <a:srgbClr val="7A8CA0"/>
                </a:solidFill>
                <a:latin typeface="Inter"/>
              </a:rPr>
              <a:t>● </a:t>
            </a:r>
            <a:r>
              <a:rPr sz="1200" b="0">
                <a:solidFill>
                  <a:srgbClr val="14213D"/>
                </a:solidFill>
                <a:latin typeface="Inter"/>
              </a:rPr>
              <a:t>Selección de componentes y viabilidad (TP)</a:t>
            </a:r>
          </a:p>
        </p:txBody>
      </p:sp>
      <p:sp>
        <p:nvSpPr>
          <p:cNvPr id="32" name="Rounded Rectangle 31"/>
          <p:cNvSpPr/>
          <p:nvPr/>
        </p:nvSpPr>
        <p:spPr>
          <a:xfrm>
            <a:off x="4672584" y="1691639"/>
            <a:ext cx="1316736" cy="246887"/>
          </a:xfrm>
          <a:prstGeom prst="roundRect">
            <a:avLst>
              <a:gd name="adj" fmla="val 25000"/>
            </a:avLst>
          </a:prstGeom>
          <a:solidFill>
            <a:srgbClr val="7A8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8" y="2002536"/>
            <a:ext cx="10972800" cy="374904"/>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2376" y="2093976"/>
            <a:ext cx="3840480" cy="228600"/>
          </a:xfrm>
          <a:prstGeom prst="rect">
            <a:avLst/>
          </a:prstGeom>
          <a:noFill/>
        </p:spPr>
        <p:txBody>
          <a:bodyPr wrap="square" lIns="0" rIns="0" tIns="0" bIns="0" anchor="t">
            <a:spAutoFit/>
          </a:bodyPr>
          <a:lstStyle/>
          <a:p>
            <a:pPr algn="l">
              <a:lnSpc>
                <a:spcPct val="100000"/>
              </a:lnSpc>
            </a:pPr>
            <a:r>
              <a:rPr sz="1200" b="1">
                <a:solidFill>
                  <a:srgbClr val="7A8CA0"/>
                </a:solidFill>
                <a:latin typeface="Inter"/>
              </a:rPr>
              <a:t>● </a:t>
            </a:r>
            <a:r>
              <a:rPr sz="1200" b="0">
                <a:solidFill>
                  <a:srgbClr val="14213D"/>
                </a:solidFill>
                <a:latin typeface="Inter"/>
              </a:rPr>
              <a:t>Informe final (TF) y sustentación</a:t>
            </a:r>
          </a:p>
        </p:txBody>
      </p:sp>
      <p:sp>
        <p:nvSpPr>
          <p:cNvPr id="35" name="Rounded Rectangle 34"/>
          <p:cNvSpPr/>
          <p:nvPr/>
        </p:nvSpPr>
        <p:spPr>
          <a:xfrm>
            <a:off x="10232136" y="2066543"/>
            <a:ext cx="1316736" cy="246887"/>
          </a:xfrm>
          <a:prstGeom prst="roundRect">
            <a:avLst>
              <a:gd name="adj" fmla="val 25000"/>
            </a:avLst>
          </a:prstGeom>
          <a:solidFill>
            <a:srgbClr val="7A8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2648" y="2377439"/>
            <a:ext cx="10972800" cy="374904"/>
          </a:xfrm>
          <a:prstGeom prst="rect">
            <a:avLst/>
          </a:prstGeom>
          <a:solidFill>
            <a:srgbClr val="EF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6" y="2468879"/>
            <a:ext cx="3840480"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 </a:t>
            </a:r>
            <a:r>
              <a:rPr sz="1200" b="0">
                <a:solidFill>
                  <a:srgbClr val="14213D"/>
                </a:solidFill>
                <a:latin typeface="Inter"/>
              </a:rPr>
              <a:t>Diseño CAD del chasis y compartimento</a:t>
            </a:r>
          </a:p>
        </p:txBody>
      </p:sp>
      <p:sp>
        <p:nvSpPr>
          <p:cNvPr id="38" name="Rounded Rectangle 37"/>
          <p:cNvSpPr/>
          <p:nvPr/>
        </p:nvSpPr>
        <p:spPr>
          <a:xfrm>
            <a:off x="5367528" y="2441447"/>
            <a:ext cx="1316736" cy="246887"/>
          </a:xfrm>
          <a:prstGeom prst="roundRect">
            <a:avLst>
              <a:gd name="adj" fmla="val 25000"/>
            </a:avLst>
          </a:prstGeom>
          <a:solidFill>
            <a:srgbClr val="0B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 y="2752344"/>
            <a:ext cx="10972800" cy="374904"/>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376" y="2843784"/>
            <a:ext cx="3840480"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 </a:t>
            </a:r>
            <a:r>
              <a:rPr sz="1200" b="0">
                <a:solidFill>
                  <a:srgbClr val="14213D"/>
                </a:solidFill>
                <a:latin typeface="Inter"/>
              </a:rPr>
              <a:t>Cableado, optoaislamiento y ensamble</a:t>
            </a:r>
          </a:p>
        </p:txBody>
      </p:sp>
      <p:sp>
        <p:nvSpPr>
          <p:cNvPr id="41" name="Rounded Rectangle 40"/>
          <p:cNvSpPr/>
          <p:nvPr/>
        </p:nvSpPr>
        <p:spPr>
          <a:xfrm>
            <a:off x="6757416" y="2816351"/>
            <a:ext cx="1316736" cy="246887"/>
          </a:xfrm>
          <a:prstGeom prst="roundRect">
            <a:avLst>
              <a:gd name="adj" fmla="val 25000"/>
            </a:avLst>
          </a:prstGeom>
          <a:solidFill>
            <a:srgbClr val="0B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2648" y="3127248"/>
            <a:ext cx="10972800" cy="374904"/>
          </a:xfrm>
          <a:prstGeom prst="rect">
            <a:avLst/>
          </a:prstGeom>
          <a:solidFill>
            <a:srgbClr val="EF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22376" y="3218688"/>
            <a:ext cx="3840480"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 </a:t>
            </a:r>
            <a:r>
              <a:rPr sz="1200" b="0">
                <a:solidFill>
                  <a:srgbClr val="14213D"/>
                </a:solidFill>
                <a:latin typeface="Inter"/>
              </a:rPr>
              <a:t>Pista de prueba y calibración SS49E</a:t>
            </a:r>
          </a:p>
        </p:txBody>
      </p:sp>
      <p:sp>
        <p:nvSpPr>
          <p:cNvPr id="44" name="Rounded Rectangle 43"/>
          <p:cNvSpPr/>
          <p:nvPr/>
        </p:nvSpPr>
        <p:spPr>
          <a:xfrm>
            <a:off x="7452359" y="3191256"/>
            <a:ext cx="1316736" cy="246887"/>
          </a:xfrm>
          <a:prstGeom prst="roundRect">
            <a:avLst>
              <a:gd name="adj" fmla="val 25000"/>
            </a:avLst>
          </a:prstGeom>
          <a:solidFill>
            <a:srgbClr val="0B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2648" y="3502151"/>
            <a:ext cx="10972800" cy="374904"/>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2376" y="3593591"/>
            <a:ext cx="3840480" cy="228600"/>
          </a:xfrm>
          <a:prstGeom prst="rect">
            <a:avLst/>
          </a:prstGeom>
          <a:noFill/>
        </p:spPr>
        <p:txBody>
          <a:bodyPr wrap="square" lIns="0" rIns="0" tIns="0" bIns="0" anchor="t">
            <a:spAutoFit/>
          </a:bodyPr>
          <a:lstStyle/>
          <a:p>
            <a:pPr algn="l">
              <a:lnSpc>
                <a:spcPct val="100000"/>
              </a:lnSpc>
            </a:pPr>
            <a:r>
              <a:rPr sz="1200" b="1">
                <a:solidFill>
                  <a:srgbClr val="2B5C94"/>
                </a:solidFill>
                <a:latin typeface="Inter"/>
              </a:rPr>
              <a:t>● </a:t>
            </a:r>
            <a:r>
              <a:rPr sz="1200" b="0">
                <a:solidFill>
                  <a:srgbClr val="14213D"/>
                </a:solidFill>
                <a:latin typeface="Inter"/>
              </a:rPr>
              <a:t>Configuración PIC18F47Q10 (puertos, PWM, ADC)</a:t>
            </a:r>
          </a:p>
        </p:txBody>
      </p:sp>
      <p:sp>
        <p:nvSpPr>
          <p:cNvPr id="47" name="Rounded Rectangle 46"/>
          <p:cNvSpPr/>
          <p:nvPr/>
        </p:nvSpPr>
        <p:spPr>
          <a:xfrm>
            <a:off x="5367528" y="3566159"/>
            <a:ext cx="1316736" cy="246887"/>
          </a:xfrm>
          <a:prstGeom prst="roundRect">
            <a:avLst>
              <a:gd name="adj" fmla="val 25000"/>
            </a:avLst>
          </a:prstGeom>
          <a:solidFill>
            <a:srgbClr val="2B5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2648" y="3877056"/>
            <a:ext cx="10972800" cy="374904"/>
          </a:xfrm>
          <a:prstGeom prst="rect">
            <a:avLst/>
          </a:prstGeom>
          <a:solidFill>
            <a:srgbClr val="EF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2376" y="3968496"/>
            <a:ext cx="3840480" cy="228600"/>
          </a:xfrm>
          <a:prstGeom prst="rect">
            <a:avLst/>
          </a:prstGeom>
          <a:noFill/>
        </p:spPr>
        <p:txBody>
          <a:bodyPr wrap="square" lIns="0" rIns="0" tIns="0" bIns="0" anchor="t">
            <a:spAutoFit/>
          </a:bodyPr>
          <a:lstStyle/>
          <a:p>
            <a:pPr algn="l">
              <a:lnSpc>
                <a:spcPct val="100000"/>
              </a:lnSpc>
            </a:pPr>
            <a:r>
              <a:rPr sz="1200" b="1">
                <a:solidFill>
                  <a:srgbClr val="2B5C94"/>
                </a:solidFill>
                <a:latin typeface="Inter"/>
              </a:rPr>
              <a:t>● </a:t>
            </a:r>
            <a:r>
              <a:rPr sz="1200" b="0">
                <a:solidFill>
                  <a:srgbClr val="14213D"/>
                </a:solidFill>
                <a:latin typeface="Inter"/>
              </a:rPr>
              <a:t>Fusión de sensores (ToF, PIR) y estados</a:t>
            </a:r>
          </a:p>
        </p:txBody>
      </p:sp>
      <p:sp>
        <p:nvSpPr>
          <p:cNvPr id="50" name="Rounded Rectangle 49"/>
          <p:cNvSpPr/>
          <p:nvPr/>
        </p:nvSpPr>
        <p:spPr>
          <a:xfrm>
            <a:off x="6757416" y="3941064"/>
            <a:ext cx="2011680" cy="246887"/>
          </a:xfrm>
          <a:prstGeom prst="roundRect">
            <a:avLst>
              <a:gd name="adj" fmla="val 25000"/>
            </a:avLst>
          </a:prstGeom>
          <a:solidFill>
            <a:srgbClr val="2B5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2648" y="4251959"/>
            <a:ext cx="10972800" cy="374904"/>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2376" y="4343399"/>
            <a:ext cx="3840480" cy="228600"/>
          </a:xfrm>
          <a:prstGeom prst="rect">
            <a:avLst/>
          </a:prstGeom>
          <a:noFill/>
        </p:spPr>
        <p:txBody>
          <a:bodyPr wrap="square" lIns="0" rIns="0" tIns="0" bIns="0" anchor="t">
            <a:spAutoFit/>
          </a:bodyPr>
          <a:lstStyle/>
          <a:p>
            <a:pPr algn="l">
              <a:lnSpc>
                <a:spcPct val="100000"/>
              </a:lnSpc>
            </a:pPr>
            <a:r>
              <a:rPr sz="1200" b="1">
                <a:solidFill>
                  <a:srgbClr val="2B5C94"/>
                </a:solidFill>
                <a:latin typeface="Inter"/>
              </a:rPr>
              <a:t>● </a:t>
            </a:r>
            <a:r>
              <a:rPr sz="1200" b="0">
                <a:solidFill>
                  <a:srgbClr val="14213D"/>
                </a:solidFill>
                <a:latin typeface="Inter"/>
              </a:rPr>
              <a:t>Parámetros analógicos (LM35, LDR) y UART</a:t>
            </a:r>
          </a:p>
        </p:txBody>
      </p:sp>
      <p:sp>
        <p:nvSpPr>
          <p:cNvPr id="53" name="Rounded Rectangle 52"/>
          <p:cNvSpPr/>
          <p:nvPr/>
        </p:nvSpPr>
        <p:spPr>
          <a:xfrm>
            <a:off x="8147304" y="4315968"/>
            <a:ext cx="1316736" cy="246887"/>
          </a:xfrm>
          <a:prstGeom prst="roundRect">
            <a:avLst>
              <a:gd name="adj" fmla="val 25000"/>
            </a:avLst>
          </a:prstGeom>
          <a:solidFill>
            <a:srgbClr val="2B5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2648" y="4626864"/>
            <a:ext cx="10972800" cy="374904"/>
          </a:xfrm>
          <a:prstGeom prst="rect">
            <a:avLst/>
          </a:prstGeom>
          <a:solidFill>
            <a:srgbClr val="EF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2376" y="4718303"/>
            <a:ext cx="3840480" cy="228600"/>
          </a:xfrm>
          <a:prstGeom prst="rect">
            <a:avLst/>
          </a:prstGeom>
          <a:noFill/>
        </p:spPr>
        <p:txBody>
          <a:bodyPr wrap="square" lIns="0" rIns="0" tIns="0" bIns="0" anchor="t">
            <a:spAutoFit/>
          </a:bodyPr>
          <a:lstStyle/>
          <a:p>
            <a:pPr algn="l">
              <a:lnSpc>
                <a:spcPct val="100000"/>
              </a:lnSpc>
            </a:pPr>
            <a:r>
              <a:rPr sz="1200" b="1">
                <a:solidFill>
                  <a:srgbClr val="B8412B"/>
                </a:solidFill>
                <a:latin typeface="Inter"/>
              </a:rPr>
              <a:t>● </a:t>
            </a:r>
            <a:r>
              <a:rPr sz="1200" b="0">
                <a:solidFill>
                  <a:srgbClr val="14213D"/>
                </a:solidFill>
                <a:latin typeface="Inter"/>
              </a:rPr>
              <a:t>Pruebas de movilidad (evasión a 90°)</a:t>
            </a:r>
          </a:p>
        </p:txBody>
      </p:sp>
      <p:sp>
        <p:nvSpPr>
          <p:cNvPr id="56" name="Rounded Rectangle 55"/>
          <p:cNvSpPr/>
          <p:nvPr/>
        </p:nvSpPr>
        <p:spPr>
          <a:xfrm>
            <a:off x="8842248" y="4690872"/>
            <a:ext cx="1316736" cy="246887"/>
          </a:xfrm>
          <a:prstGeom prst="roundRect">
            <a:avLst>
              <a:gd name="adj" fmla="val 25000"/>
            </a:avLst>
          </a:prstGeom>
          <a:solidFill>
            <a:srgbClr val="B84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8" y="5001768"/>
            <a:ext cx="10972800" cy="374904"/>
          </a:xfrm>
          <a:prstGeom prst="rect">
            <a:avLst/>
          </a:prstGeom>
          <a:solidFill>
            <a:srgbClr val="F7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2376" y="5093207"/>
            <a:ext cx="3840480" cy="228600"/>
          </a:xfrm>
          <a:prstGeom prst="rect">
            <a:avLst/>
          </a:prstGeom>
          <a:noFill/>
        </p:spPr>
        <p:txBody>
          <a:bodyPr wrap="square" lIns="0" rIns="0" tIns="0" bIns="0" anchor="t">
            <a:spAutoFit/>
          </a:bodyPr>
          <a:lstStyle/>
          <a:p>
            <a:pPr algn="l">
              <a:lnSpc>
                <a:spcPct val="100000"/>
              </a:lnSpc>
            </a:pPr>
            <a:r>
              <a:rPr sz="1200" b="1">
                <a:solidFill>
                  <a:srgbClr val="B8412B"/>
                </a:solidFill>
                <a:latin typeface="Inter"/>
              </a:rPr>
              <a:t>● </a:t>
            </a:r>
            <a:r>
              <a:rPr sz="1200" b="0">
                <a:solidFill>
                  <a:srgbClr val="14213D"/>
                </a:solidFill>
                <a:latin typeface="Inter"/>
              </a:rPr>
              <a:t>Métricas de error y optimización</a:t>
            </a:r>
          </a:p>
        </p:txBody>
      </p:sp>
      <p:sp>
        <p:nvSpPr>
          <p:cNvPr id="59" name="Rounded Rectangle 58"/>
          <p:cNvSpPr/>
          <p:nvPr/>
        </p:nvSpPr>
        <p:spPr>
          <a:xfrm>
            <a:off x="9537192" y="5065776"/>
            <a:ext cx="1316736" cy="246887"/>
          </a:xfrm>
          <a:prstGeom prst="roundRect">
            <a:avLst>
              <a:gd name="adj" fmla="val 25000"/>
            </a:avLst>
          </a:prstGeom>
          <a:solidFill>
            <a:srgbClr val="B84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12648" y="5641847"/>
            <a:ext cx="164592" cy="164592"/>
          </a:xfrm>
          <a:prstGeom prst="roundRect">
            <a:avLst>
              <a:gd name="adj" fmla="val 30000"/>
            </a:avLst>
          </a:prstGeom>
          <a:solidFill>
            <a:srgbClr val="7A8C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8680" y="5605271"/>
            <a:ext cx="1371600" cy="237744"/>
          </a:xfrm>
          <a:prstGeom prst="rect">
            <a:avLst/>
          </a:prstGeom>
          <a:noFill/>
        </p:spPr>
        <p:txBody>
          <a:bodyPr wrap="square" lIns="0" rIns="0" tIns="0" bIns="0" anchor="t">
            <a:spAutoFit/>
          </a:bodyPr>
          <a:lstStyle/>
          <a:p>
            <a:pPr algn="l">
              <a:lnSpc>
                <a:spcPct val="100000"/>
              </a:lnSpc>
            </a:pPr>
            <a:r>
              <a:rPr sz="1200" b="1">
                <a:solidFill>
                  <a:srgbClr val="3B4A5C"/>
                </a:solidFill>
                <a:latin typeface="Inter"/>
              </a:rPr>
              <a:t>General</a:t>
            </a:r>
          </a:p>
        </p:txBody>
      </p:sp>
      <p:sp>
        <p:nvSpPr>
          <p:cNvPr id="62" name="Rounded Rectangle 61"/>
          <p:cNvSpPr/>
          <p:nvPr/>
        </p:nvSpPr>
        <p:spPr>
          <a:xfrm>
            <a:off x="2350008" y="5641847"/>
            <a:ext cx="164592" cy="164592"/>
          </a:xfrm>
          <a:prstGeom prst="roundRect">
            <a:avLst>
              <a:gd name="adj" fmla="val 30000"/>
            </a:avLst>
          </a:prstGeom>
          <a:solidFill>
            <a:srgbClr val="0B7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606039" y="5605271"/>
            <a:ext cx="1371600" cy="237744"/>
          </a:xfrm>
          <a:prstGeom prst="rect">
            <a:avLst/>
          </a:prstGeom>
          <a:noFill/>
        </p:spPr>
        <p:txBody>
          <a:bodyPr wrap="square" lIns="0" rIns="0" tIns="0" bIns="0" anchor="t">
            <a:spAutoFit/>
          </a:bodyPr>
          <a:lstStyle/>
          <a:p>
            <a:pPr algn="l">
              <a:lnSpc>
                <a:spcPct val="100000"/>
              </a:lnSpc>
            </a:pPr>
            <a:r>
              <a:rPr sz="1200" b="1">
                <a:solidFill>
                  <a:srgbClr val="3B4A5C"/>
                </a:solidFill>
                <a:latin typeface="Inter"/>
              </a:rPr>
              <a:t>Hardware</a:t>
            </a:r>
          </a:p>
        </p:txBody>
      </p:sp>
      <p:sp>
        <p:nvSpPr>
          <p:cNvPr id="64" name="Rounded Rectangle 63"/>
          <p:cNvSpPr/>
          <p:nvPr/>
        </p:nvSpPr>
        <p:spPr>
          <a:xfrm>
            <a:off x="4087368" y="5641847"/>
            <a:ext cx="164592" cy="164592"/>
          </a:xfrm>
          <a:prstGeom prst="roundRect">
            <a:avLst>
              <a:gd name="adj" fmla="val 30000"/>
            </a:avLst>
          </a:prstGeom>
          <a:solidFill>
            <a:srgbClr val="2B5C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343400" y="5605271"/>
            <a:ext cx="1371600" cy="237744"/>
          </a:xfrm>
          <a:prstGeom prst="rect">
            <a:avLst/>
          </a:prstGeom>
          <a:noFill/>
        </p:spPr>
        <p:txBody>
          <a:bodyPr wrap="square" lIns="0" rIns="0" tIns="0" bIns="0" anchor="t">
            <a:spAutoFit/>
          </a:bodyPr>
          <a:lstStyle/>
          <a:p>
            <a:pPr algn="l">
              <a:lnSpc>
                <a:spcPct val="100000"/>
              </a:lnSpc>
            </a:pPr>
            <a:r>
              <a:rPr sz="1200" b="1">
                <a:solidFill>
                  <a:srgbClr val="3B4A5C"/>
                </a:solidFill>
                <a:latin typeface="Inter"/>
              </a:rPr>
              <a:t>Software</a:t>
            </a:r>
          </a:p>
        </p:txBody>
      </p:sp>
      <p:sp>
        <p:nvSpPr>
          <p:cNvPr id="66" name="Rounded Rectangle 65"/>
          <p:cNvSpPr/>
          <p:nvPr/>
        </p:nvSpPr>
        <p:spPr>
          <a:xfrm>
            <a:off x="5824727" y="5641847"/>
            <a:ext cx="164592" cy="164592"/>
          </a:xfrm>
          <a:prstGeom prst="roundRect">
            <a:avLst>
              <a:gd name="adj" fmla="val 30000"/>
            </a:avLst>
          </a:prstGeom>
          <a:solidFill>
            <a:srgbClr val="B84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080759" y="5605271"/>
            <a:ext cx="1371600" cy="237744"/>
          </a:xfrm>
          <a:prstGeom prst="rect">
            <a:avLst/>
          </a:prstGeom>
          <a:noFill/>
        </p:spPr>
        <p:txBody>
          <a:bodyPr wrap="square" lIns="0" rIns="0" tIns="0" bIns="0" anchor="t">
            <a:spAutoFit/>
          </a:bodyPr>
          <a:lstStyle/>
          <a:p>
            <a:pPr algn="l">
              <a:lnSpc>
                <a:spcPct val="100000"/>
              </a:lnSpc>
            </a:pPr>
            <a:r>
              <a:rPr sz="1200" b="1">
                <a:solidFill>
                  <a:srgbClr val="3B4A5C"/>
                </a:solidFill>
                <a:latin typeface="Inter"/>
              </a:rPr>
              <a:t>Validación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Lo que el sistema sí hace</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VII · ALCANCES DEL PROYECTO</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Elaboración propia. Informe del TP, sección VII.</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25 / 32</a:t>
            </a:r>
          </a:p>
        </p:txBody>
      </p:sp>
      <p:sp>
        <p:nvSpPr>
          <p:cNvPr id="8" name="Rounded Rectangle 7"/>
          <p:cNvSpPr/>
          <p:nvPr/>
        </p:nvSpPr>
        <p:spPr>
          <a:xfrm>
            <a:off x="612648" y="12801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481328"/>
            <a:ext cx="3044952"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01</a:t>
            </a:r>
          </a:p>
        </p:txBody>
      </p:sp>
      <p:sp>
        <p:nvSpPr>
          <p:cNvPr id="10" name="TextBox 9"/>
          <p:cNvSpPr txBox="1"/>
          <p:nvPr/>
        </p:nvSpPr>
        <p:spPr>
          <a:xfrm>
            <a:off x="841248" y="17922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Movilidad holonómica</a:t>
            </a:r>
          </a:p>
        </p:txBody>
      </p:sp>
      <p:sp>
        <p:nvSpPr>
          <p:cNvPr id="11" name="TextBox 10"/>
          <p:cNvSpPr txBox="1"/>
          <p:nvPr/>
        </p:nvSpPr>
        <p:spPr>
          <a:xfrm>
            <a:off x="841248" y="21762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Control independiente de las cuatro ruedas Mecanum con PWM del PIC18F47Q10, separado de la red del ESP32.</a:t>
            </a:r>
          </a:p>
        </p:txBody>
      </p:sp>
      <p:sp>
        <p:nvSpPr>
          <p:cNvPr id="12" name="Rounded Rectangle 11"/>
          <p:cNvSpPr/>
          <p:nvPr/>
        </p:nvSpPr>
        <p:spPr>
          <a:xfrm>
            <a:off x="4343400" y="12801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481328"/>
            <a:ext cx="3044952"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02</a:t>
            </a:r>
          </a:p>
        </p:txBody>
      </p:sp>
      <p:sp>
        <p:nvSpPr>
          <p:cNvPr id="14" name="TextBox 13"/>
          <p:cNvSpPr txBox="1"/>
          <p:nvPr/>
        </p:nvSpPr>
        <p:spPr>
          <a:xfrm>
            <a:off x="4572000" y="17922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Despacho IoT multi-ruta</a:t>
            </a:r>
          </a:p>
        </p:txBody>
      </p:sp>
      <p:sp>
        <p:nvSpPr>
          <p:cNvPr id="15" name="TextBox 14"/>
          <p:cNvSpPr txBox="1"/>
          <p:nvPr/>
        </p:nvSpPr>
        <p:spPr>
          <a:xfrm>
            <a:off x="4572000" y="21762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Al menos dos rutas (Tópico 1 y 2) elegidas en la web del ESP32 y enviadas al PIC por UART.</a:t>
            </a:r>
          </a:p>
        </p:txBody>
      </p:sp>
      <p:sp>
        <p:nvSpPr>
          <p:cNvPr id="16" name="Rounded Rectangle 15"/>
          <p:cNvSpPr/>
          <p:nvPr/>
        </p:nvSpPr>
        <p:spPr>
          <a:xfrm>
            <a:off x="8074152" y="12801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481328"/>
            <a:ext cx="3044952"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03</a:t>
            </a:r>
          </a:p>
        </p:txBody>
      </p:sp>
      <p:sp>
        <p:nvSpPr>
          <p:cNvPr id="18" name="TextBox 17"/>
          <p:cNvSpPr txBox="1"/>
          <p:nvPr/>
        </p:nvSpPr>
        <p:spPr>
          <a:xfrm>
            <a:off x="8302752" y="17922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Hitos magnéticos</a:t>
            </a:r>
          </a:p>
        </p:txBody>
      </p:sp>
      <p:sp>
        <p:nvSpPr>
          <p:cNvPr id="19" name="TextBox 18"/>
          <p:cNvSpPr txBox="1"/>
          <p:nvPr/>
        </p:nvSpPr>
        <p:spPr>
          <a:xfrm>
            <a:off x="8302752" y="21762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El SS49E cuenta los nodos en las encrucijadas y decide girar o seguir de frente según la ruta.</a:t>
            </a:r>
          </a:p>
        </p:txBody>
      </p:sp>
      <p:sp>
        <p:nvSpPr>
          <p:cNvPr id="20" name="Rounded Rectangle 19"/>
          <p:cNvSpPr/>
          <p:nvPr/>
        </p:nvSpPr>
        <p:spPr>
          <a:xfrm>
            <a:off x="612648" y="37947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3995928"/>
            <a:ext cx="3044952"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04</a:t>
            </a:r>
          </a:p>
        </p:txBody>
      </p:sp>
      <p:sp>
        <p:nvSpPr>
          <p:cNvPr id="22" name="TextBox 21"/>
          <p:cNvSpPr txBox="1"/>
          <p:nvPr/>
        </p:nvSpPr>
        <p:spPr>
          <a:xfrm>
            <a:off x="841248" y="43068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Evasión diferenciada</a:t>
            </a:r>
          </a:p>
        </p:txBody>
      </p:sp>
      <p:sp>
        <p:nvSpPr>
          <p:cNvPr id="23" name="TextBox 22"/>
          <p:cNvSpPr txBox="1"/>
          <p:nvPr/>
        </p:nvSpPr>
        <p:spPr>
          <a:xfrm>
            <a:off x="841248" y="46908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ToF, HC-SR04 y PIR distinguen estático de dinámico: pausa o traslación lateral a 90° sin perder la ruta.</a:t>
            </a:r>
          </a:p>
        </p:txBody>
      </p:sp>
      <p:sp>
        <p:nvSpPr>
          <p:cNvPr id="24" name="Rounded Rectangle 23"/>
          <p:cNvSpPr/>
          <p:nvPr/>
        </p:nvSpPr>
        <p:spPr>
          <a:xfrm>
            <a:off x="4343400" y="37947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3995928"/>
            <a:ext cx="3044952"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05</a:t>
            </a:r>
          </a:p>
        </p:txBody>
      </p:sp>
      <p:sp>
        <p:nvSpPr>
          <p:cNvPr id="26" name="TextBox 25"/>
          <p:cNvSpPr txBox="1"/>
          <p:nvPr/>
        </p:nvSpPr>
        <p:spPr>
          <a:xfrm>
            <a:off x="4572000" y="43068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Resguardo clínico</a:t>
            </a:r>
          </a:p>
        </p:txBody>
      </p:sp>
      <p:sp>
        <p:nvSpPr>
          <p:cNvPr id="27" name="TextBox 26"/>
          <p:cNvSpPr txBox="1"/>
          <p:nvPr/>
        </p:nvSpPr>
        <p:spPr>
          <a:xfrm>
            <a:off x="4572000" y="46908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LM35, LDR y batería por ADC, y el MC-38 verifica el cierre de la compuerta antes de habilitar los motores.</a:t>
            </a:r>
          </a:p>
        </p:txBody>
      </p:sp>
      <p:sp>
        <p:nvSpPr>
          <p:cNvPr id="28" name="Rounded Rectangle 27"/>
          <p:cNvSpPr/>
          <p:nvPr/>
        </p:nvSpPr>
        <p:spPr>
          <a:xfrm>
            <a:off x="8074152" y="37947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02752" y="3995928"/>
            <a:ext cx="3044952"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06</a:t>
            </a:r>
          </a:p>
        </p:txBody>
      </p:sp>
      <p:sp>
        <p:nvSpPr>
          <p:cNvPr id="30" name="TextBox 29"/>
          <p:cNvSpPr txBox="1"/>
          <p:nvPr/>
        </p:nvSpPr>
        <p:spPr>
          <a:xfrm>
            <a:off x="8302752" y="43068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Visualización local</a:t>
            </a:r>
          </a:p>
        </p:txBody>
      </p:sp>
      <p:sp>
        <p:nvSpPr>
          <p:cNvPr id="31" name="TextBox 30"/>
          <p:cNvSpPr txBox="1"/>
          <p:nvPr/>
        </p:nvSpPr>
        <p:spPr>
          <a:xfrm>
            <a:off x="8302752" y="46908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Pantalla OLED por I²C que muestra el destino activo (Tópico 1 o 2) recibido desde el ESP32.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Delimitaciones operativas y cinemáticas</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VIII · LIMITACIONES DEL PROYECTO</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Elaboración propia. Informe del TP, sección VIII.</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26 / 32</a:t>
            </a:r>
          </a:p>
        </p:txBody>
      </p:sp>
      <p:sp>
        <p:nvSpPr>
          <p:cNvPr id="8" name="Rounded Rectangle 7"/>
          <p:cNvSpPr/>
          <p:nvPr/>
        </p:nvSpPr>
        <p:spPr>
          <a:xfrm>
            <a:off x="612648" y="12801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481328"/>
            <a:ext cx="3044952" cy="228600"/>
          </a:xfrm>
          <a:prstGeom prst="rect">
            <a:avLst/>
          </a:prstGeom>
          <a:noFill/>
        </p:spPr>
        <p:txBody>
          <a:bodyPr wrap="square" lIns="0" rIns="0" tIns="0" bIns="0" anchor="t">
            <a:spAutoFit/>
          </a:bodyPr>
          <a:lstStyle/>
          <a:p>
            <a:pPr algn="l">
              <a:lnSpc>
                <a:spcPct val="100000"/>
              </a:lnSpc>
            </a:pPr>
            <a:r>
              <a:rPr sz="1200" b="1">
                <a:solidFill>
                  <a:srgbClr val="B8412B"/>
                </a:solidFill>
                <a:latin typeface="Inter"/>
              </a:rPr>
              <a:t>01</a:t>
            </a:r>
          </a:p>
        </p:txBody>
      </p:sp>
      <p:sp>
        <p:nvSpPr>
          <p:cNvPr id="10" name="TextBox 9"/>
          <p:cNvSpPr txBox="1"/>
          <p:nvPr/>
        </p:nvSpPr>
        <p:spPr>
          <a:xfrm>
            <a:off x="841248" y="17922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Sin giros sobre su eje</a:t>
            </a:r>
          </a:p>
        </p:txBody>
      </p:sp>
      <p:sp>
        <p:nvSpPr>
          <p:cNvPr id="11" name="TextBox 10"/>
          <p:cNvSpPr txBox="1"/>
          <p:nvPr/>
        </p:nvSpPr>
        <p:spPr>
          <a:xfrm>
            <a:off x="841248" y="21762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Solo traslación pura en X e Y; mantiene un único frente para evitar impactos traseros.</a:t>
            </a:r>
          </a:p>
        </p:txBody>
      </p:sp>
      <p:sp>
        <p:nvSpPr>
          <p:cNvPr id="12" name="Rounded Rectangle 11"/>
          <p:cNvSpPr/>
          <p:nvPr/>
        </p:nvSpPr>
        <p:spPr>
          <a:xfrm>
            <a:off x="4343400" y="12801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481328"/>
            <a:ext cx="3044952" cy="228600"/>
          </a:xfrm>
          <a:prstGeom prst="rect">
            <a:avLst/>
          </a:prstGeom>
          <a:noFill/>
        </p:spPr>
        <p:txBody>
          <a:bodyPr wrap="square" lIns="0" rIns="0" tIns="0" bIns="0" anchor="t">
            <a:spAutoFit/>
          </a:bodyPr>
          <a:lstStyle/>
          <a:p>
            <a:pPr algn="l">
              <a:lnSpc>
                <a:spcPct val="100000"/>
              </a:lnSpc>
            </a:pPr>
            <a:r>
              <a:rPr sz="1200" b="1">
                <a:solidFill>
                  <a:srgbClr val="B8412B"/>
                </a:solidFill>
                <a:latin typeface="Inter"/>
              </a:rPr>
              <a:t>02</a:t>
            </a:r>
          </a:p>
        </p:txBody>
      </p:sp>
      <p:sp>
        <p:nvSpPr>
          <p:cNvPr id="14" name="TextBox 13"/>
          <p:cNvSpPr txBox="1"/>
          <p:nvPr/>
        </p:nvSpPr>
        <p:spPr>
          <a:xfrm>
            <a:off x="4572000" y="17922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Puntos ciegos laterales</a:t>
            </a:r>
          </a:p>
        </p:txBody>
      </p:sp>
      <p:sp>
        <p:nvSpPr>
          <p:cNvPr id="15" name="TextBox 14"/>
          <p:cNvSpPr txBox="1"/>
          <p:nvPr/>
        </p:nvSpPr>
        <p:spPr>
          <a:xfrm>
            <a:off x="4572000" y="21762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PIR y ToF miran al frente; a los lados solo hay HC-SR04, que no distingue si el obstáculo es humano.</a:t>
            </a:r>
          </a:p>
        </p:txBody>
      </p:sp>
      <p:sp>
        <p:nvSpPr>
          <p:cNvPr id="16" name="Rounded Rectangle 15"/>
          <p:cNvSpPr/>
          <p:nvPr/>
        </p:nvSpPr>
        <p:spPr>
          <a:xfrm>
            <a:off x="8074152" y="12801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481328"/>
            <a:ext cx="3044952" cy="228600"/>
          </a:xfrm>
          <a:prstGeom prst="rect">
            <a:avLst/>
          </a:prstGeom>
          <a:noFill/>
        </p:spPr>
        <p:txBody>
          <a:bodyPr wrap="square" lIns="0" rIns="0" tIns="0" bIns="0" anchor="t">
            <a:spAutoFit/>
          </a:bodyPr>
          <a:lstStyle/>
          <a:p>
            <a:pPr algn="l">
              <a:lnSpc>
                <a:spcPct val="100000"/>
              </a:lnSpc>
            </a:pPr>
            <a:r>
              <a:rPr sz="1200" b="1">
                <a:solidFill>
                  <a:srgbClr val="B8412B"/>
                </a:solidFill>
                <a:latin typeface="Inter"/>
              </a:rPr>
              <a:t>03</a:t>
            </a:r>
          </a:p>
        </p:txBody>
      </p:sp>
      <p:sp>
        <p:nvSpPr>
          <p:cNvPr id="18" name="TextBox 17"/>
          <p:cNvSpPr txBox="1"/>
          <p:nvPr/>
        </p:nvSpPr>
        <p:spPr>
          <a:xfrm>
            <a:off x="8302752" y="17922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Solo superficies planas</a:t>
            </a:r>
          </a:p>
        </p:txBody>
      </p:sp>
      <p:sp>
        <p:nvSpPr>
          <p:cNvPr id="19" name="TextBox 18"/>
          <p:cNvSpPr txBox="1"/>
          <p:nvPr/>
        </p:nvSpPr>
        <p:spPr>
          <a:xfrm>
            <a:off x="8302752" y="21762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Navegación 2D: no solicita ascensores, no sube escaleras ni supera rampas pronunciadas.</a:t>
            </a:r>
          </a:p>
        </p:txBody>
      </p:sp>
      <p:sp>
        <p:nvSpPr>
          <p:cNvPr id="20" name="Rounded Rectangle 19"/>
          <p:cNvSpPr/>
          <p:nvPr/>
        </p:nvSpPr>
        <p:spPr>
          <a:xfrm>
            <a:off x="612648" y="37947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3995928"/>
            <a:ext cx="3044952" cy="228600"/>
          </a:xfrm>
          <a:prstGeom prst="rect">
            <a:avLst/>
          </a:prstGeom>
          <a:noFill/>
        </p:spPr>
        <p:txBody>
          <a:bodyPr wrap="square" lIns="0" rIns="0" tIns="0" bIns="0" anchor="t">
            <a:spAutoFit/>
          </a:bodyPr>
          <a:lstStyle/>
          <a:p>
            <a:pPr algn="l">
              <a:lnSpc>
                <a:spcPct val="100000"/>
              </a:lnSpc>
            </a:pPr>
            <a:r>
              <a:rPr sz="1200" b="1">
                <a:solidFill>
                  <a:srgbClr val="B8412B"/>
                </a:solidFill>
                <a:latin typeface="Inter"/>
              </a:rPr>
              <a:t>04</a:t>
            </a:r>
          </a:p>
        </p:txBody>
      </p:sp>
      <p:sp>
        <p:nvSpPr>
          <p:cNvPr id="22" name="TextBox 21"/>
          <p:cNvSpPr txBox="1"/>
          <p:nvPr/>
        </p:nvSpPr>
        <p:spPr>
          <a:xfrm>
            <a:off x="841248" y="43068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Oclusión de los imanes</a:t>
            </a:r>
          </a:p>
        </p:txBody>
      </p:sp>
      <p:sp>
        <p:nvSpPr>
          <p:cNvPr id="23" name="TextBox 22"/>
          <p:cNvSpPr txBox="1"/>
          <p:nvPr/>
        </p:nvSpPr>
        <p:spPr>
          <a:xfrm>
            <a:off x="841248" y="46908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Si algo tapa el imán, el SS49E no registra el pico y se altera el conteo de nodos de la ruta.</a:t>
            </a:r>
          </a:p>
        </p:txBody>
      </p:sp>
      <p:sp>
        <p:nvSpPr>
          <p:cNvPr id="24" name="Rounded Rectangle 23"/>
          <p:cNvSpPr/>
          <p:nvPr/>
        </p:nvSpPr>
        <p:spPr>
          <a:xfrm>
            <a:off x="4343400" y="3794760"/>
            <a:ext cx="3502152" cy="228600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3995928"/>
            <a:ext cx="3044952" cy="228600"/>
          </a:xfrm>
          <a:prstGeom prst="rect">
            <a:avLst/>
          </a:prstGeom>
          <a:noFill/>
        </p:spPr>
        <p:txBody>
          <a:bodyPr wrap="square" lIns="0" rIns="0" tIns="0" bIns="0" anchor="t">
            <a:spAutoFit/>
          </a:bodyPr>
          <a:lstStyle/>
          <a:p>
            <a:pPr algn="l">
              <a:lnSpc>
                <a:spcPct val="100000"/>
              </a:lnSpc>
            </a:pPr>
            <a:r>
              <a:rPr sz="1200" b="1">
                <a:solidFill>
                  <a:srgbClr val="B8412B"/>
                </a:solidFill>
                <a:latin typeface="Inter"/>
              </a:rPr>
              <a:t>05</a:t>
            </a:r>
          </a:p>
        </p:txBody>
      </p:sp>
      <p:sp>
        <p:nvSpPr>
          <p:cNvPr id="26" name="TextBox 25"/>
          <p:cNvSpPr txBox="1"/>
          <p:nvPr/>
        </p:nvSpPr>
        <p:spPr>
          <a:xfrm>
            <a:off x="4572000" y="4306824"/>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Caída de tensión</a:t>
            </a:r>
          </a:p>
        </p:txBody>
      </p:sp>
      <p:sp>
        <p:nvSpPr>
          <p:cNvPr id="27" name="TextBox 26"/>
          <p:cNvSpPr txBox="1"/>
          <p:nvPr/>
        </p:nvSpPr>
        <p:spPr>
          <a:xfrm>
            <a:off x="4572000" y="4690872"/>
            <a:ext cx="3044952" cy="125272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La navegación por tiempo supone RPM constantes; con la LiPo baja se desfasa la distancia recorrida.</a:t>
            </a:r>
          </a:p>
        </p:txBody>
      </p:sp>
      <p:sp>
        <p:nvSpPr>
          <p:cNvPr id="28" name="Rounded Rectangle 27"/>
          <p:cNvSpPr/>
          <p:nvPr/>
        </p:nvSpPr>
        <p:spPr>
          <a:xfrm>
            <a:off x="8074152" y="3794760"/>
            <a:ext cx="3502152" cy="2286000"/>
          </a:xfrm>
          <a:prstGeom prst="roundRect">
            <a:avLst>
              <a:gd name="adj" fmla="val 4000"/>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02752" y="3995928"/>
            <a:ext cx="3044952" cy="274320"/>
          </a:xfrm>
          <a:prstGeom prst="rect">
            <a:avLst/>
          </a:prstGeom>
          <a:noFill/>
        </p:spPr>
        <p:txBody>
          <a:bodyPr wrap="square" lIns="0" rIns="0" tIns="0" bIns="0" anchor="t">
            <a:spAutoFit/>
          </a:bodyPr>
          <a:lstStyle/>
          <a:p>
            <a:pPr algn="l">
              <a:lnSpc>
                <a:spcPct val="105000"/>
              </a:lnSpc>
            </a:pPr>
            <a:r>
              <a:rPr sz="1500" b="1">
                <a:solidFill>
                  <a:srgbClr val="F7F3EC"/>
                </a:solidFill>
                <a:latin typeface="Montserrat"/>
              </a:rPr>
              <a:t>Prueba de concepto</a:t>
            </a:r>
          </a:p>
        </p:txBody>
      </p:sp>
      <p:sp>
        <p:nvSpPr>
          <p:cNvPr id="30" name="TextBox 29"/>
          <p:cNvSpPr txBox="1"/>
          <p:nvPr/>
        </p:nvSpPr>
        <p:spPr>
          <a:xfrm>
            <a:off x="8302752" y="4379976"/>
            <a:ext cx="3044952" cy="1563624"/>
          </a:xfrm>
          <a:prstGeom prst="rect">
            <a:avLst/>
          </a:prstGeom>
          <a:noFill/>
        </p:spPr>
        <p:txBody>
          <a:bodyPr wrap="square" lIns="0" rIns="0" tIns="0" bIns="0" anchor="t">
            <a:spAutoFit/>
          </a:bodyPr>
          <a:lstStyle/>
          <a:p>
            <a:pPr algn="l">
              <a:lnSpc>
                <a:spcPct val="120000"/>
              </a:lnSpc>
            </a:pPr>
            <a:r>
              <a:rPr sz="1300" b="0">
                <a:solidFill>
                  <a:srgbClr val="C9D6E3"/>
                </a:solidFill>
                <a:latin typeface="Inter"/>
              </a:rPr>
              <a:t>Es una validación a escala; la precisión de las rutas exige operar con la batería a nivel nominal.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Lo que demuestra el diseño propuesto</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CONCLUSIONES</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Elaboración propia a partir del informe del TP.</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27 / 32</a:t>
            </a:r>
          </a:p>
        </p:txBody>
      </p:sp>
      <p:sp>
        <p:nvSpPr>
          <p:cNvPr id="8" name="Rounded Rectangle 7"/>
          <p:cNvSpPr/>
          <p:nvPr/>
        </p:nvSpPr>
        <p:spPr>
          <a:xfrm>
            <a:off x="612648" y="1325880"/>
            <a:ext cx="2569464" cy="283464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27048"/>
            <a:ext cx="2112264"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01</a:t>
            </a:r>
          </a:p>
        </p:txBody>
      </p:sp>
      <p:sp>
        <p:nvSpPr>
          <p:cNvPr id="10" name="TextBox 9"/>
          <p:cNvSpPr txBox="1"/>
          <p:nvPr/>
        </p:nvSpPr>
        <p:spPr>
          <a:xfrm>
            <a:off x="841248" y="1837943"/>
            <a:ext cx="2112264" cy="54864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El problema se puede medir</a:t>
            </a:r>
          </a:p>
        </p:txBody>
      </p:sp>
      <p:sp>
        <p:nvSpPr>
          <p:cNvPr id="11" name="TextBox 10"/>
          <p:cNvSpPr txBox="1"/>
          <p:nvPr/>
        </p:nvSpPr>
        <p:spPr>
          <a:xfrm>
            <a:off x="841248" y="2496311"/>
            <a:ext cx="2112264" cy="152704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El modelo paramétrico estima 1.22 h perdidas por turno con solo dos viajes a Farmacia de 36.6 min cada uno.</a:t>
            </a:r>
          </a:p>
        </p:txBody>
      </p:sp>
      <p:sp>
        <p:nvSpPr>
          <p:cNvPr id="12" name="Rounded Rectangle 11"/>
          <p:cNvSpPr/>
          <p:nvPr/>
        </p:nvSpPr>
        <p:spPr>
          <a:xfrm>
            <a:off x="3410712" y="1325880"/>
            <a:ext cx="2569464" cy="283464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1527048"/>
            <a:ext cx="2112264"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02</a:t>
            </a:r>
          </a:p>
        </p:txBody>
      </p:sp>
      <p:sp>
        <p:nvSpPr>
          <p:cNvPr id="14" name="TextBox 13"/>
          <p:cNvSpPr txBox="1"/>
          <p:nvPr/>
        </p:nvSpPr>
        <p:spPr>
          <a:xfrm>
            <a:off x="3639312" y="1837943"/>
            <a:ext cx="2112264" cy="54864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Mecanum con PIC es viable</a:t>
            </a:r>
          </a:p>
        </p:txBody>
      </p:sp>
      <p:sp>
        <p:nvSpPr>
          <p:cNvPr id="15" name="TextBox 14"/>
          <p:cNvSpPr txBox="1"/>
          <p:nvPr/>
        </p:nvSpPr>
        <p:spPr>
          <a:xfrm>
            <a:off x="3639312" y="2496311"/>
            <a:ext cx="2112264" cy="152704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Traslación lateral con ωz = 0 y PWM por rueda; el PIC18F47Q10 integra PWM, ADC, I²C, EUSART y GPIO.</a:t>
            </a:r>
          </a:p>
        </p:txBody>
      </p:sp>
      <p:sp>
        <p:nvSpPr>
          <p:cNvPr id="16" name="Rounded Rectangle 15"/>
          <p:cNvSpPr/>
          <p:nvPr/>
        </p:nvSpPr>
        <p:spPr>
          <a:xfrm>
            <a:off x="6208776" y="1325880"/>
            <a:ext cx="2569464" cy="283464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1527048"/>
            <a:ext cx="2112264"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03</a:t>
            </a:r>
          </a:p>
        </p:txBody>
      </p:sp>
      <p:sp>
        <p:nvSpPr>
          <p:cNvPr id="18" name="TextBox 17"/>
          <p:cNvSpPr txBox="1"/>
          <p:nvPr/>
        </p:nvSpPr>
        <p:spPr>
          <a:xfrm>
            <a:off x="6437376" y="1837943"/>
            <a:ext cx="2112264" cy="54864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Control separado de la red</a:t>
            </a:r>
          </a:p>
        </p:txBody>
      </p:sp>
      <p:sp>
        <p:nvSpPr>
          <p:cNvPr id="19" name="TextBox 18"/>
          <p:cNvSpPr txBox="1"/>
          <p:nvPr/>
        </p:nvSpPr>
        <p:spPr>
          <a:xfrm>
            <a:off x="6437376" y="2496311"/>
            <a:ext cx="2112264" cy="152704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El PIC mueve el robot y el ESP32 atiende la web; el enlace UART evita que las solicitudes HTTP interrumpan la navegación.</a:t>
            </a:r>
          </a:p>
        </p:txBody>
      </p:sp>
      <p:sp>
        <p:nvSpPr>
          <p:cNvPr id="20" name="Rounded Rectangle 19"/>
          <p:cNvSpPr/>
          <p:nvPr/>
        </p:nvSpPr>
        <p:spPr>
          <a:xfrm>
            <a:off x="9006840" y="1325880"/>
            <a:ext cx="2569464" cy="283464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1527048"/>
            <a:ext cx="2112264"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04</a:t>
            </a:r>
          </a:p>
        </p:txBody>
      </p:sp>
      <p:sp>
        <p:nvSpPr>
          <p:cNvPr id="22" name="TextBox 21"/>
          <p:cNvSpPr txBox="1"/>
          <p:nvPr/>
        </p:nvSpPr>
        <p:spPr>
          <a:xfrm>
            <a:off x="9235440" y="1837943"/>
            <a:ext cx="2112264" cy="54864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Fusión sensorial prudente</a:t>
            </a:r>
          </a:p>
        </p:txBody>
      </p:sp>
      <p:sp>
        <p:nvSpPr>
          <p:cNvPr id="23" name="TextBox 22"/>
          <p:cNvSpPr txBox="1"/>
          <p:nvPr/>
        </p:nvSpPr>
        <p:spPr>
          <a:xfrm>
            <a:off x="9235440" y="2496311"/>
            <a:ext cx="2112264" cy="152704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ToF, HC-SR04 y PIR estiman si el obstáculo es estático o dinámico; ante la duda, el robot frena.</a:t>
            </a:r>
          </a:p>
        </p:txBody>
      </p:sp>
      <p:sp>
        <p:nvSpPr>
          <p:cNvPr id="24" name="Rounded Rectangle 23"/>
          <p:cNvSpPr/>
          <p:nvPr/>
        </p:nvSpPr>
        <p:spPr>
          <a:xfrm>
            <a:off x="612648" y="4526280"/>
            <a:ext cx="10963656" cy="1325880"/>
          </a:xfrm>
          <a:prstGeom prst="roundRect">
            <a:avLst>
              <a:gd name="adj" fmla="val 4000"/>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892040"/>
            <a:ext cx="2651760" cy="640080"/>
          </a:xfrm>
          <a:prstGeom prst="rect">
            <a:avLst/>
          </a:prstGeom>
          <a:noFill/>
        </p:spPr>
        <p:txBody>
          <a:bodyPr wrap="square" lIns="0" rIns="0" tIns="0" bIns="0" anchor="t">
            <a:spAutoFit/>
          </a:bodyPr>
          <a:lstStyle/>
          <a:p>
            <a:pPr algn="l">
              <a:lnSpc>
                <a:spcPct val="100000"/>
              </a:lnSpc>
            </a:pPr>
            <a:r>
              <a:rPr sz="2800" b="1">
                <a:solidFill>
                  <a:srgbClr val="3FC8B8"/>
                </a:solidFill>
                <a:latin typeface="Montserrat"/>
              </a:rPr>
              <a:t>S/ 668.40</a:t>
            </a:r>
          </a:p>
        </p:txBody>
      </p:sp>
      <p:sp>
        <p:nvSpPr>
          <p:cNvPr id="26" name="TextBox 25"/>
          <p:cNvSpPr txBox="1"/>
          <p:nvPr/>
        </p:nvSpPr>
        <p:spPr>
          <a:xfrm>
            <a:off x="3657600" y="4754880"/>
            <a:ext cx="7680960" cy="914400"/>
          </a:xfrm>
          <a:prstGeom prst="rect">
            <a:avLst/>
          </a:prstGeom>
          <a:noFill/>
        </p:spPr>
        <p:txBody>
          <a:bodyPr wrap="square" lIns="0" rIns="0" tIns="0" bIns="0" anchor="t">
            <a:spAutoFit/>
          </a:bodyPr>
          <a:lstStyle/>
          <a:p>
            <a:pPr algn="l">
              <a:lnSpc>
                <a:spcPct val="125000"/>
              </a:lnSpc>
            </a:pPr>
            <a:r>
              <a:rPr sz="1300" b="0">
                <a:solidFill>
                  <a:srgbClr val="C9D6E3"/>
                </a:solidFill>
                <a:latin typeface="Inter"/>
              </a:rPr>
              <a:t>Costo estimado del prototipo. Siguiente etapa: validar en pista la tasa de éxito en el Tópico 1 y 2, el tiempo de reacción y el error absoluto de las mediciones.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Fuentes consultadas (IEEE)</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IX · REFERENCIAS BIBLIOGRÁFICAS</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Los enlaces completos están en la sección IX del informe del TP.</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28 / 32</a:t>
            </a:r>
          </a:p>
        </p:txBody>
      </p:sp>
      <p:sp>
        <p:nvSpPr>
          <p:cNvPr id="8" name="TextBox 7"/>
          <p:cNvSpPr txBox="1"/>
          <p:nvPr/>
        </p:nvSpPr>
        <p:spPr>
          <a:xfrm>
            <a:off x="612648" y="1371600"/>
            <a:ext cx="5349240" cy="4754880"/>
          </a:xfrm>
          <a:prstGeom prst="rect">
            <a:avLst/>
          </a:prstGeom>
          <a:noFill/>
        </p:spPr>
        <p:txBody>
          <a:bodyPr wrap="square" lIns="0" rIns="0" tIns="0" bIns="0" anchor="t">
            <a:spAutoFit/>
          </a:bodyPr>
          <a:lstStyle/>
          <a:p>
            <a:pPr algn="l">
              <a:lnSpc>
                <a:spcPct val="120000"/>
              </a:lnSpc>
              <a:spcAft>
                <a:spcPts val="900"/>
              </a:spcAft>
            </a:pPr>
            <a:r>
              <a:rPr sz="1200" b="0">
                <a:solidFill>
                  <a:srgbClr val="3B4A5C"/>
                </a:solidFill>
                <a:latin typeface="Inter"/>
              </a:rPr>
              <a:t>[1] M. Rabbani et al., “Motorized hospital bed for mobility of patients: a review on wheel type design,” J. Eng. Appl. Sci., vol. 71, no. 1, 2024.</a:t>
            </a:r>
          </a:p>
          <a:p>
            <a:pPr algn="l">
              <a:lnSpc>
                <a:spcPct val="120000"/>
              </a:lnSpc>
              <a:spcAft>
                <a:spcPts val="900"/>
              </a:spcAft>
            </a:pPr>
            <a:r>
              <a:rPr sz="1200" b="0">
                <a:solidFill>
                  <a:srgbClr val="3B4A5C"/>
                </a:solidFill>
                <a:latin typeface="Inter"/>
              </a:rPr>
              <a:t>[2] MDPI, “Controlling a Mecanum-Wheeled Robot with Multiple Swivel Axes,” Sensors, vol. 25, no. 3, p. 709, 2025.</a:t>
            </a:r>
          </a:p>
          <a:p>
            <a:pPr algn="l">
              <a:lnSpc>
                <a:spcPct val="120000"/>
              </a:lnSpc>
              <a:spcAft>
                <a:spcPts val="900"/>
              </a:spcAft>
            </a:pPr>
            <a:r>
              <a:rPr sz="1200" b="0">
                <a:solidFill>
                  <a:srgbClr val="3B4A5C"/>
                </a:solidFill>
                <a:latin typeface="Inter"/>
              </a:rPr>
              <a:t>[3] Nature, “Development of smart patient care robot with enhanced autonomous mobility in hospital wards,” Sci. Rep., vol. 16, 2026.</a:t>
            </a:r>
          </a:p>
          <a:p>
            <a:pPr algn="l">
              <a:lnSpc>
                <a:spcPct val="120000"/>
              </a:lnSpc>
              <a:spcAft>
                <a:spcPts val="900"/>
              </a:spcAft>
            </a:pPr>
            <a:r>
              <a:rPr sz="1200" b="0">
                <a:solidFill>
                  <a:srgbClr val="3B4A5C"/>
                </a:solidFill>
                <a:latin typeface="Inter"/>
              </a:rPr>
              <a:t>[4] F. Caccavale y A. Finzi, “An Automated Guided Vehicle for Flexible and Interactive Task Execution in Hospital Scenarios,” CEUR Workshop Proc., vol. 2594, 2020.</a:t>
            </a:r>
          </a:p>
          <a:p>
            <a:pPr algn="l">
              <a:lnSpc>
                <a:spcPct val="120000"/>
              </a:lnSpc>
              <a:spcAft>
                <a:spcPts val="900"/>
              </a:spcAft>
            </a:pPr>
            <a:r>
              <a:rPr sz="1200" b="0">
                <a:solidFill>
                  <a:srgbClr val="3B4A5C"/>
                </a:solidFill>
                <a:latin typeface="Inter"/>
              </a:rPr>
              <a:t>[5] MDPI, “Healthcare Robotics and Autonomous Systems,” Technologies, vol. 10, no. 2, p. 41, 2022.</a:t>
            </a:r>
          </a:p>
          <a:p>
            <a:pPr algn="l">
              <a:lnSpc>
                <a:spcPct val="120000"/>
              </a:lnSpc>
              <a:spcAft>
                <a:spcPts val="900"/>
              </a:spcAft>
            </a:pPr>
            <a:r>
              <a:rPr sz="1200" b="0">
                <a:solidFill>
                  <a:srgbClr val="3B4A5C"/>
                </a:solidFill>
                <a:latin typeface="Inter"/>
              </a:rPr>
              <a:t>[6] MINSA, “NTS N° 119-MINSA/DGIEM-V.01,” R.M. N° 660-2014/MINSA, Lima, Perú, 2014.</a:t>
            </a:r>
          </a:p>
        </p:txBody>
      </p:sp>
      <p:sp>
        <p:nvSpPr>
          <p:cNvPr id="9" name="TextBox 8"/>
          <p:cNvSpPr txBox="1"/>
          <p:nvPr/>
        </p:nvSpPr>
        <p:spPr>
          <a:xfrm>
            <a:off x="6236208" y="1371600"/>
            <a:ext cx="5349240" cy="4754880"/>
          </a:xfrm>
          <a:prstGeom prst="rect">
            <a:avLst/>
          </a:prstGeom>
          <a:noFill/>
        </p:spPr>
        <p:txBody>
          <a:bodyPr wrap="square" lIns="0" rIns="0" tIns="0" bIns="0" anchor="t">
            <a:spAutoFit/>
          </a:bodyPr>
          <a:lstStyle/>
          <a:p>
            <a:pPr algn="l">
              <a:lnSpc>
                <a:spcPct val="120000"/>
              </a:lnSpc>
              <a:spcAft>
                <a:spcPts val="900"/>
              </a:spcAft>
            </a:pPr>
            <a:r>
              <a:rPr sz="1200" b="0">
                <a:solidFill>
                  <a:srgbClr val="3B4A5C"/>
                </a:solidFill>
                <a:latin typeface="Inter"/>
              </a:rPr>
              <a:t>[7] A. C. Chinchay Córdova, “Gestión de recursos humanos y sobrecarga laboral en el personal de enfermería de un instituto especializado, Lima, 2023,” Tesis, UNJFSC, Huacho.</a:t>
            </a:r>
          </a:p>
          <a:p>
            <a:pPr algn="l">
              <a:lnSpc>
                <a:spcPct val="120000"/>
              </a:lnSpc>
              <a:spcAft>
                <a:spcPts val="900"/>
              </a:spcAft>
            </a:pPr>
            <a:r>
              <a:rPr sz="1200" b="0">
                <a:solidFill>
                  <a:srgbClr val="3B4A5C"/>
                </a:solidFill>
                <a:latin typeface="Inter"/>
              </a:rPr>
              <a:t>[8] R. A. Zárate-Grajales y M. Mejías, “Cuidado perdido de enfermería,” Enferm. Univ., vol. 16, no. 4, pp. 436-451, 2019.</a:t>
            </a:r>
          </a:p>
          <a:p>
            <a:pPr algn="l">
              <a:lnSpc>
                <a:spcPct val="120000"/>
              </a:lnSpc>
              <a:spcAft>
                <a:spcPts val="900"/>
              </a:spcAft>
            </a:pPr>
            <a:r>
              <a:rPr sz="1200" b="0">
                <a:solidFill>
                  <a:srgbClr val="3B4A5C"/>
                </a:solidFill>
                <a:latin typeface="Inter"/>
              </a:rPr>
              <a:t>[9] A. Hendrich et al., “A 36-Hospital Time and Motion Study,” Perm. J., vol. 12, no. 3, pp. 25-34, 2008.</a:t>
            </a:r>
          </a:p>
          <a:p>
            <a:pPr algn="l">
              <a:lnSpc>
                <a:spcPct val="120000"/>
              </a:lnSpc>
              <a:spcAft>
                <a:spcPts val="900"/>
              </a:spcAft>
            </a:pPr>
            <a:r>
              <a:rPr sz="1200" b="0">
                <a:solidFill>
                  <a:srgbClr val="3B4A5C"/>
                </a:solidFill>
                <a:latin typeface="Inter"/>
              </a:rPr>
              <a:t>[10] R. W. Bohannon, “Comfortable and maximum walking speed of adults aged 20-79 years,” Age Ageing, vol. 26, no. 1, pp. 15-19, 1997.</a:t>
            </a:r>
          </a:p>
          <a:p>
            <a:pPr algn="l">
              <a:lnSpc>
                <a:spcPct val="120000"/>
              </a:lnSpc>
              <a:spcAft>
                <a:spcPts val="900"/>
              </a:spcAft>
            </a:pPr>
            <a:r>
              <a:rPr sz="1200" b="0">
                <a:solidFill>
                  <a:srgbClr val="3B4A5C"/>
                </a:solidFill>
                <a:latin typeface="Inter"/>
              </a:rPr>
              <a:t>[11] S. Yanayaco Salcedo, “Las 5s como estrategias para el mejoramiento de la calidad de los servicios en Enfermería,” Tesis, UNDAC, Pasco, 2023.</a:t>
            </a:r>
          </a:p>
          <a:p>
            <a:pPr algn="l">
              <a:lnSpc>
                <a:spcPct val="120000"/>
              </a:lnSpc>
              <a:spcAft>
                <a:spcPts val="900"/>
              </a:spcAft>
            </a:pPr>
            <a:r>
              <a:rPr sz="1200" b="0">
                <a:solidFill>
                  <a:srgbClr val="3B4A5C"/>
                </a:solidFill>
                <a:latin typeface="Inter"/>
              </a:rPr>
              <a:t>[12] Aethon, “Sinai Hospital Pharmacy Reduces Medication Turnaround Time, Costs and Missing Doses,” Business Wire / Fierce Healthcare.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Evidencia de trabajo grupal</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X · ANEXOS · 1 DE 3</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Elaboración propia. Informe del TP, anexo 1.</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29 / 32</a:t>
            </a:r>
          </a:p>
        </p:txBody>
      </p:sp>
      <p:sp>
        <p:nvSpPr>
          <p:cNvPr id="8" name="TextBox 7"/>
          <p:cNvSpPr txBox="1"/>
          <p:nvPr/>
        </p:nvSpPr>
        <p:spPr>
          <a:xfrm>
            <a:off x="612648" y="1325880"/>
            <a:ext cx="10963656" cy="457200"/>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Reuniones virtuales por Discord para coordinar, planificar el diseño y repartir las tareas técnicas del proyecto.</a:t>
            </a:r>
          </a:p>
        </p:txBody>
      </p:sp>
      <p:sp>
        <p:nvSpPr>
          <p:cNvPr id="9" name="Rounded Rectangle 8"/>
          <p:cNvSpPr/>
          <p:nvPr/>
        </p:nvSpPr>
        <p:spPr>
          <a:xfrm>
            <a:off x="612648" y="2011680"/>
            <a:ext cx="3502152" cy="3291840"/>
          </a:xfrm>
          <a:prstGeom prst="roundRect">
            <a:avLst>
              <a:gd name="adj" fmla="val 3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Figura 4" descr="fig4.jpg"/>
          <p:cNvPicPr>
            <a:picLocks noChangeAspect="1"/>
          </p:cNvPicPr>
          <p:nvPr/>
        </p:nvPicPr>
        <p:blipFill>
          <a:blip r:embed="rId4"/>
          <a:srcRect l="7924" r="7924"/>
          <a:stretch>
            <a:fillRect/>
          </a:stretch>
        </p:blipFill>
        <p:spPr>
          <a:xfrm>
            <a:off x="749808" y="2148840"/>
            <a:ext cx="3227832" cy="1920240"/>
          </a:xfrm>
          <a:prstGeom prst="rect">
            <a:avLst/>
          </a:prstGeom>
        </p:spPr>
      </p:pic>
      <p:sp>
        <p:nvSpPr>
          <p:cNvPr id="11" name="TextBox 10"/>
          <p:cNvSpPr txBox="1"/>
          <p:nvPr/>
        </p:nvSpPr>
        <p:spPr>
          <a:xfrm>
            <a:off x="749808" y="4251960"/>
            <a:ext cx="3227832" cy="914400"/>
          </a:xfrm>
          <a:prstGeom prst="rect">
            <a:avLst/>
          </a:prstGeom>
          <a:noFill/>
        </p:spPr>
        <p:txBody>
          <a:bodyPr wrap="square" lIns="0" rIns="0" tIns="0" bIns="0" anchor="t">
            <a:spAutoFit/>
          </a:bodyPr>
          <a:lstStyle/>
          <a:p>
            <a:pPr algn="l">
              <a:lnSpc>
                <a:spcPct val="120000"/>
              </a:lnSpc>
            </a:pPr>
            <a:r>
              <a:rPr sz="1300" b="1">
                <a:solidFill>
                  <a:srgbClr val="14213D"/>
                </a:solidFill>
                <a:latin typeface="Inter"/>
              </a:rPr>
              <a:t>Fig. 4. </a:t>
            </a:r>
            <a:r>
              <a:rPr sz="1300" b="0">
                <a:solidFill>
                  <a:srgbClr val="3B4A5C"/>
                </a:solidFill>
                <a:latin typeface="Inter"/>
              </a:rPr>
              <a:t>Reunión para la coordinación del trabajo.</a:t>
            </a:r>
          </a:p>
        </p:txBody>
      </p:sp>
      <p:sp>
        <p:nvSpPr>
          <p:cNvPr id="12" name="Rounded Rectangle 11"/>
          <p:cNvSpPr/>
          <p:nvPr/>
        </p:nvSpPr>
        <p:spPr>
          <a:xfrm>
            <a:off x="4343400" y="2011680"/>
            <a:ext cx="3502152" cy="3291840"/>
          </a:xfrm>
          <a:prstGeom prst="roundRect">
            <a:avLst>
              <a:gd name="adj" fmla="val 3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Figura 5" descr="fig5.jpg"/>
          <p:cNvPicPr>
            <a:picLocks noChangeAspect="1"/>
          </p:cNvPicPr>
          <p:nvPr/>
        </p:nvPicPr>
        <p:blipFill>
          <a:blip r:embed="rId5"/>
          <a:srcRect l="5350" r="5350"/>
          <a:stretch>
            <a:fillRect/>
          </a:stretch>
        </p:blipFill>
        <p:spPr>
          <a:xfrm>
            <a:off x="4480560" y="2148840"/>
            <a:ext cx="3227832" cy="1920240"/>
          </a:xfrm>
          <a:prstGeom prst="rect">
            <a:avLst/>
          </a:prstGeom>
        </p:spPr>
      </p:pic>
      <p:sp>
        <p:nvSpPr>
          <p:cNvPr id="14" name="TextBox 13"/>
          <p:cNvSpPr txBox="1"/>
          <p:nvPr/>
        </p:nvSpPr>
        <p:spPr>
          <a:xfrm>
            <a:off x="4480560" y="4251960"/>
            <a:ext cx="3227832" cy="914400"/>
          </a:xfrm>
          <a:prstGeom prst="rect">
            <a:avLst/>
          </a:prstGeom>
          <a:noFill/>
        </p:spPr>
        <p:txBody>
          <a:bodyPr wrap="square" lIns="0" rIns="0" tIns="0" bIns="0" anchor="t">
            <a:spAutoFit/>
          </a:bodyPr>
          <a:lstStyle/>
          <a:p>
            <a:pPr algn="l">
              <a:lnSpc>
                <a:spcPct val="120000"/>
              </a:lnSpc>
            </a:pPr>
            <a:r>
              <a:rPr sz="1300" b="1">
                <a:solidFill>
                  <a:srgbClr val="14213D"/>
                </a:solidFill>
                <a:latin typeface="Inter"/>
              </a:rPr>
              <a:t>Fig. 5. </a:t>
            </a:r>
            <a:r>
              <a:rPr sz="1300" b="0">
                <a:solidFill>
                  <a:srgbClr val="3B4A5C"/>
                </a:solidFill>
                <a:latin typeface="Inter"/>
              </a:rPr>
              <a:t>Sesión virtual para elaborar las diapositivas.</a:t>
            </a:r>
          </a:p>
        </p:txBody>
      </p:sp>
      <p:sp>
        <p:nvSpPr>
          <p:cNvPr id="15" name="Rounded Rectangle 14"/>
          <p:cNvSpPr/>
          <p:nvPr/>
        </p:nvSpPr>
        <p:spPr>
          <a:xfrm>
            <a:off x="8074152" y="2011680"/>
            <a:ext cx="3502152" cy="3291840"/>
          </a:xfrm>
          <a:prstGeom prst="roundRect">
            <a:avLst>
              <a:gd name="adj" fmla="val 3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Figura 6" descr="fig6.jpg"/>
          <p:cNvPicPr>
            <a:picLocks noChangeAspect="1"/>
          </p:cNvPicPr>
          <p:nvPr/>
        </p:nvPicPr>
        <p:blipFill>
          <a:blip r:embed="rId6"/>
          <a:srcRect l="11811" r="11811"/>
          <a:stretch>
            <a:fillRect/>
          </a:stretch>
        </p:blipFill>
        <p:spPr>
          <a:xfrm>
            <a:off x="8211312" y="2148840"/>
            <a:ext cx="3227832" cy="1920240"/>
          </a:xfrm>
          <a:prstGeom prst="rect">
            <a:avLst/>
          </a:prstGeom>
        </p:spPr>
      </p:pic>
      <p:sp>
        <p:nvSpPr>
          <p:cNvPr id="17" name="TextBox 16"/>
          <p:cNvSpPr txBox="1"/>
          <p:nvPr/>
        </p:nvSpPr>
        <p:spPr>
          <a:xfrm>
            <a:off x="8211312" y="4251960"/>
            <a:ext cx="3227832" cy="914400"/>
          </a:xfrm>
          <a:prstGeom prst="rect">
            <a:avLst/>
          </a:prstGeom>
          <a:noFill/>
        </p:spPr>
        <p:txBody>
          <a:bodyPr wrap="square" lIns="0" rIns="0" tIns="0" bIns="0" anchor="t">
            <a:spAutoFit/>
          </a:bodyPr>
          <a:lstStyle/>
          <a:p>
            <a:pPr algn="l">
              <a:lnSpc>
                <a:spcPct val="120000"/>
              </a:lnSpc>
            </a:pPr>
            <a:r>
              <a:rPr sz="1300" b="1">
                <a:solidFill>
                  <a:srgbClr val="14213D"/>
                </a:solidFill>
                <a:latin typeface="Inter"/>
              </a:rPr>
              <a:t>Fig. 6. </a:t>
            </a:r>
            <a:r>
              <a:rPr sz="1300" b="0">
                <a:solidFill>
                  <a:srgbClr val="3B4A5C"/>
                </a:solidFill>
                <a:latin typeface="Inter"/>
              </a:rPr>
              <a:t>Sesión de coordinación del equipo para planificar el prototipo.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Distribución de tareas por integrante</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X · ANEXOS · 2 DE 3</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Elaboración propia. Informe del TP, anexo 2.</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30 / 32</a:t>
            </a:r>
          </a:p>
        </p:txBody>
      </p:sp>
      <p:sp>
        <p:nvSpPr>
          <p:cNvPr id="8" name="Rounded Rectangle 7"/>
          <p:cNvSpPr/>
          <p:nvPr/>
        </p:nvSpPr>
        <p:spPr>
          <a:xfrm>
            <a:off x="612648" y="1325880"/>
            <a:ext cx="2569464" cy="283464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27048"/>
            <a:ext cx="2112264"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01</a:t>
            </a:r>
          </a:p>
        </p:txBody>
      </p:sp>
      <p:sp>
        <p:nvSpPr>
          <p:cNvPr id="10" name="TextBox 9"/>
          <p:cNvSpPr txBox="1"/>
          <p:nvPr/>
        </p:nvSpPr>
        <p:spPr>
          <a:xfrm>
            <a:off x="841248" y="1837943"/>
            <a:ext cx="2112264" cy="54864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Avellaneda Campos, Grecia</a:t>
            </a:r>
          </a:p>
        </p:txBody>
      </p:sp>
      <p:sp>
        <p:nvSpPr>
          <p:cNvPr id="11" name="TextBox 10"/>
          <p:cNvSpPr txBox="1"/>
          <p:nvPr/>
        </p:nvSpPr>
        <p:spPr>
          <a:xfrm>
            <a:off x="841248" y="2496311"/>
            <a:ext cx="2112264" cy="152704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Estado del arte, referencias en formato IEEE y redacción de la situación problemática (justificación clínica).</a:t>
            </a:r>
          </a:p>
        </p:txBody>
      </p:sp>
      <p:sp>
        <p:nvSpPr>
          <p:cNvPr id="12" name="Rounded Rectangle 11"/>
          <p:cNvSpPr/>
          <p:nvPr/>
        </p:nvSpPr>
        <p:spPr>
          <a:xfrm>
            <a:off x="3410712" y="1325880"/>
            <a:ext cx="2569464" cy="283464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1527048"/>
            <a:ext cx="2112264"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02</a:t>
            </a:r>
          </a:p>
        </p:txBody>
      </p:sp>
      <p:sp>
        <p:nvSpPr>
          <p:cNvPr id="14" name="TextBox 13"/>
          <p:cNvSpPr txBox="1"/>
          <p:nvPr/>
        </p:nvSpPr>
        <p:spPr>
          <a:xfrm>
            <a:off x="3639312" y="1837943"/>
            <a:ext cx="2112264" cy="54864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Huamán Farfán, Cristopher</a:t>
            </a:r>
          </a:p>
        </p:txBody>
      </p:sp>
      <p:sp>
        <p:nvSpPr>
          <p:cNvPr id="15" name="TextBox 14"/>
          <p:cNvSpPr txBox="1"/>
          <p:nvPr/>
        </p:nvSpPr>
        <p:spPr>
          <a:xfrm>
            <a:off x="3639312" y="2496311"/>
            <a:ext cx="2112264" cy="152704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Búsqueda y selección de sensores de navegación y de resguardo clínico; requerimientos técnicos de la arquitectura.</a:t>
            </a:r>
          </a:p>
        </p:txBody>
      </p:sp>
      <p:sp>
        <p:nvSpPr>
          <p:cNvPr id="16" name="Rounded Rectangle 15"/>
          <p:cNvSpPr/>
          <p:nvPr/>
        </p:nvSpPr>
        <p:spPr>
          <a:xfrm>
            <a:off x="6208776" y="1325880"/>
            <a:ext cx="2569464" cy="283464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1527048"/>
            <a:ext cx="2112264"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03</a:t>
            </a:r>
          </a:p>
        </p:txBody>
      </p:sp>
      <p:sp>
        <p:nvSpPr>
          <p:cNvPr id="18" name="TextBox 17"/>
          <p:cNvSpPr txBox="1"/>
          <p:nvPr/>
        </p:nvSpPr>
        <p:spPr>
          <a:xfrm>
            <a:off x="6437376" y="1837943"/>
            <a:ext cx="2112264" cy="54864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Salazar Huamani, Roger</a:t>
            </a:r>
          </a:p>
        </p:txBody>
      </p:sp>
      <p:sp>
        <p:nvSpPr>
          <p:cNvPr id="19" name="TextBox 18"/>
          <p:cNvSpPr txBox="1"/>
          <p:nvPr/>
        </p:nvSpPr>
        <p:spPr>
          <a:xfrm>
            <a:off x="6437376" y="2496311"/>
            <a:ext cx="2112264" cy="152704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Tablas comparativas, análisis técnico de selección de hardware, presupuesto y cronograma.</a:t>
            </a:r>
          </a:p>
        </p:txBody>
      </p:sp>
      <p:sp>
        <p:nvSpPr>
          <p:cNvPr id="20" name="Rounded Rectangle 19"/>
          <p:cNvSpPr/>
          <p:nvPr/>
        </p:nvSpPr>
        <p:spPr>
          <a:xfrm>
            <a:off x="9006840" y="1325880"/>
            <a:ext cx="2569464" cy="283464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1527048"/>
            <a:ext cx="2112264"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04</a:t>
            </a:r>
          </a:p>
        </p:txBody>
      </p:sp>
      <p:sp>
        <p:nvSpPr>
          <p:cNvPr id="22" name="TextBox 21"/>
          <p:cNvSpPr txBox="1"/>
          <p:nvPr/>
        </p:nvSpPr>
        <p:spPr>
          <a:xfrm>
            <a:off x="9235440" y="1837943"/>
            <a:ext cx="2112264" cy="54864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López Torres, Dairon</a:t>
            </a:r>
          </a:p>
        </p:txBody>
      </p:sp>
      <p:sp>
        <p:nvSpPr>
          <p:cNvPr id="23" name="TextBox 22"/>
          <p:cNvSpPr txBox="1"/>
          <p:nvPr/>
        </p:nvSpPr>
        <p:spPr>
          <a:xfrm>
            <a:off x="9235440" y="2496311"/>
            <a:ext cx="2112264" cy="152704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Aportes de innovación, alcances y limitaciones, y ayudas visuales para la exposición.</a:t>
            </a:r>
          </a:p>
        </p:txBody>
      </p:sp>
      <p:sp>
        <p:nvSpPr>
          <p:cNvPr id="24" name="TextBox 23"/>
          <p:cNvSpPr txBox="1"/>
          <p:nvPr/>
        </p:nvSpPr>
        <p:spPr>
          <a:xfrm>
            <a:off x="612648" y="4572000"/>
            <a:ext cx="10963656" cy="548640"/>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Las responsabilidades de investigación y documentación se repartieron equitativamente para el informe y la presentación.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12648" y="704088"/>
            <a:ext cx="10241280" cy="457200"/>
          </a:xfrm>
        </p:spPr>
        <p:txBody>
          <a:bodyPr lIns="0" rIns="0" tIns="0" bIns="0" wrap="square" anchor="t"/>
          <a:lstStyle/>
          <a:p>
            <a:pPr algn="l"/>
            <a:r>
              <a:rPr sz="2800" b="1">
                <a:solidFill>
                  <a:srgbClr val="14213D"/>
                </a:solidFill>
                <a:latin typeface="Montserrat"/>
              </a:rPr>
              <a:t>Declaración de uso de inteligencia artificial</a:t>
            </a:r>
          </a:p>
        </p:txBody>
      </p:sp>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Logo UPC" descr="image.png"/>
          <p:cNvPicPr>
            <a:picLocks noChangeAspect="1"/>
          </p:cNvPicPr>
          <p:nvPr/>
        </p:nvPicPr>
        <p:blipFill>
          <a:blip r:embed="rId2"/>
          <a:stretch>
            <a:fillRect/>
          </a:stretch>
        </p:blipFill>
        <p:spPr>
          <a:xfrm>
            <a:off x="11128248" y="256032"/>
            <a:ext cx="457200" cy="457200"/>
          </a:xfrm>
          <a:prstGeom prst="rect">
            <a:avLst/>
          </a:prstGeom>
        </p:spPr>
      </p:pic>
      <p:sp>
        <p:nvSpPr>
          <p:cNvPr id="5" name="Sobretítulo"/>
          <p:cNvSpPr txBox="1"/>
          <p:nvPr/>
        </p:nvSpPr>
        <p:spPr>
          <a:xfrm>
            <a:off x="612648" y="457200"/>
            <a:ext cx="10332720" cy="237744"/>
          </a:xfrm>
          <a:prstGeom prst="rect">
            <a:avLst/>
          </a:prstGeom>
          <a:noFill/>
        </p:spPr>
        <p:txBody>
          <a:bodyPr wrap="square" lIns="0" rIns="0" tIns="0" bIns="0" anchor="t">
            <a:spAutoFit/>
          </a:bodyPr>
          <a:lstStyle/>
          <a:p>
            <a:pPr algn="l">
              <a:lnSpc>
                <a:spcPct val="100000"/>
              </a:lnSpc>
            </a:pPr>
            <a:r>
              <a:rPr sz="1200" b="1" spc="150">
                <a:solidFill>
                  <a:srgbClr val="0B7A7A"/>
                </a:solidFill>
                <a:latin typeface="Inter"/>
              </a:rPr>
              <a:t>X · ANEXOS · 3 DE 3</a:t>
            </a:r>
          </a:p>
        </p:txBody>
      </p:sp>
      <p:sp>
        <p:nvSpPr>
          <p:cNvPr id="6"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5B6B7C"/>
                </a:solidFill>
                <a:latin typeface="Inter"/>
              </a:rPr>
              <a:t>Fuente: Elaboración propia. Informe del TP, anexo 3.</a:t>
            </a:r>
          </a:p>
        </p:txBody>
      </p:sp>
      <p:sp>
        <p:nvSpPr>
          <p:cNvPr id="7"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5B6B7C"/>
                </a:solidFill>
                <a:latin typeface="Inter"/>
              </a:rPr>
              <a:t>31 / 32</a:t>
            </a:r>
          </a:p>
        </p:txBody>
      </p:sp>
      <p:sp>
        <p:nvSpPr>
          <p:cNvPr id="8" name="Rounded Rectangle 7"/>
          <p:cNvSpPr/>
          <p:nvPr/>
        </p:nvSpPr>
        <p:spPr>
          <a:xfrm>
            <a:off x="612648" y="1325880"/>
            <a:ext cx="3502152" cy="265176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27048"/>
            <a:ext cx="3044952"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01</a:t>
            </a:r>
          </a:p>
        </p:txBody>
      </p:sp>
      <p:sp>
        <p:nvSpPr>
          <p:cNvPr id="10" name="TextBox 9"/>
          <p:cNvSpPr txBox="1"/>
          <p:nvPr/>
        </p:nvSpPr>
        <p:spPr>
          <a:xfrm>
            <a:off x="841248" y="1837943"/>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Perplexity AI</a:t>
            </a:r>
          </a:p>
        </p:txBody>
      </p:sp>
      <p:sp>
        <p:nvSpPr>
          <p:cNvPr id="11" name="TextBox 10"/>
          <p:cNvSpPr txBox="1"/>
          <p:nvPr/>
        </p:nvSpPr>
        <p:spPr>
          <a:xfrm>
            <a:off x="841248" y="2221991"/>
            <a:ext cx="3044952" cy="161848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Rastreo inicial de literatura científica y fuentes académicas del estado del arte y de las normativas hospitalarias.</a:t>
            </a:r>
          </a:p>
        </p:txBody>
      </p:sp>
      <p:sp>
        <p:nvSpPr>
          <p:cNvPr id="12" name="Rounded Rectangle 11"/>
          <p:cNvSpPr/>
          <p:nvPr/>
        </p:nvSpPr>
        <p:spPr>
          <a:xfrm>
            <a:off x="4343400" y="1325880"/>
            <a:ext cx="3502152" cy="265176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527048"/>
            <a:ext cx="3044952"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02</a:t>
            </a:r>
          </a:p>
        </p:txBody>
      </p:sp>
      <p:sp>
        <p:nvSpPr>
          <p:cNvPr id="14" name="TextBox 13"/>
          <p:cNvSpPr txBox="1"/>
          <p:nvPr/>
        </p:nvSpPr>
        <p:spPr>
          <a:xfrm>
            <a:off x="4572000" y="1837943"/>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Google NotebookLM</a:t>
            </a:r>
          </a:p>
        </p:txBody>
      </p:sp>
      <p:sp>
        <p:nvSpPr>
          <p:cNvPr id="15" name="TextBox 14"/>
          <p:cNvSpPr txBox="1"/>
          <p:nvPr/>
        </p:nvSpPr>
        <p:spPr>
          <a:xfrm>
            <a:off x="4572000" y="2221991"/>
            <a:ext cx="3044952" cy="161848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Cuaderno de investigación para organizar, sintetizar y consultar artículos científicos y hojas de datos de los componentes.</a:t>
            </a:r>
          </a:p>
        </p:txBody>
      </p:sp>
      <p:sp>
        <p:nvSpPr>
          <p:cNvPr id="16" name="Rounded Rectangle 15"/>
          <p:cNvSpPr/>
          <p:nvPr/>
        </p:nvSpPr>
        <p:spPr>
          <a:xfrm>
            <a:off x="8074152" y="1325880"/>
            <a:ext cx="3502152" cy="2651760"/>
          </a:xfrm>
          <a:prstGeom prst="roundRect">
            <a:avLst>
              <a:gd name="adj" fmla="val 4000"/>
            </a:avLst>
          </a:prstGeom>
          <a:solidFill>
            <a:srgbClr val="FDFBF7"/>
          </a:solidFill>
          <a:ln w="9525">
            <a:solidFill>
              <a:srgbClr val="D9D3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527048"/>
            <a:ext cx="3044952" cy="228600"/>
          </a:xfrm>
          <a:prstGeom prst="rect">
            <a:avLst/>
          </a:prstGeom>
          <a:noFill/>
        </p:spPr>
        <p:txBody>
          <a:bodyPr wrap="square" lIns="0" rIns="0" tIns="0" bIns="0" anchor="t">
            <a:spAutoFit/>
          </a:bodyPr>
          <a:lstStyle/>
          <a:p>
            <a:pPr algn="l">
              <a:lnSpc>
                <a:spcPct val="100000"/>
              </a:lnSpc>
            </a:pPr>
            <a:r>
              <a:rPr sz="1200" b="1">
                <a:solidFill>
                  <a:srgbClr val="0B7A7A"/>
                </a:solidFill>
                <a:latin typeface="Inter"/>
              </a:rPr>
              <a:t>03</a:t>
            </a:r>
          </a:p>
        </p:txBody>
      </p:sp>
      <p:sp>
        <p:nvSpPr>
          <p:cNvPr id="18" name="TextBox 17"/>
          <p:cNvSpPr txBox="1"/>
          <p:nvPr/>
        </p:nvSpPr>
        <p:spPr>
          <a:xfrm>
            <a:off x="8302752" y="1837943"/>
            <a:ext cx="3044952" cy="274320"/>
          </a:xfrm>
          <a:prstGeom prst="rect">
            <a:avLst/>
          </a:prstGeom>
          <a:noFill/>
        </p:spPr>
        <p:txBody>
          <a:bodyPr wrap="square" lIns="0" rIns="0" tIns="0" bIns="0" anchor="t">
            <a:spAutoFit/>
          </a:bodyPr>
          <a:lstStyle/>
          <a:p>
            <a:pPr algn="l">
              <a:lnSpc>
                <a:spcPct val="105000"/>
              </a:lnSpc>
            </a:pPr>
            <a:r>
              <a:rPr sz="1500" b="1">
                <a:solidFill>
                  <a:srgbClr val="14213D"/>
                </a:solidFill>
                <a:latin typeface="Montserrat"/>
              </a:rPr>
              <a:t>Google Gemini</a:t>
            </a:r>
          </a:p>
        </p:txBody>
      </p:sp>
      <p:sp>
        <p:nvSpPr>
          <p:cNvPr id="19" name="TextBox 18"/>
          <p:cNvSpPr txBox="1"/>
          <p:nvPr/>
        </p:nvSpPr>
        <p:spPr>
          <a:xfrm>
            <a:off x="8302752" y="2221991"/>
            <a:ext cx="3044952" cy="1618488"/>
          </a:xfrm>
          <a:prstGeom prst="rect">
            <a:avLst/>
          </a:prstGeom>
          <a:noFill/>
        </p:spPr>
        <p:txBody>
          <a:bodyPr wrap="square" lIns="0" rIns="0" tIns="0" bIns="0" anchor="t">
            <a:spAutoFit/>
          </a:bodyPr>
          <a:lstStyle/>
          <a:p>
            <a:pPr algn="l">
              <a:lnSpc>
                <a:spcPct val="120000"/>
              </a:lnSpc>
            </a:pPr>
            <a:r>
              <a:rPr sz="1300" b="0">
                <a:solidFill>
                  <a:srgbClr val="3B4A5C"/>
                </a:solidFill>
                <a:latin typeface="Inter"/>
              </a:rPr>
              <a:t>Evaluó la viabilidad e integración de los sensores, optimizó la redacción bajo el estándar IEEE y auditó el documento con la rúbrica.</a:t>
            </a:r>
          </a:p>
        </p:txBody>
      </p:sp>
      <p:sp>
        <p:nvSpPr>
          <p:cNvPr id="20" name="Rounded Rectangle 19"/>
          <p:cNvSpPr/>
          <p:nvPr/>
        </p:nvSpPr>
        <p:spPr>
          <a:xfrm>
            <a:off x="612648" y="4526280"/>
            <a:ext cx="10963656" cy="1097280"/>
          </a:xfrm>
          <a:prstGeom prst="roundRect">
            <a:avLst>
              <a:gd name="adj" fmla="val 4000"/>
            </a:avLst>
          </a:prstGeom>
          <a:solidFill>
            <a:srgbClr val="0B22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754880"/>
            <a:ext cx="10424160" cy="731520"/>
          </a:xfrm>
          <a:prstGeom prst="rect">
            <a:avLst/>
          </a:prstGeom>
          <a:noFill/>
        </p:spPr>
        <p:txBody>
          <a:bodyPr wrap="square" lIns="0" rIns="0" tIns="0" bIns="0" anchor="ctr">
            <a:spAutoFit/>
          </a:bodyPr>
          <a:lstStyle/>
          <a:p>
            <a:pPr algn="l">
              <a:lnSpc>
                <a:spcPct val="125000"/>
              </a:lnSpc>
            </a:pPr>
            <a:r>
              <a:rPr sz="1300" b="0">
                <a:solidFill>
                  <a:srgbClr val="C9D6E3"/>
                </a:solidFill>
                <a:latin typeface="Inter"/>
              </a:rPr>
              <a:t>Octubre de 2026. Toda la información se contrastó con fuentes primarias y fue revisada, editada y validada íntegramente por los autores.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2239"/>
        </a:solidFill>
        <a:effectLst/>
      </p:bgPr>
    </p:bg>
    <p:spTree>
      <p:nvGrpSpPr>
        <p:cNvPr id="1" name=""/>
        <p:cNvGrpSpPr/>
        <p:nvPr/>
      </p:nvGrpSpPr>
      <p:grpSpPr/>
      <p:sp>
        <p:nvSpPr>
          <p:cNvPr id="3" name="Barra superior"/>
          <p:cNvSpPr/>
          <p:nvPr/>
        </p:nvSpPr>
        <p:spPr>
          <a:xfrm>
            <a:off x="0" y="0"/>
            <a:ext cx="12191695" cy="75895"/>
          </a:xfrm>
          <a:prstGeom prst="rect">
            <a:avLst/>
          </a:prstGeom>
          <a:solidFill>
            <a:srgbClr val="3FC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uente"/>
          <p:cNvSpPr txBox="1"/>
          <p:nvPr/>
        </p:nvSpPr>
        <p:spPr>
          <a:xfrm>
            <a:off x="612648" y="6364224"/>
            <a:ext cx="9601200" cy="237744"/>
          </a:xfrm>
          <a:prstGeom prst="rect">
            <a:avLst/>
          </a:prstGeom>
          <a:noFill/>
        </p:spPr>
        <p:txBody>
          <a:bodyPr wrap="square" lIns="0" rIns="0" tIns="0" bIns="0" anchor="t">
            <a:spAutoFit/>
          </a:bodyPr>
          <a:lstStyle/>
          <a:p>
            <a:pPr algn="l">
              <a:lnSpc>
                <a:spcPct val="115000"/>
              </a:lnSpc>
            </a:pPr>
            <a:r>
              <a:rPr sz="1200" b="0">
                <a:solidFill>
                  <a:srgbClr val="9FB3C8"/>
                </a:solidFill>
                <a:latin typeface="Inter"/>
              </a:rPr>
              <a:t>Lima, Perú · Octubre 2026</a:t>
            </a:r>
          </a:p>
        </p:txBody>
      </p:sp>
      <p:sp>
        <p:nvSpPr>
          <p:cNvPr id="5" name="Número"/>
          <p:cNvSpPr txBox="1"/>
          <p:nvPr/>
        </p:nvSpPr>
        <p:spPr>
          <a:xfrm>
            <a:off x="10259568" y="6364224"/>
            <a:ext cx="1316736" cy="237744"/>
          </a:xfrm>
          <a:prstGeom prst="rect">
            <a:avLst/>
          </a:prstGeom>
          <a:noFill/>
        </p:spPr>
        <p:txBody>
          <a:bodyPr wrap="square" lIns="0" rIns="0" tIns="0" bIns="0" anchor="t">
            <a:spAutoFit/>
          </a:bodyPr>
          <a:lstStyle/>
          <a:p>
            <a:pPr algn="r">
              <a:lnSpc>
                <a:spcPct val="115000"/>
              </a:lnSpc>
            </a:pPr>
            <a:r>
              <a:rPr sz="1200" b="0">
                <a:solidFill>
                  <a:srgbClr val="9FB3C8"/>
                </a:solidFill>
                <a:latin typeface="Inter"/>
              </a:rPr>
              <a:t>32 / 32</a:t>
            </a:r>
          </a:p>
        </p:txBody>
      </p:sp>
      <p:sp>
        <p:nvSpPr>
          <p:cNvPr id="6" name="Fondo logo"/>
          <p:cNvSpPr/>
          <p:nvPr/>
        </p:nvSpPr>
        <p:spPr>
          <a:xfrm>
            <a:off x="10058400" y="822960"/>
            <a:ext cx="1371600"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Logo UPC" descr="image.png"/>
          <p:cNvPicPr>
            <a:picLocks noChangeAspect="1"/>
          </p:cNvPicPr>
          <p:nvPr/>
        </p:nvPicPr>
        <p:blipFill>
          <a:blip r:embed="rId3"/>
          <a:stretch>
            <a:fillRect/>
          </a:stretch>
        </p:blipFill>
        <p:spPr>
          <a:xfrm>
            <a:off x="10149840" y="914400"/>
            <a:ext cx="1188720" cy="1188720"/>
          </a:xfrm>
          <a:prstGeom prst="rect">
            <a:avLst/>
          </a:prstGeom>
        </p:spPr>
      </p:pic>
      <p:sp>
        <p:nvSpPr>
          <p:cNvPr id="8" name="TextBox 7"/>
          <p:cNvSpPr txBox="1"/>
          <p:nvPr/>
        </p:nvSpPr>
        <p:spPr>
          <a:xfrm>
            <a:off x="612648" y="1280160"/>
            <a:ext cx="5486400" cy="274320"/>
          </a:xfrm>
          <a:prstGeom prst="rect">
            <a:avLst/>
          </a:prstGeom>
          <a:noFill/>
        </p:spPr>
        <p:txBody>
          <a:bodyPr wrap="square" lIns="0" rIns="0" tIns="0" bIns="0" anchor="t">
            <a:spAutoFit/>
          </a:bodyPr>
          <a:lstStyle/>
          <a:p>
            <a:pPr algn="l">
              <a:lnSpc>
                <a:spcPct val="100000"/>
              </a:lnSpc>
            </a:pPr>
            <a:r>
              <a:rPr sz="1200" b="1" spc="150">
                <a:solidFill>
                  <a:srgbClr val="3FC8B8"/>
                </a:solidFill>
                <a:latin typeface="Inter"/>
              </a:rPr>
              <a:t>CIERRE</a:t>
            </a:r>
          </a:p>
        </p:txBody>
      </p:sp>
      <p:sp>
        <p:nvSpPr>
          <p:cNvPr id="9" name="TextBox 8"/>
          <p:cNvSpPr txBox="1"/>
          <p:nvPr/>
        </p:nvSpPr>
        <p:spPr>
          <a:xfrm>
            <a:off x="612648" y="1737360"/>
            <a:ext cx="8229600" cy="1188720"/>
          </a:xfrm>
          <a:prstGeom prst="rect">
            <a:avLst/>
          </a:prstGeom>
          <a:noFill/>
        </p:spPr>
        <p:txBody>
          <a:bodyPr wrap="square" lIns="0" rIns="0" tIns="0" bIns="0" anchor="t">
            <a:spAutoFit/>
          </a:bodyPr>
          <a:lstStyle/>
          <a:p>
            <a:pPr algn="l">
              <a:lnSpc>
                <a:spcPct val="100000"/>
              </a:lnSpc>
            </a:pPr>
            <a:r>
              <a:rPr sz="6600" b="1">
                <a:solidFill>
                  <a:srgbClr val="F7F3EC"/>
                </a:solidFill>
                <a:latin typeface="Montserrat"/>
              </a:rPr>
              <a:t>Gracias</a:t>
            </a:r>
          </a:p>
        </p:txBody>
      </p:sp>
      <p:sp>
        <p:nvSpPr>
          <p:cNvPr id="10" name="TextBox 9"/>
          <p:cNvSpPr txBox="1"/>
          <p:nvPr/>
        </p:nvSpPr>
        <p:spPr>
          <a:xfrm>
            <a:off x="612648" y="3017520"/>
            <a:ext cx="8229600" cy="731520"/>
          </a:xfrm>
          <a:prstGeom prst="rect">
            <a:avLst/>
          </a:prstGeom>
          <a:noFill/>
        </p:spPr>
        <p:txBody>
          <a:bodyPr wrap="square" lIns="0" rIns="0" tIns="0" bIns="0" anchor="t">
            <a:spAutoFit/>
          </a:bodyPr>
          <a:lstStyle/>
          <a:p>
            <a:pPr algn="l">
              <a:lnSpc>
                <a:spcPct val="100000"/>
              </a:lnSpc>
            </a:pPr>
            <a:r>
              <a:rPr sz="3600" b="1">
                <a:solidFill>
                  <a:srgbClr val="3FC8B8"/>
                </a:solidFill>
                <a:latin typeface="Montserrat"/>
              </a:rPr>
              <a:t>¿Preguntas?</a:t>
            </a:r>
          </a:p>
        </p:txBody>
      </p:sp>
      <p:sp>
        <p:nvSpPr>
          <p:cNvPr id="11" name="TextBox 10"/>
          <p:cNvSpPr txBox="1"/>
          <p:nvPr/>
        </p:nvSpPr>
        <p:spPr>
          <a:xfrm>
            <a:off x="612648" y="3931920"/>
            <a:ext cx="8686800" cy="731520"/>
          </a:xfrm>
          <a:prstGeom prst="rect">
            <a:avLst/>
          </a:prstGeom>
          <a:noFill/>
        </p:spPr>
        <p:txBody>
          <a:bodyPr wrap="square" lIns="0" rIns="0" tIns="0" bIns="0" anchor="t">
            <a:spAutoFit/>
          </a:bodyPr>
          <a:lstStyle/>
          <a:p>
            <a:pPr algn="l">
              <a:lnSpc>
                <a:spcPct val="125000"/>
              </a:lnSpc>
            </a:pPr>
            <a:r>
              <a:rPr sz="1400" b="0">
                <a:solidFill>
                  <a:srgbClr val="C9D6E3"/>
                </a:solidFill>
                <a:latin typeface="Inter"/>
              </a:rPr>
              <a:t>Robot hospitalario omnidireccional: control cinemático de unidad móvil Mecanum y fusión de sensores con PIC18F47Q10.</a:t>
            </a:r>
          </a:p>
        </p:txBody>
      </p:sp>
      <p:sp>
        <p:nvSpPr>
          <p:cNvPr id="12" name="TextBox 11"/>
          <p:cNvSpPr txBox="1"/>
          <p:nvPr/>
        </p:nvSpPr>
        <p:spPr>
          <a:xfrm>
            <a:off x="612648" y="4846320"/>
            <a:ext cx="10515600" cy="822960"/>
          </a:xfrm>
          <a:prstGeom prst="rect">
            <a:avLst/>
          </a:prstGeom>
          <a:noFill/>
        </p:spPr>
        <p:txBody>
          <a:bodyPr wrap="square" lIns="0" rIns="0" tIns="0" bIns="0" anchor="t">
            <a:spAutoFit/>
          </a:bodyPr>
          <a:lstStyle/>
          <a:p>
            <a:pPr algn="l">
              <a:lnSpc>
                <a:spcPct val="130000"/>
              </a:lnSpc>
            </a:pPr>
            <a:r>
              <a:rPr sz="1200" b="0">
                <a:solidFill>
                  <a:srgbClr val="9FB3C8"/>
                </a:solidFill>
                <a:latin typeface="Inter"/>
              </a:rPr>
              <a:t>Avellaneda Campos, Grecia · Huamán Farfán, Cristopher · Salazar Huamani, Roger · López Torres, Dairon</a:t>
            </a:r>
          </a:p>
          <a:p>
            <a:pPr algn="l">
              <a:lnSpc>
                <a:spcPct val="130000"/>
              </a:lnSpc>
            </a:pPr>
            <a:r>
              <a:rPr sz="1200" b="0">
                <a:solidFill>
                  <a:srgbClr val="9FB3C8"/>
                </a:solidFill>
                <a:latin typeface="Inter"/>
              </a:rPr>
              <a:t>Grupo 04 · Microcontroladores (1AEL0256) · NRC 8517 · Profesor Kalun José Lau Gan</a:t>
            </a:r>
          </a:p>
        </p:txBody>
      </p:sp>
    </p:spTree>
  </p:cSld>
  <p:clrMapOvr>
    <a:masterClrMapping/>
  </p:clrMapOvr>
</p:sld>
</file>

<file path=ppt/theme/theme1.xml><?xml version="1.0" encoding="utf-8"?>
<a:theme xmlns:a="http://schemas.openxmlformats.org/drawingml/2006/main" name="Robot Hospitalario Omnidireccional – TP Microcontroladores">
  <a:themeElements>
    <a:clrScheme name="Robot Hospitalario Omnidireccional – TP Microcontroladores">
      <a:dk1>
        <a:srgbClr val="14213D"/>
      </a:dk1>
      <a:lt1>
        <a:srgbClr val="F7F3EC"/>
      </a:lt1>
      <a:dk2>
        <a:srgbClr val="4D5669"/>
      </a:dk2>
      <a:lt2>
        <a:srgbClr val="E0DEDB"/>
      </a:lt2>
      <a:accent1>
        <a:srgbClr val="0B7A7A"/>
      </a:accent1>
      <a:accent2>
        <a:srgbClr val="3FC8B8"/>
      </a:accent2>
      <a:accent3>
        <a:srgbClr val="9DC0CF"/>
      </a:accent3>
      <a:accent4>
        <a:srgbClr val="B8412B"/>
      </a:accent4>
      <a:accent5>
        <a:srgbClr val="3B4A5C"/>
      </a:accent5>
      <a:accent6>
        <a:srgbClr val="5B6B7C"/>
      </a:accent6>
      <a:hlink>
        <a:srgbClr val="0563C1"/>
      </a:hlink>
      <a:folHlink>
        <a:srgbClr val="954F72"/>
      </a:folHlink>
    </a:clrScheme>
    <a:fontScheme name="Robot Hospitalario Omnidireccional – TP Microcontroladores">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 Hospitalario Omnidireccional – TP Microcontroladores</dc:title>
  <dc:subject/>
  <dc:creator/>
  <cp:lastModifiedBy/>
  <cp:revision>1</cp:revision>
  <dcterms:created xsi:type="dcterms:W3CDTF">2026-10-14T15:26:15Z</dcterms:created>
  <dcterms:modified xsi:type="dcterms:W3CDTF">2026-10-14T15:26:15Z</dcterms:modified>
</cp:coreProperties>
</file>